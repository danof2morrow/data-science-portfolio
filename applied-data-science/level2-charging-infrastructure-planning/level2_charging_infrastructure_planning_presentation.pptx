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47"/>
    <p:restoredTop sz="94610"/>
  </p:normalViewPr>
  <p:slideViewPr>
    <p:cSldViewPr snapToGrid="0" snapToObjects="1">
      <p:cViewPr varScale="1">
        <p:scale>
          <a:sx n="104" d="100"/>
          <a:sy n="104" d="100"/>
        </p:scale>
        <p:origin x="232"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149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this as a planning problem, not an engineering design. The point of the project is to help fleet planners get an early answer on charging need, feasibility, and cost before they commit to detailed site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business case. Fleets may have interest in electrification, but the hard question is what infrastructure they need and what it might cost. This project keeps the scope intentionally narrow: Level 2 infrastructure planning, cost ranges, and screening feasibility.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this quickly. The analysis starts with Fleet DNA operating data, selects operationally suited vehicles, converts mileage to grid energy, tests Level 2 power and charging windows, and then applies cost assumptions. The key is transparency: these are scenarios, not learned predictions.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figure to show why the model is needed. The dots show primary-cohort deployments, with colors based on the 10-hour baseline. The takeaway is that fleet size matters, but it does not determine energy demand by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of the results. At the 10-hour baseline, the lower-power chargers do not cover many deployments, while 19.2 kW reaches about 64 percent. Longer dwell windows improve the result, but charger power is the bigger lever across the tested cases.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story back to the business problem. The model provides budget ranges instead of one exact number. This is important because installation can vary widely by site conditions. The chart shows the lower-cost examples, but it is not a priority ranking.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 intentionally cautious. Feasible deployments should move to detailed assessment. Constrained deployments should not be discarded immediately, but they should be reviewed for longer windows, managed charging, staggered schedules, or other charging strategies.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p:cNvSpPr/>
          <p:nvPr/>
        </p:nvSpPr>
        <p:spPr>
          <a:xfrm>
            <a:off x="0" y="0"/>
            <a:ext cx="12191695" cy="960120"/>
          </a:xfrm>
          <a:prstGeom prst="rect">
            <a:avLst/>
          </a:prstGeom>
          <a:solidFill>
            <a:srgbClr val="0B1F3A"/>
          </a:solidFill>
          <a:ln w="12700">
            <a:solidFill>
              <a:srgbClr val="0B1F3A">
                <a:alpha val="0"/>
              </a:srgbClr>
            </a:solidFill>
            <a:prstDash val="solid"/>
          </a:ln>
        </p:spPr>
        <p:txBody>
          <a:bodyPr/>
          <a:lstStyle/>
          <a:p>
            <a:endParaRPr/>
          </a:p>
        </p:txBody>
      </p:sp>
      <p:sp>
        <p:nvSpPr>
          <p:cNvPr id="4" name="Text 2"/>
          <p:cNvSpPr/>
          <p:nvPr/>
        </p:nvSpPr>
        <p:spPr>
          <a:xfrm>
            <a:off x="658368" y="320040"/>
            <a:ext cx="4572000" cy="256032"/>
          </a:xfrm>
          <a:prstGeom prst="rect">
            <a:avLst/>
          </a:prstGeom>
          <a:noFill/>
          <a:ln/>
        </p:spPr>
        <p:txBody>
          <a:bodyPr wrap="square" lIns="0" tIns="0" rIns="0" bIns="0" rtlCol="0" anchor="ctr"/>
          <a:lstStyle/>
          <a:p>
            <a:pPr marL="0" indent="0">
              <a:buNone/>
            </a:pPr>
            <a:r>
              <a:rPr lang="en-US" sz="1400" b="1" dirty="0">
                <a:solidFill>
                  <a:srgbClr val="FFFFFF"/>
                </a:solidFill>
                <a:latin typeface="Aptos" pitchFamily="34" charset="0"/>
                <a:ea typeface="Aptos" pitchFamily="34" charset="-122"/>
                <a:cs typeface="Aptos" pitchFamily="34" charset="-120"/>
              </a:rPr>
              <a:t>DSC 680 Milestone 3</a:t>
            </a:r>
            <a:endParaRPr lang="en-US" sz="1400" dirty="0"/>
          </a:p>
        </p:txBody>
      </p:sp>
      <p:sp>
        <p:nvSpPr>
          <p:cNvPr id="5" name="Text 3"/>
          <p:cNvSpPr/>
          <p:nvPr/>
        </p:nvSpPr>
        <p:spPr>
          <a:xfrm>
            <a:off x="658368" y="1572768"/>
            <a:ext cx="6949440" cy="1217860"/>
          </a:xfrm>
          <a:prstGeom prst="rect">
            <a:avLst/>
          </a:prstGeom>
          <a:noFill/>
          <a:ln/>
        </p:spPr>
        <p:txBody>
          <a:bodyPr wrap="square" lIns="0" tIns="0" rIns="0" bIns="0" rtlCol="0" anchor="ctr">
            <a:normAutofit fontScale="92500"/>
          </a:bodyPr>
          <a:lstStyle/>
          <a:p>
            <a:pPr marL="0" indent="0">
              <a:buNone/>
            </a:pPr>
            <a:r>
              <a:rPr lang="en-US" sz="3400" b="1" dirty="0">
                <a:solidFill>
                  <a:srgbClr val="0B1F3A"/>
                </a:solidFill>
                <a:latin typeface="Aptos Display" pitchFamily="34" charset="0"/>
                <a:ea typeface="Aptos Display" pitchFamily="34" charset="-122"/>
                <a:cs typeface="Aptos Display" pitchFamily="34" charset="-120"/>
              </a:rPr>
              <a:t>Level 2 Charging Infrastructure Planning</a:t>
            </a:r>
            <a:endParaRPr lang="en-US" sz="3400" dirty="0"/>
          </a:p>
          <a:p>
            <a:pPr marL="0" indent="0">
              <a:buNone/>
            </a:pPr>
            <a:r>
              <a:rPr lang="en-US" sz="3400" b="1" dirty="0">
                <a:solidFill>
                  <a:srgbClr val="0B1F3A"/>
                </a:solidFill>
                <a:latin typeface="Aptos Display" pitchFamily="34" charset="0"/>
                <a:ea typeface="Aptos Display" pitchFamily="34" charset="-122"/>
                <a:cs typeface="Aptos Display" pitchFamily="34" charset="-120"/>
              </a:rPr>
              <a:t>for Commercial Fleets</a:t>
            </a:r>
            <a:endParaRPr lang="en-US" sz="3400" dirty="0"/>
          </a:p>
        </p:txBody>
      </p:sp>
      <p:sp>
        <p:nvSpPr>
          <p:cNvPr id="6" name="Text 4"/>
          <p:cNvSpPr/>
          <p:nvPr/>
        </p:nvSpPr>
        <p:spPr>
          <a:xfrm>
            <a:off x="665703" y="2991796"/>
            <a:ext cx="6583680" cy="320040"/>
          </a:xfrm>
          <a:prstGeom prst="rect">
            <a:avLst/>
          </a:prstGeom>
          <a:noFill/>
          <a:ln/>
        </p:spPr>
        <p:txBody>
          <a:bodyPr wrap="square" lIns="0" tIns="0" rIns="0" bIns="0" rtlCol="0" anchor="ctr"/>
          <a:lstStyle/>
          <a:p>
            <a:pPr marL="0" indent="0">
              <a:buNone/>
            </a:pPr>
            <a:r>
              <a:rPr lang="en-US" sz="1600" dirty="0">
                <a:solidFill>
                  <a:srgbClr val="4B5563"/>
                </a:solidFill>
                <a:latin typeface="Aptos" pitchFamily="34" charset="0"/>
                <a:ea typeface="Aptos" pitchFamily="34" charset="-122"/>
                <a:cs typeface="Aptos" pitchFamily="34" charset="-120"/>
              </a:rPr>
              <a:t>A planning model for charger needs, feasibility, and early infrastructure cost ranges</a:t>
            </a:r>
            <a:endParaRPr lang="en-US" sz="1600" dirty="0"/>
          </a:p>
        </p:txBody>
      </p:sp>
      <p:sp>
        <p:nvSpPr>
          <p:cNvPr id="13" name="Shape 11"/>
          <p:cNvSpPr/>
          <p:nvPr/>
        </p:nvSpPr>
        <p:spPr>
          <a:xfrm>
            <a:off x="8001000" y="1691640"/>
            <a:ext cx="3246120" cy="2880360"/>
          </a:xfrm>
          <a:prstGeom prst="roundRect">
            <a:avLst>
              <a:gd name="adj" fmla="val 4762"/>
            </a:avLst>
          </a:prstGeom>
          <a:solidFill>
            <a:srgbClr val="EAF2FF"/>
          </a:solidFill>
          <a:ln w="12700">
            <a:solidFill>
              <a:srgbClr val="D1D5DB"/>
            </a:solidFill>
            <a:prstDash val="solid"/>
          </a:ln>
        </p:spPr>
        <p:txBody>
          <a:bodyPr/>
          <a:lstStyle/>
          <a:p>
            <a:endParaRPr/>
          </a:p>
        </p:txBody>
      </p:sp>
      <p:sp>
        <p:nvSpPr>
          <p:cNvPr id="14" name="Text 12"/>
          <p:cNvSpPr/>
          <p:nvPr/>
        </p:nvSpPr>
        <p:spPr>
          <a:xfrm>
            <a:off x="8321040" y="2057400"/>
            <a:ext cx="2651760" cy="228600"/>
          </a:xfrm>
          <a:prstGeom prst="rect">
            <a:avLst/>
          </a:prstGeom>
          <a:noFill/>
          <a:ln/>
        </p:spPr>
        <p:txBody>
          <a:bodyPr wrap="square" lIns="0" tIns="0" rIns="0" bIns="0" rtlCol="0" anchor="ctr"/>
          <a:lstStyle/>
          <a:p>
            <a:pPr marL="0" indent="0">
              <a:buNone/>
            </a:pPr>
            <a:r>
              <a:rPr lang="en-US" sz="1500" b="1" dirty="0">
                <a:solidFill>
                  <a:srgbClr val="0B1F3A"/>
                </a:solidFill>
                <a:latin typeface="Aptos Display" pitchFamily="34" charset="0"/>
                <a:ea typeface="Aptos Display" pitchFamily="34" charset="-122"/>
                <a:cs typeface="Aptos Display" pitchFamily="34" charset="-120"/>
              </a:rPr>
              <a:t>Core question</a:t>
            </a:r>
            <a:endParaRPr lang="en-US" sz="1500" dirty="0"/>
          </a:p>
        </p:txBody>
      </p:sp>
      <p:sp>
        <p:nvSpPr>
          <p:cNvPr id="15" name="Text 13"/>
          <p:cNvSpPr/>
          <p:nvPr/>
        </p:nvSpPr>
        <p:spPr>
          <a:xfrm>
            <a:off x="8321040" y="2514600"/>
            <a:ext cx="2651760" cy="1143000"/>
          </a:xfrm>
          <a:prstGeom prst="rect">
            <a:avLst/>
          </a:prstGeom>
          <a:noFill/>
          <a:ln/>
        </p:spPr>
        <p:txBody>
          <a:bodyPr wrap="square" lIns="254" tIns="254" rIns="254" bIns="254" rtlCol="0" anchor="ctr">
            <a:normAutofit lnSpcReduction="10000"/>
          </a:bodyPr>
          <a:lstStyle/>
          <a:p>
            <a:pPr marL="0" indent="0">
              <a:buNone/>
            </a:pPr>
            <a:r>
              <a:rPr lang="en-US" sz="1600" dirty="0">
                <a:solidFill>
                  <a:srgbClr val="374151"/>
                </a:solidFill>
                <a:latin typeface="Aptos" pitchFamily="34" charset="0"/>
                <a:ea typeface="Aptos" pitchFamily="34" charset="-122"/>
                <a:cs typeface="Aptos" pitchFamily="34" charset="-120"/>
              </a:rPr>
              <a:t>What charging infrastructure will the fleet need — and what should it plan to spend before moving into detailed engineering?</a:t>
            </a:r>
            <a:endParaRPr lang="en-US" sz="1600" dirty="0"/>
          </a:p>
        </p:txBody>
      </p:sp>
      <p:sp>
        <p:nvSpPr>
          <p:cNvPr id="16" name="Text 14"/>
          <p:cNvSpPr/>
          <p:nvPr/>
        </p:nvSpPr>
        <p:spPr>
          <a:xfrm>
            <a:off x="685800" y="5650992"/>
            <a:ext cx="2377440" cy="256032"/>
          </a:xfrm>
          <a:prstGeom prst="rect">
            <a:avLst/>
          </a:prstGeom>
          <a:noFill/>
          <a:ln/>
        </p:spPr>
        <p:txBody>
          <a:bodyPr wrap="square" lIns="0" tIns="0" rIns="0" bIns="0" rtlCol="0" anchor="ctr"/>
          <a:lstStyle/>
          <a:p>
            <a:pPr marL="0" indent="0">
              <a:buNone/>
            </a:pPr>
            <a:r>
              <a:rPr lang="en-US" sz="1300" b="1" dirty="0">
                <a:solidFill>
                  <a:srgbClr val="0B1F3A"/>
                </a:solidFill>
              </a:rPr>
              <a:t>Dan Morrow</a:t>
            </a:r>
            <a:endParaRPr lang="en-US" sz="1300" dirty="0"/>
          </a:p>
        </p:txBody>
      </p:sp>
      <p:sp>
        <p:nvSpPr>
          <p:cNvPr id="17" name="Text 15"/>
          <p:cNvSpPr/>
          <p:nvPr/>
        </p:nvSpPr>
        <p:spPr>
          <a:xfrm>
            <a:off x="685800" y="5943600"/>
            <a:ext cx="4206240" cy="201168"/>
          </a:xfrm>
          <a:prstGeom prst="rect">
            <a:avLst/>
          </a:prstGeom>
          <a:noFill/>
          <a:ln/>
        </p:spPr>
        <p:txBody>
          <a:bodyPr wrap="square" lIns="0" tIns="0" rIns="0" bIns="0" rtlCol="0" anchor="ctr"/>
          <a:lstStyle/>
          <a:p>
            <a:pPr marL="0" indent="0">
              <a:buNone/>
            </a:pPr>
            <a:r>
              <a:rPr lang="en-US" sz="1050" dirty="0">
                <a:solidFill>
                  <a:srgbClr val="4B5563"/>
                </a:solidFill>
              </a:rPr>
              <a:t>Bellevue University | Applied Data Science</a:t>
            </a:r>
            <a:endParaRPr lang="en-US" sz="1050" dirty="0"/>
          </a:p>
        </p:txBody>
      </p:sp>
      <p:sp>
        <p:nvSpPr>
          <p:cNvPr id="18" name="Text 16"/>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19" name="Text 17"/>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10789920" cy="457200"/>
          </a:xfrm>
          <a:prstGeom prst="rect">
            <a:avLst/>
          </a:prstGeom>
          <a:noFill/>
          <a:ln/>
        </p:spPr>
        <p:txBody>
          <a:bodyPr wrap="square" lIns="0" tIns="0" rIns="0" bIns="0" rtlCol="0" anchor="ct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Business problem</a:t>
            </a:r>
            <a:endParaRPr lang="en-US" sz="3000" dirty="0"/>
          </a:p>
        </p:txBody>
      </p:sp>
      <p:sp>
        <p:nvSpPr>
          <p:cNvPr id="3" name="Text 1"/>
          <p:cNvSpPr/>
          <p:nvPr/>
        </p:nvSpPr>
        <p:spPr>
          <a:xfrm>
            <a:off x="566928" y="850392"/>
            <a:ext cx="10881360" cy="292608"/>
          </a:xfrm>
          <a:prstGeom prst="rect">
            <a:avLst/>
          </a:prstGeom>
          <a:noFill/>
          <a:ln/>
        </p:spPr>
        <p:txBody>
          <a:bodyPr wrap="square" lIns="0" tIns="0" rIns="0" bIns="0" rtlCol="0" anchor="ctr"/>
          <a:lstStyle/>
          <a:p>
            <a:pPr marL="0" indent="0">
              <a:buNone/>
            </a:pPr>
            <a:r>
              <a:rPr lang="en-US" sz="1600" dirty="0">
                <a:solidFill>
                  <a:srgbClr val="4B5563"/>
                </a:solidFill>
                <a:latin typeface="Aptos" pitchFamily="34" charset="0"/>
                <a:ea typeface="Aptos" pitchFamily="34" charset="-122"/>
                <a:cs typeface="Aptos" pitchFamily="34" charset="-120"/>
              </a:rPr>
              <a:t>Fleets need a clearer early estimate of infrastructure spending.</a:t>
            </a:r>
            <a:endParaRPr lang="en-US" sz="1600" dirty="0"/>
          </a:p>
        </p:txBody>
      </p:sp>
      <p:sp>
        <p:nvSpPr>
          <p:cNvPr id="4" name="Shape 2"/>
          <p:cNvSpPr/>
          <p:nvPr/>
        </p:nvSpPr>
        <p:spPr>
          <a:xfrm>
            <a:off x="548640" y="1207008"/>
            <a:ext cx="11064240" cy="0"/>
          </a:xfrm>
          <a:prstGeom prst="line">
            <a:avLst/>
          </a:prstGeom>
          <a:noFill/>
          <a:ln w="25400">
            <a:solidFill>
              <a:srgbClr val="DBEAFE"/>
            </a:solidFill>
            <a:prstDash val="solid"/>
          </a:ln>
        </p:spPr>
        <p:txBody>
          <a:bodyPr/>
          <a:lstStyle/>
          <a:p>
            <a:endParaRPr/>
          </a:p>
        </p:txBody>
      </p:sp>
      <p:sp>
        <p:nvSpPr>
          <p:cNvPr id="5" name="Text 3"/>
          <p:cNvSpPr/>
          <p:nvPr/>
        </p:nvSpPr>
        <p:spPr>
          <a:xfrm>
            <a:off x="777240" y="1691640"/>
            <a:ext cx="5120640" cy="320040"/>
          </a:xfrm>
          <a:prstGeom prst="rect">
            <a:avLst/>
          </a:prstGeom>
          <a:noFill/>
          <a:ln/>
        </p:spPr>
        <p:txBody>
          <a:bodyPr wrap="square" lIns="0" tIns="0" rIns="0" bIns="0" rtlCol="0" anchor="ctr"/>
          <a:lstStyle/>
          <a:p>
            <a:pPr marL="0" indent="0">
              <a:buNone/>
            </a:pPr>
            <a:r>
              <a:rPr lang="en-US" sz="2300" b="1" dirty="0">
                <a:solidFill>
                  <a:srgbClr val="0B1F3A"/>
                </a:solidFill>
                <a:latin typeface="Aptos Display" pitchFamily="34" charset="0"/>
                <a:ea typeface="Aptos Display" pitchFamily="34" charset="-122"/>
                <a:cs typeface="Aptos Display" pitchFamily="34" charset="-120"/>
              </a:rPr>
              <a:t>The fleet decision is not just “Which EV?”</a:t>
            </a:r>
            <a:endParaRPr lang="en-US" sz="2300" dirty="0"/>
          </a:p>
        </p:txBody>
      </p:sp>
      <p:sp>
        <p:nvSpPr>
          <p:cNvPr id="6" name="Text 4"/>
          <p:cNvSpPr/>
          <p:nvPr/>
        </p:nvSpPr>
        <p:spPr>
          <a:xfrm>
            <a:off x="777240" y="2148840"/>
            <a:ext cx="6126480" cy="566928"/>
          </a:xfrm>
          <a:prstGeom prst="rect">
            <a:avLst/>
          </a:prstGeom>
          <a:noFill/>
          <a:ln/>
        </p:spPr>
        <p:txBody>
          <a:bodyPr wrap="square" lIns="0" tIns="0" rIns="0" bIns="0" rtlCol="0" anchor="ctr">
            <a:normAutofit fontScale="92500" lnSpcReduction="20000"/>
          </a:bodyPr>
          <a:lstStyle/>
          <a:p>
            <a:pPr marL="0" indent="0">
              <a:buNone/>
            </a:pPr>
            <a:r>
              <a:rPr lang="en-US" sz="2300" b="1" dirty="0">
                <a:solidFill>
                  <a:srgbClr val="1E5AA8"/>
                </a:solidFill>
                <a:latin typeface="Aptos Display" pitchFamily="34" charset="0"/>
                <a:ea typeface="Aptos Display" pitchFamily="34" charset="-122"/>
                <a:cs typeface="Aptos Display" pitchFamily="34" charset="-120"/>
              </a:rPr>
              <a:t>It is also “What charging infrastructure will we need, and what will it cost?”</a:t>
            </a:r>
            <a:endParaRPr lang="en-US" sz="2300" dirty="0"/>
          </a:p>
        </p:txBody>
      </p:sp>
      <p:sp>
        <p:nvSpPr>
          <p:cNvPr id="7" name="Text 5"/>
          <p:cNvSpPr/>
          <p:nvPr/>
        </p:nvSpPr>
        <p:spPr>
          <a:xfrm>
            <a:off x="822960" y="3154680"/>
            <a:ext cx="5760720" cy="1828800"/>
          </a:xfrm>
          <a:prstGeom prst="rect">
            <a:avLst/>
          </a:prstGeom>
          <a:noFill/>
          <a:ln/>
        </p:spPr>
        <p:txBody>
          <a:bodyPr wrap="square" lIns="254" tIns="254" rIns="254" bIns="254" rtlCol="0" anchor="t">
            <a:normAutofit/>
          </a:bodyPr>
          <a:lstStyle/>
          <a:p>
            <a:pPr marL="0" indent="0">
              <a:buNone/>
            </a:pPr>
            <a:r>
              <a:rPr lang="en-US" sz="1550" dirty="0">
                <a:solidFill>
                  <a:srgbClr val="374151"/>
                </a:solidFill>
                <a:latin typeface="Aptos" pitchFamily="34" charset="0"/>
                <a:ea typeface="Aptos" pitchFamily="34" charset="-122"/>
                <a:cs typeface="Aptos" pitchFamily="34" charset="-120"/>
              </a:rPr>
              <a:t>• Infrastructure costs vary by daily energy demand, charger power, charging window, and site complexity.</a:t>
            </a:r>
            <a:endParaRPr lang="en-US" sz="1550" dirty="0"/>
          </a:p>
          <a:p>
            <a:pPr marL="0" indent="0">
              <a:buNone/>
            </a:pPr>
            <a:r>
              <a:rPr lang="en-US" sz="1550" dirty="0">
                <a:solidFill>
                  <a:srgbClr val="374151"/>
                </a:solidFill>
                <a:latin typeface="Aptos" pitchFamily="34" charset="0"/>
                <a:ea typeface="Aptos" pitchFamily="34" charset="-122"/>
                <a:cs typeface="Aptos" pitchFamily="34" charset="-120"/>
              </a:rPr>
              <a:t>• Underbuilding can create operational bottlenecks; overbuilding can waste capital upfront.</a:t>
            </a:r>
            <a:endParaRPr lang="en-US" sz="1550" dirty="0"/>
          </a:p>
          <a:p>
            <a:pPr marL="0" indent="0">
              <a:buNone/>
            </a:pPr>
            <a:r>
              <a:rPr lang="en-US" sz="1550" dirty="0">
                <a:solidFill>
                  <a:srgbClr val="374151"/>
                </a:solidFill>
                <a:latin typeface="Aptos" pitchFamily="34" charset="0"/>
                <a:ea typeface="Aptos" pitchFamily="34" charset="-122"/>
                <a:cs typeface="Aptos" pitchFamily="34" charset="-120"/>
              </a:rPr>
              <a:t>• This project creates a planning-level way to estimate charger count, feasibility, and cost ranges.</a:t>
            </a:r>
            <a:endParaRPr lang="en-US" sz="1550" dirty="0"/>
          </a:p>
        </p:txBody>
      </p:sp>
      <p:sp>
        <p:nvSpPr>
          <p:cNvPr id="8" name="Shape 6"/>
          <p:cNvSpPr/>
          <p:nvPr/>
        </p:nvSpPr>
        <p:spPr>
          <a:xfrm>
            <a:off x="7360920" y="1645920"/>
            <a:ext cx="3383280" cy="960120"/>
          </a:xfrm>
          <a:prstGeom prst="roundRect">
            <a:avLst>
              <a:gd name="adj" fmla="val 9524"/>
            </a:avLst>
          </a:prstGeom>
          <a:solidFill>
            <a:srgbClr val="FFFFFF"/>
          </a:solidFill>
          <a:ln w="12700">
            <a:solidFill>
              <a:srgbClr val="D1D5DB"/>
            </a:solidFill>
            <a:prstDash val="solid"/>
          </a:ln>
        </p:spPr>
        <p:txBody>
          <a:bodyPr/>
          <a:lstStyle/>
          <a:p>
            <a:endParaRPr/>
          </a:p>
        </p:txBody>
      </p:sp>
      <p:sp>
        <p:nvSpPr>
          <p:cNvPr id="9" name="Shape 7"/>
          <p:cNvSpPr/>
          <p:nvPr/>
        </p:nvSpPr>
        <p:spPr>
          <a:xfrm>
            <a:off x="7360920" y="1645920"/>
            <a:ext cx="109728" cy="960120"/>
          </a:xfrm>
          <a:prstGeom prst="rect">
            <a:avLst/>
          </a:prstGeom>
          <a:solidFill>
            <a:srgbClr val="1E5AA8"/>
          </a:solidFill>
          <a:ln w="12700">
            <a:solidFill>
              <a:srgbClr val="1E5AA8">
                <a:alpha val="0"/>
              </a:srgbClr>
            </a:solidFill>
            <a:prstDash val="solid"/>
          </a:ln>
        </p:spPr>
        <p:txBody>
          <a:bodyPr/>
          <a:lstStyle/>
          <a:p>
            <a:endParaRPr/>
          </a:p>
        </p:txBody>
      </p:sp>
      <p:sp>
        <p:nvSpPr>
          <p:cNvPr id="10" name="Text 8"/>
          <p:cNvSpPr/>
          <p:nvPr/>
        </p:nvSpPr>
        <p:spPr>
          <a:xfrm>
            <a:off x="7616952" y="1792224"/>
            <a:ext cx="2971800" cy="292608"/>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Level 2 only</a:t>
            </a:r>
            <a:endParaRPr lang="en-US" sz="1800" dirty="0"/>
          </a:p>
        </p:txBody>
      </p:sp>
      <p:sp>
        <p:nvSpPr>
          <p:cNvPr id="11" name="Text 9"/>
          <p:cNvSpPr/>
          <p:nvPr/>
        </p:nvSpPr>
        <p:spPr>
          <a:xfrm>
            <a:off x="7616952" y="2084833"/>
            <a:ext cx="2971800" cy="438910"/>
          </a:xfrm>
          <a:prstGeom prst="rect">
            <a:avLst/>
          </a:prstGeom>
          <a:noFill/>
          <a:ln/>
        </p:spPr>
        <p:txBody>
          <a:bodyPr wrap="square" lIns="0" tIns="0" rIns="0" bIns="0" rtlCol="0" anchor="ctr">
            <a:normAutofit/>
          </a:bodyPr>
          <a:lstStyle/>
          <a:p>
            <a:pPr marL="0" indent="0" algn="l">
              <a:buNone/>
            </a:pPr>
            <a:r>
              <a:rPr sz="800" dirty="0">
                <a:solidFill>
                  <a:srgbClr val="0F233D"/>
                </a:solidFill>
                <a:latin typeface="Aptos"/>
              </a:rPr>
              <a:t>Audience question: Why not DCFC?</a:t>
            </a:r>
            <a:endParaRPr lang="en-US" sz="1080" dirty="0"/>
          </a:p>
          <a:p>
            <a:pPr algn="l"/>
            <a:r>
              <a:rPr sz="800" dirty="0">
                <a:solidFill>
                  <a:srgbClr val="0F233D"/>
                </a:solidFill>
                <a:latin typeface="Aptos"/>
              </a:rPr>
              <a:t>Because this project reports Level 2 constraints instead of changing the scope.</a:t>
            </a:r>
          </a:p>
        </p:txBody>
      </p:sp>
      <p:sp>
        <p:nvSpPr>
          <p:cNvPr id="12" name="Shape 10"/>
          <p:cNvSpPr/>
          <p:nvPr/>
        </p:nvSpPr>
        <p:spPr>
          <a:xfrm>
            <a:off x="7360920" y="2880360"/>
            <a:ext cx="3383280" cy="960120"/>
          </a:xfrm>
          <a:prstGeom prst="roundRect">
            <a:avLst>
              <a:gd name="adj" fmla="val 9524"/>
            </a:avLst>
          </a:prstGeom>
          <a:solidFill>
            <a:srgbClr val="FFFFFF"/>
          </a:solidFill>
          <a:ln w="12700">
            <a:solidFill>
              <a:srgbClr val="D1D5DB"/>
            </a:solidFill>
            <a:prstDash val="solid"/>
          </a:ln>
        </p:spPr>
        <p:txBody>
          <a:bodyPr/>
          <a:lstStyle/>
          <a:p>
            <a:endParaRPr/>
          </a:p>
        </p:txBody>
      </p:sp>
      <p:sp>
        <p:nvSpPr>
          <p:cNvPr id="13" name="Shape 11"/>
          <p:cNvSpPr/>
          <p:nvPr/>
        </p:nvSpPr>
        <p:spPr>
          <a:xfrm>
            <a:off x="7360920" y="2880360"/>
            <a:ext cx="109728" cy="96012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7616952" y="3026664"/>
            <a:ext cx="2971800" cy="292608"/>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Planning ranges</a:t>
            </a:r>
            <a:endParaRPr lang="en-US" sz="1800" dirty="0"/>
          </a:p>
        </p:txBody>
      </p:sp>
      <p:sp>
        <p:nvSpPr>
          <p:cNvPr id="15" name="Text 13"/>
          <p:cNvSpPr/>
          <p:nvPr/>
        </p:nvSpPr>
        <p:spPr>
          <a:xfrm>
            <a:off x="7616952" y="3383280"/>
            <a:ext cx="2971800" cy="256032"/>
          </a:xfrm>
          <a:prstGeom prst="rect">
            <a:avLst/>
          </a:prstGeom>
          <a:noFill/>
          <a:ln/>
        </p:spPr>
        <p:txBody>
          <a:bodyPr wrap="square" lIns="0" tIns="0" rIns="0" bIns="0" rtlCol="0" anchor="ctr">
            <a:normAutofit fontScale="92500" lnSpcReduction="20000"/>
          </a:bodyPr>
          <a:lstStyle/>
          <a:p>
            <a:pPr marL="0" indent="0">
              <a:buNone/>
            </a:pPr>
            <a:r>
              <a:rPr lang="en-US" sz="1080" dirty="0">
                <a:solidFill>
                  <a:srgbClr val="4B5563"/>
                </a:solidFill>
                <a:latin typeface="Aptos" pitchFamily="34" charset="0"/>
                <a:ea typeface="Aptos" pitchFamily="34" charset="-122"/>
                <a:cs typeface="Aptos" pitchFamily="34" charset="-120"/>
              </a:rPr>
              <a:t>Costs are screening estimates, not site-specific quotes.</a:t>
            </a:r>
            <a:endParaRPr lang="en-US" sz="1080" dirty="0"/>
          </a:p>
        </p:txBody>
      </p:sp>
      <p:sp>
        <p:nvSpPr>
          <p:cNvPr id="16" name="Shape 14"/>
          <p:cNvSpPr/>
          <p:nvPr/>
        </p:nvSpPr>
        <p:spPr>
          <a:xfrm>
            <a:off x="7360920" y="4114800"/>
            <a:ext cx="3383280" cy="960120"/>
          </a:xfrm>
          <a:prstGeom prst="roundRect">
            <a:avLst>
              <a:gd name="adj" fmla="val 9524"/>
            </a:avLst>
          </a:prstGeom>
          <a:solidFill>
            <a:srgbClr val="FFFFFF"/>
          </a:solidFill>
          <a:ln w="12700">
            <a:solidFill>
              <a:srgbClr val="D1D5DB"/>
            </a:solidFill>
            <a:prstDash val="solid"/>
          </a:ln>
        </p:spPr>
        <p:txBody>
          <a:bodyPr/>
          <a:lstStyle/>
          <a:p>
            <a:endParaRPr/>
          </a:p>
        </p:txBody>
      </p:sp>
      <p:sp>
        <p:nvSpPr>
          <p:cNvPr id="17" name="Shape 15"/>
          <p:cNvSpPr/>
          <p:nvPr/>
        </p:nvSpPr>
        <p:spPr>
          <a:xfrm>
            <a:off x="7360920" y="4114800"/>
            <a:ext cx="109728" cy="960120"/>
          </a:xfrm>
          <a:prstGeom prst="rect">
            <a:avLst/>
          </a:prstGeom>
          <a:solidFill>
            <a:srgbClr val="F6C453"/>
          </a:solidFill>
          <a:ln w="12700">
            <a:solidFill>
              <a:srgbClr val="F6C453">
                <a:alpha val="0"/>
              </a:srgbClr>
            </a:solidFill>
            <a:prstDash val="solid"/>
          </a:ln>
        </p:spPr>
        <p:txBody>
          <a:bodyPr/>
          <a:lstStyle/>
          <a:p>
            <a:endParaRPr/>
          </a:p>
        </p:txBody>
      </p:sp>
      <p:sp>
        <p:nvSpPr>
          <p:cNvPr id="18" name="Text 16"/>
          <p:cNvSpPr/>
          <p:nvPr/>
        </p:nvSpPr>
        <p:spPr>
          <a:xfrm>
            <a:off x="7616952" y="4261104"/>
            <a:ext cx="2971800" cy="292608"/>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Budget first pass</a:t>
            </a:r>
            <a:endParaRPr lang="en-US" sz="1800" dirty="0"/>
          </a:p>
        </p:txBody>
      </p:sp>
      <p:sp>
        <p:nvSpPr>
          <p:cNvPr id="19" name="Text 17"/>
          <p:cNvSpPr/>
          <p:nvPr/>
        </p:nvSpPr>
        <p:spPr>
          <a:xfrm>
            <a:off x="7616952" y="4617720"/>
            <a:ext cx="2971800" cy="256032"/>
          </a:xfrm>
          <a:prstGeom prst="rect">
            <a:avLst/>
          </a:prstGeom>
          <a:noFill/>
          <a:ln/>
        </p:spPr>
        <p:txBody>
          <a:bodyPr wrap="square" lIns="0" tIns="0" rIns="0" bIns="0" rtlCol="0" anchor="ctr">
            <a:normAutofit fontScale="92500" lnSpcReduction="20000"/>
          </a:bodyPr>
          <a:lstStyle/>
          <a:p>
            <a:pPr marL="0" indent="0">
              <a:buNone/>
            </a:pPr>
            <a:r>
              <a:rPr lang="en-US" sz="1080" dirty="0">
                <a:solidFill>
                  <a:srgbClr val="4B5563"/>
                </a:solidFill>
                <a:latin typeface="Aptos" pitchFamily="34" charset="0"/>
                <a:ea typeface="Aptos" pitchFamily="34" charset="-122"/>
                <a:cs typeface="Aptos" pitchFamily="34" charset="-120"/>
              </a:rPr>
              <a:t>The output helps decide what should move to site assessment.</a:t>
            </a:r>
            <a:endParaRPr lang="en-US" sz="1080" dirty="0"/>
          </a:p>
        </p:txBody>
      </p:sp>
      <p:sp>
        <p:nvSpPr>
          <p:cNvPr id="20" name="Text 18"/>
          <p:cNvSpPr/>
          <p:nvPr/>
        </p:nvSpPr>
        <p:spPr>
          <a:xfrm>
            <a:off x="566928" y="6199632"/>
            <a:ext cx="10698480" cy="201168"/>
          </a:xfrm>
          <a:prstGeom prst="rect">
            <a:avLst/>
          </a:prstGeom>
          <a:noFill/>
          <a:ln/>
        </p:spPr>
        <p:txBody>
          <a:bodyPr wrap="square" lIns="0" tIns="0" rIns="0" bIns="0" rtlCol="0" anchor="ctr"/>
          <a:lstStyle/>
          <a:p>
            <a:endParaRPr/>
          </a:p>
        </p:txBody>
      </p:sp>
      <p:sp>
        <p:nvSpPr>
          <p:cNvPr id="21" name="Text 19"/>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22" name="Text 20"/>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10789920" cy="457200"/>
          </a:xfrm>
          <a:prstGeom prst="rect">
            <a:avLst/>
          </a:prstGeom>
          <a:noFill/>
          <a:ln/>
        </p:spPr>
        <p:txBody>
          <a:bodyPr wrap="square" lIns="0" tIns="0" rIns="0" bIns="0" rtlCol="0" anchor="ct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How the model works</a:t>
            </a:r>
            <a:endParaRPr lang="en-US" sz="3000" dirty="0"/>
          </a:p>
        </p:txBody>
      </p:sp>
      <p:sp>
        <p:nvSpPr>
          <p:cNvPr id="3" name="Text 1"/>
          <p:cNvSpPr/>
          <p:nvPr/>
        </p:nvSpPr>
        <p:spPr>
          <a:xfrm>
            <a:off x="566928" y="850392"/>
            <a:ext cx="10881360" cy="292608"/>
          </a:xfrm>
          <a:prstGeom prst="rect">
            <a:avLst/>
          </a:prstGeom>
          <a:noFill/>
          <a:ln/>
        </p:spPr>
        <p:txBody>
          <a:bodyPr wrap="square" lIns="0" tIns="0" rIns="0" bIns="0" rtlCol="0" anchor="ctr"/>
          <a:lstStyle/>
          <a:p>
            <a:pPr marL="0" indent="0">
              <a:buNone/>
            </a:pPr>
            <a:r>
              <a:rPr lang="en-US" sz="1600" dirty="0">
                <a:solidFill>
                  <a:srgbClr val="4B5563"/>
                </a:solidFill>
                <a:latin typeface="Aptos" pitchFamily="34" charset="0"/>
                <a:ea typeface="Aptos" pitchFamily="34" charset="-122"/>
                <a:cs typeface="Aptos" pitchFamily="34" charset="-120"/>
              </a:rPr>
              <a:t>A transparent scenario model, not a black-box prediction.</a:t>
            </a:r>
            <a:endParaRPr lang="en-US" sz="1600" dirty="0"/>
          </a:p>
        </p:txBody>
      </p:sp>
      <p:sp>
        <p:nvSpPr>
          <p:cNvPr id="4" name="Shape 2"/>
          <p:cNvSpPr/>
          <p:nvPr/>
        </p:nvSpPr>
        <p:spPr>
          <a:xfrm>
            <a:off x="548640" y="1207008"/>
            <a:ext cx="11064240" cy="0"/>
          </a:xfrm>
          <a:prstGeom prst="line">
            <a:avLst/>
          </a:prstGeom>
          <a:noFill/>
          <a:ln w="25400">
            <a:solidFill>
              <a:srgbClr val="DBEAFE"/>
            </a:solidFill>
            <a:prstDash val="solid"/>
          </a:ln>
        </p:spPr>
        <p:txBody>
          <a:bodyPr/>
          <a:lstStyle/>
          <a:p>
            <a:endParaRPr/>
          </a:p>
        </p:txBody>
      </p:sp>
      <p:sp>
        <p:nvSpPr>
          <p:cNvPr id="5" name="Shape 3"/>
          <p:cNvSpPr/>
          <p:nvPr/>
        </p:nvSpPr>
        <p:spPr>
          <a:xfrm>
            <a:off x="685800" y="1874520"/>
            <a:ext cx="1691640" cy="1828800"/>
          </a:xfrm>
          <a:prstGeom prst="roundRect">
            <a:avLst>
              <a:gd name="adj" fmla="val 5405"/>
            </a:avLst>
          </a:prstGeom>
          <a:solidFill>
            <a:srgbClr val="FFFFFF"/>
          </a:solidFill>
          <a:ln w="12700">
            <a:solidFill>
              <a:srgbClr val="D1D5DB"/>
            </a:solidFill>
            <a:prstDash val="solid"/>
          </a:ln>
        </p:spPr>
        <p:txBody>
          <a:bodyPr/>
          <a:lstStyle/>
          <a:p>
            <a:endParaRPr/>
          </a:p>
        </p:txBody>
      </p:sp>
      <p:sp>
        <p:nvSpPr>
          <p:cNvPr id="6" name="Text 4"/>
          <p:cNvSpPr/>
          <p:nvPr/>
        </p:nvSpPr>
        <p:spPr>
          <a:xfrm>
            <a:off x="850392" y="2011680"/>
            <a:ext cx="347472" cy="256032"/>
          </a:xfrm>
          <a:prstGeom prst="rect">
            <a:avLst/>
          </a:prstGeom>
          <a:solidFill>
            <a:srgbClr val="1E5AA8"/>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850392" y="2377440"/>
            <a:ext cx="1371600" cy="292608"/>
          </a:xfrm>
          <a:prstGeom prst="rect">
            <a:avLst/>
          </a:prstGeom>
          <a:noFill/>
          <a:ln/>
        </p:spPr>
        <p:txBody>
          <a:bodyPr wrap="square" lIns="0" tIns="0" rIns="0" bIns="0" rtlCol="0" anchor="ctr">
            <a:normAutofit/>
          </a:bodyPr>
          <a:lstStyle/>
          <a:p>
            <a:pPr marL="0" indent="0">
              <a:buNone/>
            </a:pPr>
            <a:r>
              <a:rPr lang="en-US" sz="1300" b="1" dirty="0">
                <a:solidFill>
                  <a:srgbClr val="0B1F3A"/>
                </a:solidFill>
                <a:latin typeface="Aptos Display" pitchFamily="34" charset="0"/>
                <a:ea typeface="Aptos Display" pitchFamily="34" charset="-122"/>
                <a:cs typeface="Aptos Display" pitchFamily="34" charset="-120"/>
              </a:rPr>
              <a:t>Fleet DNA</a:t>
            </a:r>
            <a:endParaRPr lang="en-US" sz="1300" dirty="0"/>
          </a:p>
        </p:txBody>
      </p:sp>
      <p:sp>
        <p:nvSpPr>
          <p:cNvPr id="8" name="Text 6"/>
          <p:cNvSpPr/>
          <p:nvPr/>
        </p:nvSpPr>
        <p:spPr>
          <a:xfrm>
            <a:off x="850392" y="2807208"/>
            <a:ext cx="1353312" cy="685800"/>
          </a:xfrm>
          <a:prstGeom prst="rect">
            <a:avLst/>
          </a:prstGeom>
          <a:noFill/>
          <a:ln/>
        </p:spPr>
        <p:txBody>
          <a:bodyPr wrap="square" lIns="127" tIns="127" rIns="127" bIns="127" rtlCol="0" anchor="ctr">
            <a:normAutofit/>
          </a:bodyPr>
          <a:lstStyle/>
          <a:p>
            <a:pPr marL="0" indent="0">
              <a:buNone/>
            </a:pPr>
            <a:r>
              <a:rPr lang="en-US" sz="1070" dirty="0">
                <a:solidFill>
                  <a:srgbClr val="4B5563"/>
                </a:solidFill>
                <a:latin typeface="Aptos" pitchFamily="34" charset="0"/>
                <a:ea typeface="Aptos" pitchFamily="34" charset="-122"/>
                <a:cs typeface="Aptos" pitchFamily="34" charset="-120"/>
              </a:rPr>
              <a:t>Vehicle-day data</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from public fleet</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operating records</a:t>
            </a:r>
            <a:endParaRPr lang="en-US" sz="1070" dirty="0"/>
          </a:p>
        </p:txBody>
      </p:sp>
      <p:sp>
        <p:nvSpPr>
          <p:cNvPr id="9" name="Shape 7"/>
          <p:cNvSpPr/>
          <p:nvPr/>
        </p:nvSpPr>
        <p:spPr>
          <a:xfrm>
            <a:off x="2423160" y="2788920"/>
            <a:ext cx="411480" cy="0"/>
          </a:xfrm>
          <a:prstGeom prst="line">
            <a:avLst/>
          </a:prstGeom>
          <a:noFill/>
          <a:ln w="25400">
            <a:solidFill>
              <a:srgbClr val="00A6A6"/>
            </a:solidFill>
            <a:prstDash val="solid"/>
            <a:headEnd type="none"/>
            <a:tailEnd type="triangle"/>
          </a:ln>
        </p:spPr>
        <p:txBody>
          <a:bodyPr/>
          <a:lstStyle/>
          <a:p>
            <a:endParaRPr/>
          </a:p>
        </p:txBody>
      </p:sp>
      <p:sp>
        <p:nvSpPr>
          <p:cNvPr id="10" name="Shape 8"/>
          <p:cNvSpPr/>
          <p:nvPr/>
        </p:nvSpPr>
        <p:spPr>
          <a:xfrm>
            <a:off x="2880360" y="1874520"/>
            <a:ext cx="1691640" cy="1828800"/>
          </a:xfrm>
          <a:prstGeom prst="roundRect">
            <a:avLst>
              <a:gd name="adj" fmla="val 5405"/>
            </a:avLst>
          </a:prstGeom>
          <a:solidFill>
            <a:srgbClr val="F8FAFC"/>
          </a:solidFill>
          <a:ln w="12700">
            <a:solidFill>
              <a:srgbClr val="D1D5DB"/>
            </a:solidFill>
            <a:prstDash val="solid"/>
          </a:ln>
        </p:spPr>
        <p:txBody>
          <a:bodyPr/>
          <a:lstStyle/>
          <a:p>
            <a:endParaRPr/>
          </a:p>
        </p:txBody>
      </p:sp>
      <p:sp>
        <p:nvSpPr>
          <p:cNvPr id="11" name="Text 9"/>
          <p:cNvSpPr/>
          <p:nvPr/>
        </p:nvSpPr>
        <p:spPr>
          <a:xfrm>
            <a:off x="3044952" y="2011680"/>
            <a:ext cx="347472" cy="256032"/>
          </a:xfrm>
          <a:prstGeom prst="rect">
            <a:avLst/>
          </a:prstGeom>
          <a:solidFill>
            <a:srgbClr val="1E5AA8"/>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Text 10"/>
          <p:cNvSpPr/>
          <p:nvPr/>
        </p:nvSpPr>
        <p:spPr>
          <a:xfrm>
            <a:off x="3044952" y="2377440"/>
            <a:ext cx="1371600" cy="292608"/>
          </a:xfrm>
          <a:prstGeom prst="rect">
            <a:avLst/>
          </a:prstGeom>
          <a:noFill/>
          <a:ln/>
        </p:spPr>
        <p:txBody>
          <a:bodyPr wrap="square" lIns="0" tIns="0" rIns="0" bIns="0" rtlCol="0" anchor="ctr">
            <a:normAutofit/>
          </a:bodyPr>
          <a:lstStyle/>
          <a:p>
            <a:pPr marL="0" indent="0">
              <a:buNone/>
            </a:pPr>
            <a:r>
              <a:rPr lang="en-US" sz="1300" b="1" dirty="0">
                <a:solidFill>
                  <a:srgbClr val="0B1F3A"/>
                </a:solidFill>
                <a:latin typeface="Aptos Display" pitchFamily="34" charset="0"/>
                <a:ea typeface="Aptos Display" pitchFamily="34" charset="-122"/>
                <a:cs typeface="Aptos Display" pitchFamily="34" charset="-120"/>
              </a:rPr>
              <a:t>Primary cohort</a:t>
            </a:r>
            <a:endParaRPr lang="en-US" sz="1300" dirty="0"/>
          </a:p>
        </p:txBody>
      </p:sp>
      <p:sp>
        <p:nvSpPr>
          <p:cNvPr id="13" name="Text 11"/>
          <p:cNvSpPr/>
          <p:nvPr/>
        </p:nvSpPr>
        <p:spPr>
          <a:xfrm>
            <a:off x="3044952" y="2807208"/>
            <a:ext cx="1353312" cy="685800"/>
          </a:xfrm>
          <a:prstGeom prst="rect">
            <a:avLst/>
          </a:prstGeom>
          <a:noFill/>
          <a:ln/>
        </p:spPr>
        <p:txBody>
          <a:bodyPr wrap="square" lIns="127" tIns="127" rIns="127" bIns="127" rtlCol="0" anchor="ctr">
            <a:normAutofit/>
          </a:bodyPr>
          <a:lstStyle/>
          <a:p>
            <a:pPr marL="0" indent="0">
              <a:buNone/>
            </a:pPr>
            <a:r>
              <a:rPr lang="en-US" sz="1070" dirty="0">
                <a:solidFill>
                  <a:srgbClr val="4B5563"/>
                </a:solidFill>
                <a:latin typeface="Aptos" pitchFamily="34" charset="0"/>
                <a:ea typeface="Aptos" pitchFamily="34" charset="-122"/>
                <a:cs typeface="Aptos" pitchFamily="34" charset="-120"/>
              </a:rPr>
              <a:t>373 selected</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vehicles across</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53 deployments</a:t>
            </a:r>
            <a:endParaRPr lang="en-US" sz="1070" dirty="0"/>
          </a:p>
        </p:txBody>
      </p:sp>
      <p:sp>
        <p:nvSpPr>
          <p:cNvPr id="14" name="Shape 12"/>
          <p:cNvSpPr/>
          <p:nvPr/>
        </p:nvSpPr>
        <p:spPr>
          <a:xfrm>
            <a:off x="4617720" y="2788920"/>
            <a:ext cx="411480" cy="0"/>
          </a:xfrm>
          <a:prstGeom prst="line">
            <a:avLst/>
          </a:prstGeom>
          <a:noFill/>
          <a:ln w="25400">
            <a:solidFill>
              <a:srgbClr val="00A6A6"/>
            </a:solidFill>
            <a:prstDash val="solid"/>
            <a:headEnd type="none"/>
            <a:tailEnd type="triangle"/>
          </a:ln>
        </p:spPr>
        <p:txBody>
          <a:bodyPr/>
          <a:lstStyle/>
          <a:p>
            <a:endParaRPr/>
          </a:p>
        </p:txBody>
      </p:sp>
      <p:sp>
        <p:nvSpPr>
          <p:cNvPr id="15" name="Shape 13"/>
          <p:cNvSpPr/>
          <p:nvPr/>
        </p:nvSpPr>
        <p:spPr>
          <a:xfrm>
            <a:off x="5074920" y="1874520"/>
            <a:ext cx="1691640" cy="1828800"/>
          </a:xfrm>
          <a:prstGeom prst="roundRect">
            <a:avLst>
              <a:gd name="adj" fmla="val 5405"/>
            </a:avLst>
          </a:prstGeom>
          <a:solidFill>
            <a:srgbClr val="FFFFFF"/>
          </a:solidFill>
          <a:ln w="12700">
            <a:solidFill>
              <a:srgbClr val="D1D5DB"/>
            </a:solidFill>
            <a:prstDash val="solid"/>
          </a:ln>
        </p:spPr>
        <p:txBody>
          <a:bodyPr/>
          <a:lstStyle/>
          <a:p>
            <a:endParaRPr/>
          </a:p>
        </p:txBody>
      </p:sp>
      <p:sp>
        <p:nvSpPr>
          <p:cNvPr id="16" name="Text 14"/>
          <p:cNvSpPr/>
          <p:nvPr/>
        </p:nvSpPr>
        <p:spPr>
          <a:xfrm>
            <a:off x="5239512" y="2011680"/>
            <a:ext cx="347472" cy="256032"/>
          </a:xfrm>
          <a:prstGeom prst="rect">
            <a:avLst/>
          </a:prstGeom>
          <a:solidFill>
            <a:srgbClr val="1E5AA8"/>
          </a:solid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5"/>
          <p:cNvSpPr/>
          <p:nvPr/>
        </p:nvSpPr>
        <p:spPr>
          <a:xfrm>
            <a:off x="5239512" y="2377440"/>
            <a:ext cx="1371600" cy="292608"/>
          </a:xfrm>
          <a:prstGeom prst="rect">
            <a:avLst/>
          </a:prstGeom>
          <a:noFill/>
          <a:ln/>
        </p:spPr>
        <p:txBody>
          <a:bodyPr wrap="square" lIns="0" tIns="0" rIns="0" bIns="0" rtlCol="0" anchor="ctr">
            <a:normAutofit/>
          </a:bodyPr>
          <a:lstStyle/>
          <a:p>
            <a:pPr marL="0" indent="0">
              <a:buNone/>
            </a:pPr>
            <a:r>
              <a:rPr lang="en-US" sz="1300" b="1" dirty="0">
                <a:solidFill>
                  <a:srgbClr val="0B1F3A"/>
                </a:solidFill>
                <a:latin typeface="Aptos Display" pitchFamily="34" charset="0"/>
                <a:ea typeface="Aptos Display" pitchFamily="34" charset="-122"/>
                <a:cs typeface="Aptos Display" pitchFamily="34" charset="-120"/>
              </a:rPr>
              <a:t>Energy demand</a:t>
            </a:r>
            <a:endParaRPr lang="en-US" sz="1300" dirty="0"/>
          </a:p>
        </p:txBody>
      </p:sp>
      <p:sp>
        <p:nvSpPr>
          <p:cNvPr id="18" name="Text 16"/>
          <p:cNvSpPr/>
          <p:nvPr/>
        </p:nvSpPr>
        <p:spPr>
          <a:xfrm>
            <a:off x="5239512" y="2807208"/>
            <a:ext cx="1353312" cy="685800"/>
          </a:xfrm>
          <a:prstGeom prst="rect">
            <a:avLst/>
          </a:prstGeom>
          <a:noFill/>
          <a:ln/>
        </p:spPr>
        <p:txBody>
          <a:bodyPr wrap="square" lIns="127" tIns="127" rIns="127" bIns="127" rtlCol="0" anchor="ctr">
            <a:normAutofit/>
          </a:bodyPr>
          <a:lstStyle/>
          <a:p>
            <a:pPr marL="0" indent="0">
              <a:buNone/>
            </a:pPr>
            <a:r>
              <a:rPr lang="en-US" sz="1070" dirty="0">
                <a:solidFill>
                  <a:srgbClr val="4B5563"/>
                </a:solidFill>
                <a:latin typeface="Aptos" pitchFamily="34" charset="0"/>
                <a:ea typeface="Aptos" pitchFamily="34" charset="-122"/>
                <a:cs typeface="Aptos" pitchFamily="34" charset="-120"/>
              </a:rPr>
              <a:t>90th-percentile</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mileage × class</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kWh/mile ÷ 90%</a:t>
            </a:r>
            <a:endParaRPr lang="en-US" sz="1070" dirty="0"/>
          </a:p>
        </p:txBody>
      </p:sp>
      <p:sp>
        <p:nvSpPr>
          <p:cNvPr id="19" name="Shape 17"/>
          <p:cNvSpPr/>
          <p:nvPr/>
        </p:nvSpPr>
        <p:spPr>
          <a:xfrm>
            <a:off x="6812280" y="2788920"/>
            <a:ext cx="411480" cy="0"/>
          </a:xfrm>
          <a:prstGeom prst="line">
            <a:avLst/>
          </a:prstGeom>
          <a:noFill/>
          <a:ln w="25400">
            <a:solidFill>
              <a:srgbClr val="00A6A6"/>
            </a:solidFill>
            <a:prstDash val="solid"/>
            <a:headEnd type="none"/>
            <a:tailEnd type="triangle"/>
          </a:ln>
        </p:spPr>
        <p:txBody>
          <a:bodyPr/>
          <a:lstStyle/>
          <a:p>
            <a:endParaRPr/>
          </a:p>
        </p:txBody>
      </p:sp>
      <p:sp>
        <p:nvSpPr>
          <p:cNvPr id="20" name="Shape 18"/>
          <p:cNvSpPr/>
          <p:nvPr/>
        </p:nvSpPr>
        <p:spPr>
          <a:xfrm>
            <a:off x="7269480" y="1874520"/>
            <a:ext cx="1691640" cy="1828800"/>
          </a:xfrm>
          <a:prstGeom prst="roundRect">
            <a:avLst>
              <a:gd name="adj" fmla="val 5405"/>
            </a:avLst>
          </a:prstGeom>
          <a:solidFill>
            <a:srgbClr val="F8FAFC"/>
          </a:solidFill>
          <a:ln w="12700">
            <a:solidFill>
              <a:srgbClr val="D1D5DB"/>
            </a:solidFill>
            <a:prstDash val="solid"/>
          </a:ln>
        </p:spPr>
        <p:txBody>
          <a:bodyPr/>
          <a:lstStyle/>
          <a:p>
            <a:endParaRPr/>
          </a:p>
        </p:txBody>
      </p:sp>
      <p:sp>
        <p:nvSpPr>
          <p:cNvPr id="21" name="Text 19"/>
          <p:cNvSpPr/>
          <p:nvPr/>
        </p:nvSpPr>
        <p:spPr>
          <a:xfrm>
            <a:off x="7434072" y="2011680"/>
            <a:ext cx="347472" cy="256032"/>
          </a:xfrm>
          <a:prstGeom prst="rect">
            <a:avLst/>
          </a:prstGeom>
          <a:solidFill>
            <a:srgbClr val="1E5AA8"/>
          </a:solid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2" name="Text 20"/>
          <p:cNvSpPr/>
          <p:nvPr/>
        </p:nvSpPr>
        <p:spPr>
          <a:xfrm>
            <a:off x="7434072" y="2377440"/>
            <a:ext cx="1371600" cy="292608"/>
          </a:xfrm>
          <a:prstGeom prst="rect">
            <a:avLst/>
          </a:prstGeom>
          <a:noFill/>
          <a:ln/>
        </p:spPr>
        <p:txBody>
          <a:bodyPr wrap="square" lIns="0" tIns="0" rIns="0" bIns="0" rtlCol="0" anchor="ctr">
            <a:normAutofit/>
          </a:bodyPr>
          <a:lstStyle/>
          <a:p>
            <a:pPr marL="0" indent="0">
              <a:buNone/>
            </a:pPr>
            <a:r>
              <a:rPr lang="en-US" sz="1300" b="1" dirty="0">
                <a:solidFill>
                  <a:srgbClr val="0B1F3A"/>
                </a:solidFill>
                <a:latin typeface="Aptos Display" pitchFamily="34" charset="0"/>
                <a:ea typeface="Aptos Display" pitchFamily="34" charset="-122"/>
                <a:cs typeface="Aptos Display" pitchFamily="34" charset="-120"/>
              </a:rPr>
              <a:t>Level 2 scenarios</a:t>
            </a:r>
            <a:endParaRPr lang="en-US" sz="1300" dirty="0"/>
          </a:p>
        </p:txBody>
      </p:sp>
      <p:sp>
        <p:nvSpPr>
          <p:cNvPr id="23" name="Text 21"/>
          <p:cNvSpPr/>
          <p:nvPr/>
        </p:nvSpPr>
        <p:spPr>
          <a:xfrm>
            <a:off x="7434072" y="2807208"/>
            <a:ext cx="1353312" cy="685800"/>
          </a:xfrm>
          <a:prstGeom prst="rect">
            <a:avLst/>
          </a:prstGeom>
          <a:noFill/>
          <a:ln/>
        </p:spPr>
        <p:txBody>
          <a:bodyPr wrap="square" lIns="127" tIns="127" rIns="127" bIns="127" rtlCol="0" anchor="ctr">
            <a:normAutofit/>
          </a:bodyPr>
          <a:lstStyle/>
          <a:p>
            <a:pPr marL="0" indent="0">
              <a:buNone/>
            </a:pPr>
            <a:r>
              <a:rPr lang="en-US" sz="1070" dirty="0">
                <a:solidFill>
                  <a:srgbClr val="4B5563"/>
                </a:solidFill>
                <a:latin typeface="Aptos" pitchFamily="34" charset="0"/>
                <a:ea typeface="Aptos" pitchFamily="34" charset="-122"/>
                <a:cs typeface="Aptos" pitchFamily="34" charset="-120"/>
              </a:rPr>
              <a:t>7.2, 11.5, and</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19.2 kW across</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8, 10, and 12 hours</a:t>
            </a:r>
            <a:endParaRPr lang="en-US" sz="1070" dirty="0"/>
          </a:p>
        </p:txBody>
      </p:sp>
      <p:sp>
        <p:nvSpPr>
          <p:cNvPr id="24" name="Shape 22"/>
          <p:cNvSpPr/>
          <p:nvPr/>
        </p:nvSpPr>
        <p:spPr>
          <a:xfrm>
            <a:off x="9006840" y="2788920"/>
            <a:ext cx="411480" cy="0"/>
          </a:xfrm>
          <a:prstGeom prst="line">
            <a:avLst/>
          </a:prstGeom>
          <a:noFill/>
          <a:ln w="25400">
            <a:solidFill>
              <a:srgbClr val="00A6A6"/>
            </a:solidFill>
            <a:prstDash val="solid"/>
            <a:headEnd type="none"/>
            <a:tailEnd type="triangle"/>
          </a:ln>
        </p:spPr>
        <p:txBody>
          <a:bodyPr/>
          <a:lstStyle/>
          <a:p>
            <a:endParaRPr/>
          </a:p>
        </p:txBody>
      </p:sp>
      <p:sp>
        <p:nvSpPr>
          <p:cNvPr id="25" name="Shape 23"/>
          <p:cNvSpPr/>
          <p:nvPr/>
        </p:nvSpPr>
        <p:spPr>
          <a:xfrm>
            <a:off x="9464040" y="1874520"/>
            <a:ext cx="1691640" cy="1828800"/>
          </a:xfrm>
          <a:prstGeom prst="roundRect">
            <a:avLst>
              <a:gd name="adj" fmla="val 5405"/>
            </a:avLst>
          </a:prstGeom>
          <a:solidFill>
            <a:srgbClr val="FFFFFF"/>
          </a:solidFill>
          <a:ln w="12700">
            <a:solidFill>
              <a:srgbClr val="D1D5DB"/>
            </a:solidFill>
            <a:prstDash val="solid"/>
          </a:ln>
        </p:spPr>
        <p:txBody>
          <a:bodyPr/>
          <a:lstStyle/>
          <a:p>
            <a:endParaRPr/>
          </a:p>
        </p:txBody>
      </p:sp>
      <p:sp>
        <p:nvSpPr>
          <p:cNvPr id="26" name="Text 24"/>
          <p:cNvSpPr/>
          <p:nvPr/>
        </p:nvSpPr>
        <p:spPr>
          <a:xfrm>
            <a:off x="9628632" y="2011680"/>
            <a:ext cx="347472" cy="256032"/>
          </a:xfrm>
          <a:prstGeom prst="rect">
            <a:avLst/>
          </a:prstGeom>
          <a:solidFill>
            <a:srgbClr val="1E5AA8"/>
          </a:solid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7" name="Text 25"/>
          <p:cNvSpPr/>
          <p:nvPr/>
        </p:nvSpPr>
        <p:spPr>
          <a:xfrm>
            <a:off x="9628632" y="2377440"/>
            <a:ext cx="1371600" cy="292608"/>
          </a:xfrm>
          <a:prstGeom prst="rect">
            <a:avLst/>
          </a:prstGeom>
          <a:noFill/>
          <a:ln/>
        </p:spPr>
        <p:txBody>
          <a:bodyPr wrap="square" lIns="0" tIns="0" rIns="0" bIns="0" rtlCol="0" anchor="ctr">
            <a:normAutofit/>
          </a:bodyPr>
          <a:lstStyle/>
          <a:p>
            <a:pPr marL="0" indent="0">
              <a:buNone/>
            </a:pPr>
            <a:r>
              <a:rPr lang="en-US" sz="1300" b="1" dirty="0">
                <a:solidFill>
                  <a:srgbClr val="0B1F3A"/>
                </a:solidFill>
                <a:latin typeface="Aptos Display" pitchFamily="34" charset="0"/>
                <a:ea typeface="Aptos Display" pitchFamily="34" charset="-122"/>
                <a:cs typeface="Aptos Display" pitchFamily="34" charset="-120"/>
              </a:rPr>
              <a:t>Cost range</a:t>
            </a:r>
            <a:endParaRPr lang="en-US" sz="1300" dirty="0"/>
          </a:p>
        </p:txBody>
      </p:sp>
      <p:sp>
        <p:nvSpPr>
          <p:cNvPr id="28" name="Text 26"/>
          <p:cNvSpPr/>
          <p:nvPr/>
        </p:nvSpPr>
        <p:spPr>
          <a:xfrm>
            <a:off x="9628632" y="2807208"/>
            <a:ext cx="1353312" cy="685800"/>
          </a:xfrm>
          <a:prstGeom prst="rect">
            <a:avLst/>
          </a:prstGeom>
          <a:noFill/>
          <a:ln/>
        </p:spPr>
        <p:txBody>
          <a:bodyPr wrap="square" lIns="127" tIns="127" rIns="127" bIns="127" rtlCol="0" anchor="ctr">
            <a:normAutofit/>
          </a:bodyPr>
          <a:lstStyle/>
          <a:p>
            <a:pPr marL="0" indent="0">
              <a:buNone/>
            </a:pPr>
            <a:r>
              <a:rPr lang="en-US" sz="1070" dirty="0">
                <a:solidFill>
                  <a:srgbClr val="4B5563"/>
                </a:solidFill>
                <a:latin typeface="Aptos" pitchFamily="34" charset="0"/>
                <a:ea typeface="Aptos" pitchFamily="34" charset="-122"/>
                <a:cs typeface="Aptos" pitchFamily="34" charset="-120"/>
              </a:rPr>
              <a:t>Low, typical, and</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high equipment +</a:t>
            </a:r>
            <a:endParaRPr lang="en-US" sz="1070" dirty="0"/>
          </a:p>
          <a:p>
            <a:pPr marL="0" indent="0">
              <a:buNone/>
            </a:pPr>
            <a:r>
              <a:rPr lang="en-US" sz="1070" dirty="0">
                <a:solidFill>
                  <a:srgbClr val="4B5563"/>
                </a:solidFill>
                <a:latin typeface="Aptos" pitchFamily="34" charset="0"/>
                <a:ea typeface="Aptos" pitchFamily="34" charset="-122"/>
                <a:cs typeface="Aptos" pitchFamily="34" charset="-120"/>
              </a:rPr>
              <a:t>installation estimates</a:t>
            </a:r>
            <a:endParaRPr lang="en-US" sz="1070" dirty="0"/>
          </a:p>
        </p:txBody>
      </p:sp>
      <p:sp>
        <p:nvSpPr>
          <p:cNvPr id="29" name="Shape 27"/>
          <p:cNvSpPr/>
          <p:nvPr/>
        </p:nvSpPr>
        <p:spPr>
          <a:xfrm>
            <a:off x="1005840" y="4315968"/>
            <a:ext cx="4892040" cy="1024128"/>
          </a:xfrm>
          <a:prstGeom prst="roundRect">
            <a:avLst>
              <a:gd name="adj" fmla="val 9821"/>
            </a:avLst>
          </a:prstGeom>
          <a:solidFill>
            <a:srgbClr val="FFFFFF"/>
          </a:solidFill>
          <a:ln w="12700">
            <a:solidFill>
              <a:srgbClr val="D1D5DB"/>
            </a:solidFill>
            <a:prstDash val="solid"/>
          </a:ln>
        </p:spPr>
        <p:txBody>
          <a:bodyPr/>
          <a:lstStyle/>
          <a:p>
            <a:endParaRPr/>
          </a:p>
        </p:txBody>
      </p:sp>
      <p:sp>
        <p:nvSpPr>
          <p:cNvPr id="30" name="Shape 28"/>
          <p:cNvSpPr/>
          <p:nvPr/>
        </p:nvSpPr>
        <p:spPr>
          <a:xfrm>
            <a:off x="1005840" y="4315968"/>
            <a:ext cx="118872" cy="1024128"/>
          </a:xfrm>
          <a:prstGeom prst="rect">
            <a:avLst/>
          </a:prstGeom>
          <a:solidFill>
            <a:srgbClr val="00A6A6"/>
          </a:solidFill>
          <a:ln w="12700">
            <a:solidFill>
              <a:srgbClr val="00A6A6">
                <a:alpha val="0"/>
              </a:srgbClr>
            </a:solidFill>
            <a:prstDash val="solid"/>
          </a:ln>
        </p:spPr>
        <p:txBody>
          <a:bodyPr/>
          <a:lstStyle/>
          <a:p>
            <a:endParaRPr/>
          </a:p>
        </p:txBody>
      </p:sp>
      <p:sp>
        <p:nvSpPr>
          <p:cNvPr id="31" name="Text 29"/>
          <p:cNvSpPr/>
          <p:nvPr/>
        </p:nvSpPr>
        <p:spPr>
          <a:xfrm>
            <a:off x="1280160" y="4480560"/>
            <a:ext cx="4434840" cy="228600"/>
          </a:xfrm>
          <a:prstGeom prst="rect">
            <a:avLst/>
          </a:prstGeom>
          <a:noFill/>
          <a:ln/>
        </p:spPr>
        <p:txBody>
          <a:bodyPr wrap="square" lIns="0" tIns="0" rIns="0" bIns="0" rtlCol="0" anchor="ctr"/>
          <a:lstStyle/>
          <a:p>
            <a:pPr marL="0" indent="0" algn="l">
              <a:buNone/>
            </a:pPr>
            <a:r>
              <a:rPr sz="1100" dirty="0">
                <a:solidFill>
                  <a:srgbClr val="0F233D"/>
                </a:solidFill>
                <a:latin typeface="Aptos"/>
              </a:rPr>
              <a:t>Audience question: What does screening-feasible mean?</a:t>
            </a:r>
            <a:endParaRPr lang="en-US" sz="1100" dirty="0"/>
          </a:p>
        </p:txBody>
      </p:sp>
      <p:sp>
        <p:nvSpPr>
          <p:cNvPr id="32" name="Text 30"/>
          <p:cNvSpPr/>
          <p:nvPr/>
        </p:nvSpPr>
        <p:spPr>
          <a:xfrm>
            <a:off x="1280160" y="4818888"/>
            <a:ext cx="4434840" cy="402336"/>
          </a:xfrm>
          <a:prstGeom prst="rect">
            <a:avLst/>
          </a:prstGeom>
          <a:noFill/>
          <a:ln/>
        </p:spPr>
        <p:txBody>
          <a:bodyPr wrap="square" lIns="254" tIns="254" rIns="254" bIns="254" rtlCol="0" anchor="t">
            <a:normAutofit/>
          </a:bodyPr>
          <a:lstStyle/>
          <a:p>
            <a:pPr marL="0" indent="0" algn="l">
              <a:buNone/>
            </a:pPr>
            <a:r>
              <a:rPr sz="1100" dirty="0">
                <a:solidFill>
                  <a:srgbClr val="0F233D"/>
                </a:solidFill>
                <a:latin typeface="Aptos"/>
              </a:rPr>
              <a:t>It means aggregate energy, highest-demand vehicle, and port-count checks all pass. It does not prove the site is buildable.</a:t>
            </a:r>
            <a:endParaRPr lang="en-US" sz="1100" dirty="0"/>
          </a:p>
        </p:txBody>
      </p:sp>
      <p:sp>
        <p:nvSpPr>
          <p:cNvPr id="33" name="Shape 31"/>
          <p:cNvSpPr/>
          <p:nvPr/>
        </p:nvSpPr>
        <p:spPr>
          <a:xfrm>
            <a:off x="6400800" y="4315967"/>
            <a:ext cx="4892040" cy="1097273"/>
          </a:xfrm>
          <a:prstGeom prst="roundRect">
            <a:avLst>
              <a:gd name="adj" fmla="val 9821"/>
            </a:avLst>
          </a:prstGeom>
          <a:solidFill>
            <a:srgbClr val="FFFFFF"/>
          </a:solidFill>
          <a:ln w="12700">
            <a:solidFill>
              <a:srgbClr val="D1D5DB"/>
            </a:solidFill>
            <a:prstDash val="solid"/>
          </a:ln>
        </p:spPr>
        <p:txBody>
          <a:bodyPr/>
          <a:lstStyle/>
          <a:p>
            <a:endParaRPr/>
          </a:p>
        </p:txBody>
      </p:sp>
      <p:sp>
        <p:nvSpPr>
          <p:cNvPr id="34" name="Shape 32"/>
          <p:cNvSpPr/>
          <p:nvPr/>
        </p:nvSpPr>
        <p:spPr>
          <a:xfrm>
            <a:off x="6400800" y="4315968"/>
            <a:ext cx="50242" cy="1059900"/>
          </a:xfrm>
          <a:prstGeom prst="rect">
            <a:avLst/>
          </a:prstGeom>
          <a:solidFill>
            <a:srgbClr val="1E5AA8"/>
          </a:solidFill>
          <a:ln w="12700">
            <a:solidFill>
              <a:srgbClr val="1E5AA8">
                <a:alpha val="0"/>
              </a:srgbClr>
            </a:solidFill>
            <a:prstDash val="solid"/>
          </a:ln>
        </p:spPr>
        <p:txBody>
          <a:bodyPr/>
          <a:lstStyle/>
          <a:p>
            <a:endParaRPr/>
          </a:p>
        </p:txBody>
      </p:sp>
      <p:sp>
        <p:nvSpPr>
          <p:cNvPr id="35" name="Text 33"/>
          <p:cNvSpPr/>
          <p:nvPr/>
        </p:nvSpPr>
        <p:spPr>
          <a:xfrm>
            <a:off x="6675120" y="4480560"/>
            <a:ext cx="4434840" cy="228600"/>
          </a:xfrm>
          <a:prstGeom prst="rect">
            <a:avLst/>
          </a:prstGeom>
          <a:noFill/>
          <a:ln/>
        </p:spPr>
        <p:txBody>
          <a:bodyPr wrap="square" lIns="0" tIns="0" rIns="0" bIns="0" rtlCol="0" anchor="ctr"/>
          <a:lstStyle/>
          <a:p>
            <a:pPr marL="0" indent="0" algn="l">
              <a:buNone/>
            </a:pPr>
            <a:r>
              <a:rPr sz="1100" dirty="0">
                <a:solidFill>
                  <a:srgbClr val="0F233D"/>
                </a:solidFill>
                <a:latin typeface="Aptos"/>
              </a:rPr>
              <a:t>Audience question: Why scenarios instead of prediction?</a:t>
            </a:r>
            <a:endParaRPr lang="en-US" sz="1100" dirty="0"/>
          </a:p>
        </p:txBody>
      </p:sp>
      <p:sp>
        <p:nvSpPr>
          <p:cNvPr id="36" name="Text 34"/>
          <p:cNvSpPr/>
          <p:nvPr/>
        </p:nvSpPr>
        <p:spPr>
          <a:xfrm>
            <a:off x="6675120" y="4734984"/>
            <a:ext cx="4434840" cy="402336"/>
          </a:xfrm>
          <a:prstGeom prst="rect">
            <a:avLst/>
          </a:prstGeom>
          <a:noFill/>
          <a:ln/>
        </p:spPr>
        <p:txBody>
          <a:bodyPr wrap="square" lIns="254" tIns="254" rIns="254" bIns="254" rtlCol="0" anchor="t">
            <a:normAutofit fontScale="92500"/>
          </a:bodyPr>
          <a:lstStyle/>
          <a:p>
            <a:pPr marL="0" indent="0">
              <a:buNone/>
            </a:pPr>
            <a:r>
              <a:rPr lang="en-US" sz="1240" dirty="0">
                <a:solidFill>
                  <a:srgbClr val="4B5563"/>
                </a:solidFill>
                <a:latin typeface="Aptos" pitchFamily="34" charset="0"/>
                <a:ea typeface="Aptos" pitchFamily="34" charset="-122"/>
                <a:cs typeface="Aptos" pitchFamily="34" charset="-120"/>
              </a:rPr>
              <a:t>The data do not include observed charger count, final installed cost, or project success. The model keeps assumptions visible and auditable.</a:t>
            </a:r>
            <a:endParaRPr lang="en-US" sz="1240" dirty="0"/>
          </a:p>
        </p:txBody>
      </p:sp>
      <p:sp>
        <p:nvSpPr>
          <p:cNvPr id="37" name="Text 35"/>
          <p:cNvSpPr/>
          <p:nvPr/>
        </p:nvSpPr>
        <p:spPr>
          <a:xfrm>
            <a:off x="566928" y="6199632"/>
            <a:ext cx="10698480" cy="201168"/>
          </a:xfrm>
          <a:prstGeom prst="rect">
            <a:avLst/>
          </a:prstGeom>
          <a:noFill/>
          <a:ln/>
        </p:spPr>
        <p:txBody>
          <a:bodyPr wrap="square" lIns="0" tIns="0" rIns="0" bIns="0" rtlCol="0" anchor="ctr"/>
          <a:lstStyle/>
          <a:p>
            <a:endParaRPr/>
          </a:p>
        </p:txBody>
      </p:sp>
      <p:sp>
        <p:nvSpPr>
          <p:cNvPr id="38" name="Text 36"/>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39" name="Text 37"/>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10789920" cy="457200"/>
          </a:xfrm>
          <a:prstGeom prst="rect">
            <a:avLst/>
          </a:prstGeom>
          <a:noFill/>
          <a:ln/>
        </p:spPr>
        <p:txBody>
          <a:bodyPr wrap="square" lIns="0" tIns="0" rIns="0" bIns="0" rtlCol="0" anchor="ct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Finding 1: fleet size alone is not enough</a:t>
            </a:r>
            <a:endParaRPr lang="en-US" sz="3000" dirty="0"/>
          </a:p>
        </p:txBody>
      </p:sp>
      <p:sp>
        <p:nvSpPr>
          <p:cNvPr id="3" name="Text 1"/>
          <p:cNvSpPr/>
          <p:nvPr/>
        </p:nvSpPr>
        <p:spPr>
          <a:xfrm>
            <a:off x="566928" y="850392"/>
            <a:ext cx="10881360" cy="292608"/>
          </a:xfrm>
          <a:prstGeom prst="rect">
            <a:avLst/>
          </a:prstGeom>
          <a:noFill/>
          <a:ln/>
        </p:spPr>
        <p:txBody>
          <a:bodyPr wrap="square" lIns="0" tIns="0" rIns="0" bIns="0" rtlCol="0" anchor="ctr"/>
          <a:lstStyle/>
          <a:p>
            <a:pPr marL="0" indent="0">
              <a:buNone/>
            </a:pPr>
            <a:r>
              <a:rPr lang="en-US" sz="1600" dirty="0">
                <a:solidFill>
                  <a:srgbClr val="4B5563"/>
                </a:solidFill>
                <a:latin typeface="Aptos" pitchFamily="34" charset="0"/>
                <a:ea typeface="Aptos" pitchFamily="34" charset="-122"/>
                <a:cs typeface="Aptos" pitchFamily="34" charset="-120"/>
              </a:rPr>
              <a:t>Similar fleet sizes can create very different charging needs.</a:t>
            </a:r>
            <a:endParaRPr lang="en-US" sz="1600" dirty="0"/>
          </a:p>
        </p:txBody>
      </p:sp>
      <p:sp>
        <p:nvSpPr>
          <p:cNvPr id="4" name="Shape 2"/>
          <p:cNvSpPr/>
          <p:nvPr/>
        </p:nvSpPr>
        <p:spPr>
          <a:xfrm>
            <a:off x="548640" y="1207008"/>
            <a:ext cx="11064240" cy="0"/>
          </a:xfrm>
          <a:prstGeom prst="line">
            <a:avLst/>
          </a:prstGeom>
          <a:noFill/>
          <a:ln w="25400">
            <a:solidFill>
              <a:srgbClr val="DBEAFE"/>
            </a:solidFill>
            <a:prstDash val="solid"/>
          </a:ln>
        </p:spPr>
        <p:txBody>
          <a:bodyPr/>
          <a:lstStyle/>
          <a:p>
            <a:endParaRPr/>
          </a:p>
        </p:txBody>
      </p:sp>
      <p:pic>
        <p:nvPicPr>
          <p:cNvPr id="5" name="Image 0" descr="/mnt/data/dsc680_milestone3_assets/figure2_fleet_size_energy.png"/>
          <p:cNvPicPr>
            <a:picLocks noChangeAspect="1"/>
          </p:cNvPicPr>
          <p:nvPr/>
        </p:nvPicPr>
        <p:blipFill>
          <a:blip r:embed="rId3"/>
          <a:stretch>
            <a:fillRect/>
          </a:stretch>
        </p:blipFill>
        <p:spPr>
          <a:xfrm>
            <a:off x="502920" y="1939520"/>
            <a:ext cx="7543800" cy="3344721"/>
          </a:xfrm>
          <a:prstGeom prst="rect">
            <a:avLst/>
          </a:prstGeom>
        </p:spPr>
      </p:pic>
      <p:sp>
        <p:nvSpPr>
          <p:cNvPr id="6" name="Shape 3"/>
          <p:cNvSpPr/>
          <p:nvPr/>
        </p:nvSpPr>
        <p:spPr>
          <a:xfrm>
            <a:off x="8366760" y="1572768"/>
            <a:ext cx="3063240" cy="1508760"/>
          </a:xfrm>
          <a:prstGeom prst="roundRect">
            <a:avLst>
              <a:gd name="adj" fmla="val 6667"/>
            </a:avLst>
          </a:prstGeom>
          <a:solidFill>
            <a:srgbClr val="FFFFFF"/>
          </a:solidFill>
          <a:ln w="12700">
            <a:solidFill>
              <a:srgbClr val="D1D5DB"/>
            </a:solidFill>
            <a:prstDash val="solid"/>
          </a:ln>
        </p:spPr>
        <p:txBody>
          <a:bodyPr/>
          <a:lstStyle/>
          <a:p>
            <a:endParaRPr/>
          </a:p>
        </p:txBody>
      </p:sp>
      <p:sp>
        <p:nvSpPr>
          <p:cNvPr id="7" name="Shape 4"/>
          <p:cNvSpPr/>
          <p:nvPr/>
        </p:nvSpPr>
        <p:spPr>
          <a:xfrm>
            <a:off x="8366760" y="1572768"/>
            <a:ext cx="118872" cy="1508760"/>
          </a:xfrm>
          <a:prstGeom prst="rect">
            <a:avLst/>
          </a:prstGeom>
          <a:solidFill>
            <a:srgbClr val="1E5AA8"/>
          </a:solidFill>
          <a:ln w="12700">
            <a:solidFill>
              <a:srgbClr val="1E5AA8">
                <a:alpha val="0"/>
              </a:srgbClr>
            </a:solidFill>
            <a:prstDash val="solid"/>
          </a:ln>
        </p:spPr>
        <p:txBody>
          <a:bodyPr/>
          <a:lstStyle/>
          <a:p>
            <a:endParaRPr/>
          </a:p>
        </p:txBody>
      </p:sp>
      <p:sp>
        <p:nvSpPr>
          <p:cNvPr id="8" name="Text 5"/>
          <p:cNvSpPr/>
          <p:nvPr/>
        </p:nvSpPr>
        <p:spPr>
          <a:xfrm>
            <a:off x="8641080" y="1737360"/>
            <a:ext cx="2606040" cy="228600"/>
          </a:xfrm>
          <a:prstGeom prst="rect">
            <a:avLst/>
          </a:prstGeom>
          <a:noFill/>
          <a:ln/>
        </p:spPr>
        <p:txBody>
          <a:bodyPr wrap="square" lIns="0" tIns="0" rIns="0" bIns="0" rtlCol="0" anchor="ctr"/>
          <a:lstStyle/>
          <a:p>
            <a:pPr marL="0" indent="0" algn="l">
              <a:buNone/>
            </a:pPr>
            <a:r>
              <a:rPr sz="1000" dirty="0">
                <a:solidFill>
                  <a:srgbClr val="0F233D"/>
                </a:solidFill>
                <a:latin typeface="Aptos"/>
              </a:rPr>
              <a:t>Audience question</a:t>
            </a:r>
            <a:endParaRPr lang="en-US" sz="1450" dirty="0"/>
          </a:p>
        </p:txBody>
      </p:sp>
      <p:sp>
        <p:nvSpPr>
          <p:cNvPr id="9" name="Text 6"/>
          <p:cNvSpPr/>
          <p:nvPr/>
        </p:nvSpPr>
        <p:spPr>
          <a:xfrm>
            <a:off x="8641080" y="2075688"/>
            <a:ext cx="2606040" cy="886968"/>
          </a:xfrm>
          <a:prstGeom prst="rect">
            <a:avLst/>
          </a:prstGeom>
          <a:noFill/>
          <a:ln/>
        </p:spPr>
        <p:txBody>
          <a:bodyPr wrap="square" lIns="254" tIns="254" rIns="254" bIns="254" rtlCol="0" anchor="t">
            <a:normAutofit/>
          </a:bodyPr>
          <a:lstStyle/>
          <a:p>
            <a:pPr marL="0" indent="0" algn="l">
              <a:buNone/>
            </a:pPr>
            <a:r>
              <a:rPr sz="1200" dirty="0">
                <a:solidFill>
                  <a:srgbClr val="0F233D"/>
                </a:solidFill>
                <a:latin typeface="Aptos"/>
              </a:rPr>
              <a:t>Can fleet size alone budget chargers? No. Vehicle count is only a starting point because mileage, class, and duty cycle change daily energy demand.</a:t>
            </a:r>
            <a:endParaRPr lang="en-US" sz="1200" dirty="0"/>
          </a:p>
        </p:txBody>
      </p:sp>
      <p:sp>
        <p:nvSpPr>
          <p:cNvPr id="10" name="Shape 7"/>
          <p:cNvSpPr/>
          <p:nvPr/>
        </p:nvSpPr>
        <p:spPr>
          <a:xfrm>
            <a:off x="8366760" y="3429000"/>
            <a:ext cx="3063240" cy="1508760"/>
          </a:xfrm>
          <a:prstGeom prst="roundRect">
            <a:avLst>
              <a:gd name="adj" fmla="val 6667"/>
            </a:avLst>
          </a:prstGeom>
          <a:solidFill>
            <a:srgbClr val="FFFFFF"/>
          </a:solidFill>
          <a:ln w="12700">
            <a:solidFill>
              <a:srgbClr val="D1D5DB"/>
            </a:solidFill>
            <a:prstDash val="solid"/>
          </a:ln>
        </p:spPr>
        <p:txBody>
          <a:bodyPr/>
          <a:lstStyle/>
          <a:p>
            <a:endParaRPr dirty="0"/>
          </a:p>
        </p:txBody>
      </p:sp>
      <p:sp>
        <p:nvSpPr>
          <p:cNvPr id="11" name="Shape 8"/>
          <p:cNvSpPr/>
          <p:nvPr/>
        </p:nvSpPr>
        <p:spPr>
          <a:xfrm>
            <a:off x="8366760" y="3429000"/>
            <a:ext cx="118872" cy="1508760"/>
          </a:xfrm>
          <a:prstGeom prst="rect">
            <a:avLst/>
          </a:prstGeom>
          <a:solidFill>
            <a:srgbClr val="00A6A6"/>
          </a:solidFill>
          <a:ln w="12700">
            <a:solidFill>
              <a:srgbClr val="00A6A6">
                <a:alpha val="0"/>
              </a:srgbClr>
            </a:solidFill>
            <a:prstDash val="solid"/>
          </a:ln>
        </p:spPr>
        <p:txBody>
          <a:bodyPr/>
          <a:lstStyle/>
          <a:p>
            <a:endParaRPr/>
          </a:p>
        </p:txBody>
      </p:sp>
      <p:sp>
        <p:nvSpPr>
          <p:cNvPr id="12" name="Text 9"/>
          <p:cNvSpPr/>
          <p:nvPr/>
        </p:nvSpPr>
        <p:spPr>
          <a:xfrm>
            <a:off x="8641080" y="3593592"/>
            <a:ext cx="2606040" cy="228600"/>
          </a:xfrm>
          <a:prstGeom prst="rect">
            <a:avLst/>
          </a:prstGeom>
          <a:noFill/>
          <a:ln/>
        </p:spPr>
        <p:txBody>
          <a:bodyPr wrap="square" lIns="0" tIns="0" rIns="0" bIns="0" rtlCol="0" anchor="ctr"/>
          <a:lstStyle/>
          <a:p>
            <a:pPr marL="0" indent="0" algn="l">
              <a:buNone/>
            </a:pPr>
            <a:r>
              <a:rPr lang="en-US" sz="1000" dirty="0">
                <a:solidFill>
                  <a:srgbClr val="0F233D"/>
                </a:solidFill>
                <a:latin typeface="Aptos"/>
              </a:rPr>
              <a:t>Audience question</a:t>
            </a:r>
            <a:endParaRPr lang="en-US" sz="1450" dirty="0"/>
          </a:p>
        </p:txBody>
      </p:sp>
      <p:sp>
        <p:nvSpPr>
          <p:cNvPr id="13" name="Text 10"/>
          <p:cNvSpPr/>
          <p:nvPr/>
        </p:nvSpPr>
        <p:spPr>
          <a:xfrm>
            <a:off x="8641080" y="3931920"/>
            <a:ext cx="2606040" cy="886968"/>
          </a:xfrm>
          <a:prstGeom prst="rect">
            <a:avLst/>
          </a:prstGeom>
          <a:noFill/>
          <a:ln/>
        </p:spPr>
        <p:txBody>
          <a:bodyPr wrap="square" lIns="254" tIns="254" rIns="254" bIns="254" rtlCol="0" anchor="t">
            <a:normAutofit/>
          </a:bodyPr>
          <a:lstStyle/>
          <a:p>
            <a:r>
              <a:rPr lang="en-US" sz="1100" dirty="0"/>
              <a:t>What should fleet planners use instead of fleet size alone?</a:t>
            </a:r>
            <a:endParaRPr lang="en-US" sz="1100" dirty="0">
              <a:solidFill>
                <a:srgbClr val="0F233D"/>
              </a:solidFill>
              <a:latin typeface="Aptos"/>
            </a:endParaRPr>
          </a:p>
          <a:p>
            <a:pPr marL="0" indent="0" algn="l">
              <a:buNone/>
            </a:pPr>
            <a:r>
              <a:rPr sz="1100" dirty="0">
                <a:solidFill>
                  <a:srgbClr val="0F233D"/>
                </a:solidFill>
                <a:latin typeface="Aptos"/>
              </a:rPr>
              <a:t>Use operating data before budgeting chargers. Similar-sized depots can land in very different cost and feasibility ranges.</a:t>
            </a:r>
            <a:endParaRPr lang="en-US" sz="1100" dirty="0"/>
          </a:p>
        </p:txBody>
      </p:sp>
      <p:sp>
        <p:nvSpPr>
          <p:cNvPr id="14" name="Text 11"/>
          <p:cNvSpPr/>
          <p:nvPr/>
        </p:nvSpPr>
        <p:spPr>
          <a:xfrm>
            <a:off x="566928" y="6016752"/>
            <a:ext cx="10698480" cy="201168"/>
          </a:xfrm>
          <a:prstGeom prst="rect">
            <a:avLst/>
          </a:prstGeom>
          <a:noFill/>
          <a:ln/>
        </p:spPr>
        <p:txBody>
          <a:bodyPr wrap="square" lIns="0" tIns="0" rIns="0" bIns="0" rtlCol="0" anchor="ctr"/>
          <a:lstStyle/>
          <a:p>
            <a:r>
              <a:rPr sz="1200" dirty="0"/>
              <a:t>Figure 2: Fleet Size Alone Does Not Determine Planning Energy.</a:t>
            </a:r>
          </a:p>
        </p:txBody>
      </p:sp>
      <p:sp>
        <p:nvSpPr>
          <p:cNvPr id="15" name="Text 12"/>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16" name="Text 13"/>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10789920" cy="457200"/>
          </a:xfrm>
          <a:prstGeom prst="rect">
            <a:avLst/>
          </a:prstGeom>
          <a:noFill/>
          <a:ln/>
        </p:spPr>
        <p:txBody>
          <a:bodyPr wrap="square" lIns="0" tIns="0" rIns="0" bIns="0" rtlCol="0" anchor="ct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Finding 2: charger power drives feasibility</a:t>
            </a:r>
            <a:endParaRPr lang="en-US" sz="3000" dirty="0"/>
          </a:p>
        </p:txBody>
      </p:sp>
      <p:sp>
        <p:nvSpPr>
          <p:cNvPr id="3" name="Text 1"/>
          <p:cNvSpPr/>
          <p:nvPr/>
        </p:nvSpPr>
        <p:spPr>
          <a:xfrm>
            <a:off x="566928" y="850392"/>
            <a:ext cx="10881360" cy="292608"/>
          </a:xfrm>
          <a:prstGeom prst="rect">
            <a:avLst/>
          </a:prstGeom>
          <a:noFill/>
          <a:ln/>
        </p:spPr>
        <p:txBody>
          <a:bodyPr wrap="square" lIns="0" tIns="0" rIns="0" bIns="0" rtlCol="0" anchor="ctr"/>
          <a:lstStyle/>
          <a:p>
            <a:pPr marL="0" indent="0" algn="l">
              <a:buNone/>
            </a:pPr>
            <a:r>
              <a:rPr sz="1100" dirty="0">
                <a:solidFill>
                  <a:srgbClr val="0F233D"/>
                </a:solidFill>
                <a:latin typeface="Aptos"/>
              </a:rPr>
              <a:t>Audience question: Would longer windows solve constrained cases? They help, but higher Level 2 power mattered more in this range.</a:t>
            </a:r>
            <a:endParaRPr lang="en-US" sz="1100" dirty="0"/>
          </a:p>
        </p:txBody>
      </p:sp>
      <p:sp>
        <p:nvSpPr>
          <p:cNvPr id="4" name="Shape 2"/>
          <p:cNvSpPr/>
          <p:nvPr/>
        </p:nvSpPr>
        <p:spPr>
          <a:xfrm>
            <a:off x="548640" y="1207008"/>
            <a:ext cx="11064240" cy="0"/>
          </a:xfrm>
          <a:prstGeom prst="line">
            <a:avLst/>
          </a:prstGeom>
          <a:noFill/>
          <a:ln w="25400">
            <a:solidFill>
              <a:srgbClr val="DBEAFE"/>
            </a:solidFill>
            <a:prstDash val="solid"/>
          </a:ln>
        </p:spPr>
        <p:txBody>
          <a:bodyPr/>
          <a:lstStyle/>
          <a:p>
            <a:endParaRPr/>
          </a:p>
        </p:txBody>
      </p:sp>
      <p:pic>
        <p:nvPicPr>
          <p:cNvPr id="5" name="Image 0" descr="/mnt/data/dsc680_milestone3_assets/figure3_feasibility_heatmap.png"/>
          <p:cNvPicPr>
            <a:picLocks noChangeAspect="1"/>
          </p:cNvPicPr>
          <p:nvPr/>
        </p:nvPicPr>
        <p:blipFill>
          <a:blip r:embed="rId3"/>
          <a:stretch>
            <a:fillRect/>
          </a:stretch>
        </p:blipFill>
        <p:spPr>
          <a:xfrm>
            <a:off x="685800" y="1598141"/>
            <a:ext cx="6263640" cy="4073197"/>
          </a:xfrm>
          <a:prstGeom prst="rect">
            <a:avLst/>
          </a:prstGeom>
        </p:spPr>
      </p:pic>
      <p:sp>
        <p:nvSpPr>
          <p:cNvPr id="6" name="Shape 3"/>
          <p:cNvSpPr/>
          <p:nvPr/>
        </p:nvSpPr>
        <p:spPr>
          <a:xfrm>
            <a:off x="7315200" y="1600200"/>
            <a:ext cx="3429000" cy="960120"/>
          </a:xfrm>
          <a:prstGeom prst="roundRect">
            <a:avLst>
              <a:gd name="adj" fmla="val 9524"/>
            </a:avLst>
          </a:prstGeom>
          <a:solidFill>
            <a:srgbClr val="FFFFFF"/>
          </a:solidFill>
          <a:ln w="12700">
            <a:solidFill>
              <a:srgbClr val="D1D5DB"/>
            </a:solidFill>
            <a:prstDash val="solid"/>
          </a:ln>
        </p:spPr>
        <p:txBody>
          <a:bodyPr/>
          <a:lstStyle/>
          <a:p>
            <a:endParaRPr/>
          </a:p>
        </p:txBody>
      </p:sp>
      <p:sp>
        <p:nvSpPr>
          <p:cNvPr id="7" name="Shape 4"/>
          <p:cNvSpPr/>
          <p:nvPr/>
        </p:nvSpPr>
        <p:spPr>
          <a:xfrm>
            <a:off x="7315200" y="1600200"/>
            <a:ext cx="109728" cy="960120"/>
          </a:xfrm>
          <a:prstGeom prst="rect">
            <a:avLst/>
          </a:prstGeom>
          <a:solidFill>
            <a:srgbClr val="1E5AA8"/>
          </a:solidFill>
          <a:ln w="12700">
            <a:solidFill>
              <a:srgbClr val="1E5AA8">
                <a:alpha val="0"/>
              </a:srgbClr>
            </a:solidFill>
            <a:prstDash val="solid"/>
          </a:ln>
        </p:spPr>
        <p:txBody>
          <a:bodyPr/>
          <a:lstStyle/>
          <a:p>
            <a:endParaRPr/>
          </a:p>
        </p:txBody>
      </p:sp>
      <p:sp>
        <p:nvSpPr>
          <p:cNvPr id="8" name="Text 5"/>
          <p:cNvSpPr/>
          <p:nvPr/>
        </p:nvSpPr>
        <p:spPr>
          <a:xfrm>
            <a:off x="7571232" y="1746504"/>
            <a:ext cx="3017520" cy="292608"/>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34 of 53</a:t>
            </a:r>
            <a:endParaRPr lang="en-US" sz="1800" dirty="0"/>
          </a:p>
        </p:txBody>
      </p:sp>
      <p:sp>
        <p:nvSpPr>
          <p:cNvPr id="9" name="Text 6"/>
          <p:cNvSpPr/>
          <p:nvPr/>
        </p:nvSpPr>
        <p:spPr>
          <a:xfrm>
            <a:off x="7571232" y="2103120"/>
            <a:ext cx="3017520" cy="256032"/>
          </a:xfrm>
          <a:prstGeom prst="rect">
            <a:avLst/>
          </a:prstGeom>
          <a:noFill/>
          <a:ln/>
        </p:spPr>
        <p:txBody>
          <a:bodyPr wrap="square" lIns="0" tIns="0" rIns="0" bIns="0" rtlCol="0" anchor="ctr">
            <a:noAutofit/>
          </a:bodyPr>
          <a:lstStyle/>
          <a:p>
            <a:pPr marL="0" indent="0">
              <a:buNone/>
            </a:pPr>
            <a:r>
              <a:rPr lang="en-US" sz="1100" dirty="0">
                <a:solidFill>
                  <a:srgbClr val="4B5563"/>
                </a:solidFill>
                <a:latin typeface="Aptos" pitchFamily="34" charset="0"/>
                <a:ea typeface="Aptos" pitchFamily="34" charset="-122"/>
                <a:cs typeface="Aptos" pitchFamily="34" charset="-120"/>
              </a:rPr>
              <a:t>deployments were screening-feasible under the 10-hour baseline.</a:t>
            </a:r>
            <a:endParaRPr lang="en-US" sz="1100" dirty="0"/>
          </a:p>
        </p:txBody>
      </p:sp>
      <p:sp>
        <p:nvSpPr>
          <p:cNvPr id="10" name="Shape 7"/>
          <p:cNvSpPr/>
          <p:nvPr/>
        </p:nvSpPr>
        <p:spPr>
          <a:xfrm>
            <a:off x="7315200" y="2834640"/>
            <a:ext cx="3429000" cy="960120"/>
          </a:xfrm>
          <a:prstGeom prst="roundRect">
            <a:avLst>
              <a:gd name="adj" fmla="val 9524"/>
            </a:avLst>
          </a:prstGeom>
          <a:solidFill>
            <a:srgbClr val="FFFFFF"/>
          </a:solidFill>
          <a:ln w="12700">
            <a:solidFill>
              <a:srgbClr val="D1D5DB"/>
            </a:solidFill>
            <a:prstDash val="solid"/>
          </a:ln>
        </p:spPr>
        <p:txBody>
          <a:bodyPr/>
          <a:lstStyle/>
          <a:p>
            <a:endParaRPr/>
          </a:p>
        </p:txBody>
      </p:sp>
      <p:sp>
        <p:nvSpPr>
          <p:cNvPr id="11" name="Shape 8"/>
          <p:cNvSpPr/>
          <p:nvPr/>
        </p:nvSpPr>
        <p:spPr>
          <a:xfrm>
            <a:off x="7315200" y="2834640"/>
            <a:ext cx="109728" cy="960120"/>
          </a:xfrm>
          <a:prstGeom prst="rect">
            <a:avLst/>
          </a:prstGeom>
          <a:solidFill>
            <a:srgbClr val="00A6A6"/>
          </a:solidFill>
          <a:ln w="12700">
            <a:solidFill>
              <a:srgbClr val="00A6A6">
                <a:alpha val="0"/>
              </a:srgbClr>
            </a:solidFill>
            <a:prstDash val="solid"/>
          </a:ln>
        </p:spPr>
        <p:txBody>
          <a:bodyPr/>
          <a:lstStyle/>
          <a:p>
            <a:endParaRPr/>
          </a:p>
        </p:txBody>
      </p:sp>
      <p:sp>
        <p:nvSpPr>
          <p:cNvPr id="12" name="Text 9"/>
          <p:cNvSpPr/>
          <p:nvPr/>
        </p:nvSpPr>
        <p:spPr>
          <a:xfrm>
            <a:off x="7571232" y="2980944"/>
            <a:ext cx="3017520" cy="292608"/>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64.2%</a:t>
            </a:r>
            <a:endParaRPr lang="en-US" sz="1800" dirty="0"/>
          </a:p>
        </p:txBody>
      </p:sp>
      <p:sp>
        <p:nvSpPr>
          <p:cNvPr id="13" name="Text 10"/>
          <p:cNvSpPr/>
          <p:nvPr/>
        </p:nvSpPr>
        <p:spPr>
          <a:xfrm>
            <a:off x="7571232" y="3337560"/>
            <a:ext cx="3017520" cy="256032"/>
          </a:xfrm>
          <a:prstGeom prst="rect">
            <a:avLst/>
          </a:prstGeom>
          <a:noFill/>
          <a:ln/>
        </p:spPr>
        <p:txBody>
          <a:bodyPr wrap="square" lIns="0" tIns="0" rIns="0" bIns="0" rtlCol="0" anchor="ctr">
            <a:normAutofit/>
          </a:bodyPr>
          <a:lstStyle/>
          <a:p>
            <a:pPr marL="0" indent="0">
              <a:buNone/>
            </a:pPr>
            <a:r>
              <a:rPr lang="en-US" sz="1100" dirty="0">
                <a:solidFill>
                  <a:srgbClr val="4B5563"/>
                </a:solidFill>
                <a:latin typeface="Aptos" pitchFamily="34" charset="0"/>
                <a:ea typeface="Aptos" pitchFamily="34" charset="-122"/>
                <a:cs typeface="Aptos" pitchFamily="34" charset="-120"/>
              </a:rPr>
              <a:t>feasible at 19.2 kW and 10 hours.</a:t>
            </a:r>
            <a:endParaRPr lang="en-US" sz="1100" dirty="0"/>
          </a:p>
        </p:txBody>
      </p:sp>
      <p:sp>
        <p:nvSpPr>
          <p:cNvPr id="14" name="Shape 11"/>
          <p:cNvSpPr/>
          <p:nvPr/>
        </p:nvSpPr>
        <p:spPr>
          <a:xfrm>
            <a:off x="7315200" y="4069080"/>
            <a:ext cx="3429000" cy="960120"/>
          </a:xfrm>
          <a:prstGeom prst="roundRect">
            <a:avLst>
              <a:gd name="adj" fmla="val 9524"/>
            </a:avLst>
          </a:prstGeom>
          <a:solidFill>
            <a:srgbClr val="FFFFFF"/>
          </a:solidFill>
          <a:ln w="12700">
            <a:solidFill>
              <a:srgbClr val="D1D5DB"/>
            </a:solidFill>
            <a:prstDash val="solid"/>
          </a:ln>
        </p:spPr>
        <p:txBody>
          <a:bodyPr/>
          <a:lstStyle/>
          <a:p>
            <a:endParaRPr/>
          </a:p>
        </p:txBody>
      </p:sp>
      <p:sp>
        <p:nvSpPr>
          <p:cNvPr id="15" name="Shape 12"/>
          <p:cNvSpPr/>
          <p:nvPr/>
        </p:nvSpPr>
        <p:spPr>
          <a:xfrm>
            <a:off x="7315200" y="4069080"/>
            <a:ext cx="109728" cy="960120"/>
          </a:xfrm>
          <a:prstGeom prst="rect">
            <a:avLst/>
          </a:prstGeom>
          <a:solidFill>
            <a:srgbClr val="F6C453"/>
          </a:solidFill>
          <a:ln w="12700">
            <a:solidFill>
              <a:srgbClr val="F6C453">
                <a:alpha val="0"/>
              </a:srgbClr>
            </a:solidFill>
            <a:prstDash val="solid"/>
          </a:ln>
        </p:spPr>
        <p:txBody>
          <a:bodyPr/>
          <a:lstStyle/>
          <a:p>
            <a:endParaRPr/>
          </a:p>
        </p:txBody>
      </p:sp>
      <p:sp>
        <p:nvSpPr>
          <p:cNvPr id="16" name="Text 13"/>
          <p:cNvSpPr/>
          <p:nvPr/>
        </p:nvSpPr>
        <p:spPr>
          <a:xfrm>
            <a:off x="7571232" y="4215384"/>
            <a:ext cx="3017520" cy="292608"/>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26 of 34</a:t>
            </a:r>
            <a:endParaRPr lang="en-US" sz="1800" dirty="0"/>
          </a:p>
        </p:txBody>
      </p:sp>
      <p:sp>
        <p:nvSpPr>
          <p:cNvPr id="17" name="Text 14"/>
          <p:cNvSpPr/>
          <p:nvPr/>
        </p:nvSpPr>
        <p:spPr>
          <a:xfrm>
            <a:off x="7571232" y="4572000"/>
            <a:ext cx="3017520" cy="256032"/>
          </a:xfrm>
          <a:prstGeom prst="rect">
            <a:avLst/>
          </a:prstGeom>
          <a:noFill/>
          <a:ln/>
        </p:spPr>
        <p:txBody>
          <a:bodyPr wrap="square" lIns="0" tIns="0" rIns="0" bIns="0" rtlCol="0" anchor="ctr">
            <a:noAutofit/>
          </a:bodyPr>
          <a:lstStyle/>
          <a:p>
            <a:pPr marL="0" indent="0">
              <a:buNone/>
            </a:pPr>
            <a:r>
              <a:rPr lang="en-US" sz="1100" dirty="0">
                <a:solidFill>
                  <a:srgbClr val="4B5563"/>
                </a:solidFill>
                <a:latin typeface="Aptos" pitchFamily="34" charset="0"/>
                <a:ea typeface="Aptos" pitchFamily="34" charset="-122"/>
                <a:cs typeface="Aptos" pitchFamily="34" charset="-120"/>
              </a:rPr>
              <a:t>baseline-feasible deployments required the 19.2 kW option.</a:t>
            </a:r>
            <a:endParaRPr lang="en-US" sz="1100" dirty="0"/>
          </a:p>
        </p:txBody>
      </p:sp>
      <p:sp>
        <p:nvSpPr>
          <p:cNvPr id="18" name="Text 15"/>
          <p:cNvSpPr/>
          <p:nvPr/>
        </p:nvSpPr>
        <p:spPr>
          <a:xfrm>
            <a:off x="566928" y="6199632"/>
            <a:ext cx="10698480" cy="201168"/>
          </a:xfrm>
          <a:prstGeom prst="rect">
            <a:avLst/>
          </a:prstGeom>
          <a:noFill/>
          <a:ln/>
        </p:spPr>
        <p:txBody>
          <a:bodyPr wrap="square" lIns="0" tIns="0" rIns="0" bIns="0" rtlCol="0" anchor="ctr"/>
          <a:lstStyle/>
          <a:p>
            <a:r>
              <a:rPr sz="1200" dirty="0"/>
              <a:t>Figure 3: Screening Feasibility Improves With Charger Power and Time.</a:t>
            </a:r>
          </a:p>
        </p:txBody>
      </p:sp>
      <p:sp>
        <p:nvSpPr>
          <p:cNvPr id="19" name="Text 16"/>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20" name="Text 17"/>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10789920" cy="457200"/>
          </a:xfrm>
          <a:prstGeom prst="rect">
            <a:avLst/>
          </a:prstGeom>
          <a:noFill/>
          <a:ln/>
        </p:spPr>
        <p:txBody>
          <a:bodyPr wrap="square" lIns="0" tIns="0" rIns="0" bIns="0" rtlCol="0" anchor="ct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Finding 3: costs need to be shown as ranges</a:t>
            </a:r>
            <a:endParaRPr lang="en-US" sz="3000" dirty="0"/>
          </a:p>
        </p:txBody>
      </p:sp>
      <p:sp>
        <p:nvSpPr>
          <p:cNvPr id="3" name="Text 1"/>
          <p:cNvSpPr/>
          <p:nvPr/>
        </p:nvSpPr>
        <p:spPr>
          <a:xfrm>
            <a:off x="566928" y="850392"/>
            <a:ext cx="10881360" cy="292608"/>
          </a:xfrm>
          <a:prstGeom prst="rect">
            <a:avLst/>
          </a:prstGeom>
          <a:noFill/>
          <a:ln/>
        </p:spPr>
        <p:txBody>
          <a:bodyPr wrap="square" lIns="0" tIns="0" rIns="0" bIns="0" rtlCol="0" anchor="ctr"/>
          <a:lstStyle/>
          <a:p>
            <a:pPr marL="0" indent="0">
              <a:buNone/>
            </a:pPr>
            <a:r>
              <a:rPr lang="en-US" sz="1600" dirty="0">
                <a:solidFill>
                  <a:srgbClr val="4B5563"/>
                </a:solidFill>
                <a:latin typeface="Aptos" pitchFamily="34" charset="0"/>
                <a:ea typeface="Aptos" pitchFamily="34" charset="-122"/>
                <a:cs typeface="Aptos" pitchFamily="34" charset="-120"/>
              </a:rPr>
              <a:t>A single dollar estimate would create false precision.</a:t>
            </a:r>
            <a:endParaRPr lang="en-US" sz="1600" dirty="0"/>
          </a:p>
        </p:txBody>
      </p:sp>
      <p:sp>
        <p:nvSpPr>
          <p:cNvPr id="4" name="Shape 2"/>
          <p:cNvSpPr/>
          <p:nvPr/>
        </p:nvSpPr>
        <p:spPr>
          <a:xfrm>
            <a:off x="548640" y="1207008"/>
            <a:ext cx="11064240" cy="0"/>
          </a:xfrm>
          <a:prstGeom prst="line">
            <a:avLst/>
          </a:prstGeom>
          <a:noFill/>
          <a:ln w="25400">
            <a:solidFill>
              <a:srgbClr val="DBEAFE"/>
            </a:solidFill>
            <a:prstDash val="solid"/>
          </a:ln>
        </p:spPr>
        <p:txBody>
          <a:bodyPr/>
          <a:lstStyle/>
          <a:p>
            <a:endParaRPr/>
          </a:p>
        </p:txBody>
      </p:sp>
      <p:pic>
        <p:nvPicPr>
          <p:cNvPr id="5" name="Image 0" descr="/mnt/data/dsc680_milestone3_assets/figure4_cost_per_vehicle.png"/>
          <p:cNvPicPr>
            <a:picLocks noChangeAspect="1"/>
          </p:cNvPicPr>
          <p:nvPr/>
        </p:nvPicPr>
        <p:blipFill>
          <a:blip r:embed="rId3"/>
          <a:stretch>
            <a:fillRect/>
          </a:stretch>
        </p:blipFill>
        <p:spPr>
          <a:xfrm>
            <a:off x="507688" y="1444752"/>
            <a:ext cx="7488544" cy="4434840"/>
          </a:xfrm>
          <a:prstGeom prst="rect">
            <a:avLst/>
          </a:prstGeom>
        </p:spPr>
      </p:pic>
      <p:sp>
        <p:nvSpPr>
          <p:cNvPr id="6" name="Shape 3"/>
          <p:cNvSpPr/>
          <p:nvPr/>
        </p:nvSpPr>
        <p:spPr>
          <a:xfrm>
            <a:off x="8229600" y="1600200"/>
            <a:ext cx="3200400" cy="1325880"/>
          </a:xfrm>
          <a:prstGeom prst="roundRect">
            <a:avLst>
              <a:gd name="adj" fmla="val 7586"/>
            </a:avLst>
          </a:prstGeom>
          <a:solidFill>
            <a:srgbClr val="FFFFFF"/>
          </a:solidFill>
          <a:ln w="12700">
            <a:solidFill>
              <a:srgbClr val="D1D5DB"/>
            </a:solidFill>
            <a:prstDash val="solid"/>
          </a:ln>
        </p:spPr>
        <p:txBody>
          <a:bodyPr/>
          <a:lstStyle/>
          <a:p>
            <a:endParaRPr/>
          </a:p>
        </p:txBody>
      </p:sp>
      <p:sp>
        <p:nvSpPr>
          <p:cNvPr id="7" name="Shape 4"/>
          <p:cNvSpPr/>
          <p:nvPr/>
        </p:nvSpPr>
        <p:spPr>
          <a:xfrm>
            <a:off x="8229600" y="1600200"/>
            <a:ext cx="118872" cy="1325880"/>
          </a:xfrm>
          <a:prstGeom prst="rect">
            <a:avLst/>
          </a:prstGeom>
          <a:solidFill>
            <a:srgbClr val="1E5AA8"/>
          </a:solidFill>
          <a:ln w="12700">
            <a:solidFill>
              <a:srgbClr val="1E5AA8">
                <a:alpha val="0"/>
              </a:srgbClr>
            </a:solidFill>
            <a:prstDash val="solid"/>
          </a:ln>
        </p:spPr>
        <p:txBody>
          <a:bodyPr/>
          <a:lstStyle/>
          <a:p>
            <a:endParaRPr/>
          </a:p>
        </p:txBody>
      </p:sp>
      <p:sp>
        <p:nvSpPr>
          <p:cNvPr id="8" name="Text 5"/>
          <p:cNvSpPr/>
          <p:nvPr/>
        </p:nvSpPr>
        <p:spPr>
          <a:xfrm>
            <a:off x="8503920" y="1764792"/>
            <a:ext cx="2743200" cy="228600"/>
          </a:xfrm>
          <a:prstGeom prst="rect">
            <a:avLst/>
          </a:prstGeom>
          <a:noFill/>
          <a:ln/>
        </p:spPr>
        <p:txBody>
          <a:bodyPr wrap="square" lIns="0" tIns="0" rIns="0" bIns="0" rtlCol="0" anchor="ctr"/>
          <a:lstStyle/>
          <a:p>
            <a:pPr marL="0" indent="0">
              <a:buNone/>
            </a:pPr>
            <a:r>
              <a:rPr lang="en-US" sz="1450" b="1" dirty="0">
                <a:solidFill>
                  <a:srgbClr val="0B1F3A"/>
                </a:solidFill>
                <a:latin typeface="Aptos Display" pitchFamily="34" charset="0"/>
                <a:ea typeface="Aptos Display" pitchFamily="34" charset="-122"/>
                <a:cs typeface="Aptos Display" pitchFamily="34" charset="-120"/>
              </a:rPr>
              <a:t>Median feasible deployment</a:t>
            </a:r>
            <a:endParaRPr lang="en-US" sz="1450" dirty="0"/>
          </a:p>
        </p:txBody>
      </p:sp>
      <p:sp>
        <p:nvSpPr>
          <p:cNvPr id="9" name="Text 6"/>
          <p:cNvSpPr/>
          <p:nvPr/>
        </p:nvSpPr>
        <p:spPr>
          <a:xfrm>
            <a:off x="8503920" y="2103120"/>
            <a:ext cx="2743200" cy="704088"/>
          </a:xfrm>
          <a:prstGeom prst="rect">
            <a:avLst/>
          </a:prstGeom>
          <a:noFill/>
          <a:ln/>
        </p:spPr>
        <p:txBody>
          <a:bodyPr wrap="square" lIns="254" tIns="254" rIns="254" bIns="254" rtlCol="0" anchor="t">
            <a:normAutofit/>
          </a:bodyPr>
          <a:lstStyle/>
          <a:p>
            <a:pPr marL="0" indent="0">
              <a:buNone/>
            </a:pPr>
            <a:r>
              <a:rPr lang="en-US" sz="1240" dirty="0">
                <a:solidFill>
                  <a:srgbClr val="4B5563"/>
                </a:solidFill>
                <a:latin typeface="Aptos" pitchFamily="34" charset="0"/>
                <a:ea typeface="Aptos" pitchFamily="34" charset="-122"/>
                <a:cs typeface="Aptos" pitchFamily="34" charset="-120"/>
              </a:rPr>
              <a:t>Typical upfront estimate: about $15,000. Low-to-high planning range: about $11,200 to $35,400.</a:t>
            </a:r>
            <a:endParaRPr lang="en-US" sz="1240" dirty="0"/>
          </a:p>
        </p:txBody>
      </p:sp>
      <p:sp>
        <p:nvSpPr>
          <p:cNvPr id="10" name="Shape 7"/>
          <p:cNvSpPr/>
          <p:nvPr/>
        </p:nvSpPr>
        <p:spPr>
          <a:xfrm>
            <a:off x="8229600" y="3218688"/>
            <a:ext cx="3200400" cy="1325880"/>
          </a:xfrm>
          <a:prstGeom prst="roundRect">
            <a:avLst>
              <a:gd name="adj" fmla="val 7586"/>
            </a:avLst>
          </a:prstGeom>
          <a:solidFill>
            <a:srgbClr val="FFFFFF"/>
          </a:solidFill>
          <a:ln w="12700">
            <a:solidFill>
              <a:srgbClr val="D1D5DB"/>
            </a:solidFill>
            <a:prstDash val="solid"/>
          </a:ln>
        </p:spPr>
        <p:txBody>
          <a:bodyPr/>
          <a:lstStyle/>
          <a:p>
            <a:endParaRPr/>
          </a:p>
        </p:txBody>
      </p:sp>
      <p:sp>
        <p:nvSpPr>
          <p:cNvPr id="11" name="Shape 8"/>
          <p:cNvSpPr/>
          <p:nvPr/>
        </p:nvSpPr>
        <p:spPr>
          <a:xfrm>
            <a:off x="8229600" y="3218688"/>
            <a:ext cx="118872" cy="1325880"/>
          </a:xfrm>
          <a:prstGeom prst="rect">
            <a:avLst/>
          </a:prstGeom>
          <a:solidFill>
            <a:srgbClr val="00A6A6"/>
          </a:solidFill>
          <a:ln w="12700">
            <a:solidFill>
              <a:srgbClr val="00A6A6">
                <a:alpha val="0"/>
              </a:srgbClr>
            </a:solidFill>
            <a:prstDash val="solid"/>
          </a:ln>
        </p:spPr>
        <p:txBody>
          <a:bodyPr/>
          <a:lstStyle/>
          <a:p>
            <a:endParaRPr/>
          </a:p>
        </p:txBody>
      </p:sp>
      <p:sp>
        <p:nvSpPr>
          <p:cNvPr id="12" name="Text 9"/>
          <p:cNvSpPr/>
          <p:nvPr/>
        </p:nvSpPr>
        <p:spPr>
          <a:xfrm>
            <a:off x="8503920" y="3383280"/>
            <a:ext cx="2743200" cy="228600"/>
          </a:xfrm>
          <a:prstGeom prst="rect">
            <a:avLst/>
          </a:prstGeom>
          <a:noFill/>
          <a:ln/>
        </p:spPr>
        <p:txBody>
          <a:bodyPr wrap="square" lIns="0" tIns="0" rIns="0" bIns="0" rtlCol="0" anchor="ctr"/>
          <a:lstStyle/>
          <a:p>
            <a:pPr marL="0" indent="0">
              <a:buNone/>
            </a:pPr>
            <a:r>
              <a:rPr lang="en-US" sz="1450" b="1" dirty="0">
                <a:solidFill>
                  <a:srgbClr val="0B1F3A"/>
                </a:solidFill>
                <a:latin typeface="Aptos Display" pitchFamily="34" charset="0"/>
                <a:ea typeface="Aptos Display" pitchFamily="34" charset="-122"/>
                <a:cs typeface="Aptos Display" pitchFamily="34" charset="-120"/>
              </a:rPr>
              <a:t>Median per vehicle</a:t>
            </a:r>
            <a:endParaRPr lang="en-US" sz="1450" dirty="0"/>
          </a:p>
        </p:txBody>
      </p:sp>
      <p:sp>
        <p:nvSpPr>
          <p:cNvPr id="13" name="Text 10"/>
          <p:cNvSpPr/>
          <p:nvPr/>
        </p:nvSpPr>
        <p:spPr>
          <a:xfrm>
            <a:off x="8503920" y="3721608"/>
            <a:ext cx="2743200" cy="704088"/>
          </a:xfrm>
          <a:prstGeom prst="rect">
            <a:avLst/>
          </a:prstGeom>
          <a:noFill/>
          <a:ln/>
        </p:spPr>
        <p:txBody>
          <a:bodyPr wrap="square" lIns="254" tIns="254" rIns="254" bIns="254" rtlCol="0" anchor="t">
            <a:normAutofit/>
          </a:bodyPr>
          <a:lstStyle/>
          <a:p>
            <a:pPr marL="0" indent="0">
              <a:buNone/>
            </a:pPr>
            <a:r>
              <a:rPr lang="en-US" sz="1240" dirty="0">
                <a:solidFill>
                  <a:srgbClr val="4B5563"/>
                </a:solidFill>
                <a:latin typeface="Aptos" pitchFamily="34" charset="0"/>
                <a:ea typeface="Aptos" pitchFamily="34" charset="-122"/>
                <a:cs typeface="Aptos" pitchFamily="34" charset="-120"/>
              </a:rPr>
              <a:t>Typical estimate: about $4,500 per vehicle. Low and high medians: about $2,800 and $13,275.</a:t>
            </a:r>
            <a:endParaRPr lang="en-US" sz="1240" dirty="0"/>
          </a:p>
        </p:txBody>
      </p:sp>
      <p:sp>
        <p:nvSpPr>
          <p:cNvPr id="14" name="Shape 11"/>
          <p:cNvSpPr/>
          <p:nvPr/>
        </p:nvSpPr>
        <p:spPr>
          <a:xfrm>
            <a:off x="8229600" y="4837176"/>
            <a:ext cx="3200400" cy="914400"/>
          </a:xfrm>
          <a:prstGeom prst="roundRect">
            <a:avLst>
              <a:gd name="adj" fmla="val 11000"/>
            </a:avLst>
          </a:prstGeom>
          <a:solidFill>
            <a:srgbClr val="FFFFFF"/>
          </a:solidFill>
          <a:ln w="12700">
            <a:solidFill>
              <a:srgbClr val="D1D5DB"/>
            </a:solidFill>
            <a:prstDash val="solid"/>
          </a:ln>
        </p:spPr>
        <p:txBody>
          <a:bodyPr/>
          <a:lstStyle/>
          <a:p>
            <a:endParaRPr/>
          </a:p>
        </p:txBody>
      </p:sp>
      <p:sp>
        <p:nvSpPr>
          <p:cNvPr id="15" name="Shape 12"/>
          <p:cNvSpPr/>
          <p:nvPr/>
        </p:nvSpPr>
        <p:spPr>
          <a:xfrm>
            <a:off x="8229600" y="4837176"/>
            <a:ext cx="118872" cy="914400"/>
          </a:xfrm>
          <a:prstGeom prst="rect">
            <a:avLst/>
          </a:prstGeom>
          <a:solidFill>
            <a:srgbClr val="F6C453"/>
          </a:solidFill>
          <a:ln w="12700">
            <a:solidFill>
              <a:srgbClr val="F6C453">
                <a:alpha val="0"/>
              </a:srgbClr>
            </a:solidFill>
            <a:prstDash val="solid"/>
          </a:ln>
        </p:spPr>
        <p:txBody>
          <a:bodyPr/>
          <a:lstStyle/>
          <a:p>
            <a:endParaRPr/>
          </a:p>
        </p:txBody>
      </p:sp>
      <p:sp>
        <p:nvSpPr>
          <p:cNvPr id="16" name="Text 13"/>
          <p:cNvSpPr/>
          <p:nvPr/>
        </p:nvSpPr>
        <p:spPr>
          <a:xfrm>
            <a:off x="8503920" y="5001768"/>
            <a:ext cx="2743200" cy="228600"/>
          </a:xfrm>
          <a:prstGeom prst="rect">
            <a:avLst/>
          </a:prstGeom>
          <a:noFill/>
          <a:ln/>
        </p:spPr>
        <p:txBody>
          <a:bodyPr wrap="square" lIns="0" tIns="0" rIns="0" bIns="0" rtlCol="0" anchor="ctr"/>
          <a:lstStyle/>
          <a:p>
            <a:pPr marL="0" indent="0" algn="l">
              <a:buNone/>
            </a:pPr>
            <a:r>
              <a:rPr sz="1000">
                <a:solidFill>
                  <a:srgbClr val="0F233D"/>
                </a:solidFill>
                <a:latin typeface="Aptos"/>
              </a:rPr>
              <a:t>Audience question</a:t>
            </a:r>
            <a:endParaRPr lang="en-US" sz="1450" dirty="0"/>
          </a:p>
        </p:txBody>
      </p:sp>
      <p:sp>
        <p:nvSpPr>
          <p:cNvPr id="17" name="Text 14"/>
          <p:cNvSpPr/>
          <p:nvPr/>
        </p:nvSpPr>
        <p:spPr>
          <a:xfrm>
            <a:off x="8503920" y="5340096"/>
            <a:ext cx="2743200" cy="292608"/>
          </a:xfrm>
          <a:prstGeom prst="rect">
            <a:avLst/>
          </a:prstGeom>
          <a:noFill/>
          <a:ln/>
        </p:spPr>
        <p:txBody>
          <a:bodyPr wrap="square" lIns="254" tIns="254" rIns="254" bIns="254" rtlCol="0" anchor="t">
            <a:normAutofit/>
          </a:bodyPr>
          <a:lstStyle/>
          <a:p>
            <a:pPr marL="0" indent="0" algn="l">
              <a:buNone/>
            </a:pPr>
            <a:r>
              <a:rPr sz="720">
                <a:solidFill>
                  <a:srgbClr val="0F233D"/>
                </a:solidFill>
                <a:latin typeface="Aptos"/>
              </a:rPr>
              <a:t>Is this a final quote? No. The range is a planning estimate; sites still need utility, electrical, layout, and vendor review.</a:t>
            </a:r>
            <a:endParaRPr lang="en-US" sz="1240" dirty="0"/>
          </a:p>
        </p:txBody>
      </p:sp>
      <p:sp>
        <p:nvSpPr>
          <p:cNvPr id="18" name="Text 15"/>
          <p:cNvSpPr/>
          <p:nvPr/>
        </p:nvSpPr>
        <p:spPr>
          <a:xfrm>
            <a:off x="566928" y="6199632"/>
            <a:ext cx="10698480" cy="201168"/>
          </a:xfrm>
          <a:prstGeom prst="rect">
            <a:avLst/>
          </a:prstGeom>
          <a:noFill/>
          <a:ln/>
        </p:spPr>
        <p:txBody>
          <a:bodyPr wrap="square" lIns="0" tIns="0" rIns="0" bIns="0" rtlCol="0" anchor="ctr"/>
          <a:lstStyle/>
          <a:p>
            <a:r>
              <a:t>Figure 4: Lowest Planning Cost per Vehicle Under the 10-Hour Baseline.</a:t>
            </a:r>
          </a:p>
        </p:txBody>
      </p:sp>
      <p:sp>
        <p:nvSpPr>
          <p:cNvPr id="19" name="Text 16"/>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20" name="Text 17"/>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10789920" cy="457200"/>
          </a:xfrm>
          <a:prstGeom prst="rect">
            <a:avLst/>
          </a:prstGeom>
          <a:noFill/>
          <a:ln/>
        </p:spPr>
        <p:txBody>
          <a:bodyPr wrap="square" lIns="0" tIns="0" rIns="0" bIns="0" rtlCol="0" anchor="ct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Recommendation</a:t>
            </a:r>
            <a:endParaRPr lang="en-US" sz="3000" dirty="0"/>
          </a:p>
        </p:txBody>
      </p:sp>
      <p:sp>
        <p:nvSpPr>
          <p:cNvPr id="3" name="Text 1"/>
          <p:cNvSpPr/>
          <p:nvPr/>
        </p:nvSpPr>
        <p:spPr>
          <a:xfrm>
            <a:off x="566928" y="850392"/>
            <a:ext cx="10881360" cy="292608"/>
          </a:xfrm>
          <a:prstGeom prst="rect">
            <a:avLst/>
          </a:prstGeom>
          <a:noFill/>
          <a:ln/>
        </p:spPr>
        <p:txBody>
          <a:bodyPr wrap="square" lIns="0" tIns="0" rIns="0" bIns="0" rtlCol="0" anchor="ctr"/>
          <a:lstStyle/>
          <a:p>
            <a:pPr marL="0" indent="0">
              <a:buNone/>
            </a:pPr>
            <a:r>
              <a:rPr lang="en-US" sz="1600" dirty="0">
                <a:solidFill>
                  <a:srgbClr val="4B5563"/>
                </a:solidFill>
                <a:latin typeface="Aptos" pitchFamily="34" charset="0"/>
                <a:ea typeface="Aptos" pitchFamily="34" charset="-122"/>
                <a:cs typeface="Aptos" pitchFamily="34" charset="-120"/>
              </a:rPr>
              <a:t>Use the model as an early project-screening tool.</a:t>
            </a:r>
            <a:endParaRPr lang="en-US" sz="1600" dirty="0"/>
          </a:p>
        </p:txBody>
      </p:sp>
      <p:sp>
        <p:nvSpPr>
          <p:cNvPr id="4" name="Shape 2"/>
          <p:cNvSpPr/>
          <p:nvPr/>
        </p:nvSpPr>
        <p:spPr>
          <a:xfrm>
            <a:off x="548640" y="1207008"/>
            <a:ext cx="11064240" cy="0"/>
          </a:xfrm>
          <a:prstGeom prst="line">
            <a:avLst/>
          </a:prstGeom>
          <a:noFill/>
          <a:ln w="25400">
            <a:solidFill>
              <a:srgbClr val="DBEAFE"/>
            </a:solidFill>
            <a:prstDash val="solid"/>
          </a:ln>
        </p:spPr>
        <p:txBody>
          <a:bodyPr/>
          <a:lstStyle/>
          <a:p>
            <a:endParaRPr/>
          </a:p>
        </p:txBody>
      </p:sp>
      <p:sp>
        <p:nvSpPr>
          <p:cNvPr id="5" name="Shape 3"/>
          <p:cNvSpPr/>
          <p:nvPr/>
        </p:nvSpPr>
        <p:spPr>
          <a:xfrm>
            <a:off x="804672" y="1508760"/>
            <a:ext cx="4983480" cy="3977640"/>
          </a:xfrm>
          <a:prstGeom prst="roundRect">
            <a:avLst>
              <a:gd name="adj" fmla="val 2759"/>
            </a:avLst>
          </a:prstGeom>
          <a:solidFill>
            <a:srgbClr val="FFFFFF"/>
          </a:solidFill>
          <a:ln w="12700">
            <a:solidFill>
              <a:srgbClr val="D1D5DB"/>
            </a:solidFill>
            <a:prstDash val="solid"/>
          </a:ln>
        </p:spPr>
        <p:txBody>
          <a:bodyPr/>
          <a:lstStyle/>
          <a:p>
            <a:endParaRPr/>
          </a:p>
        </p:txBody>
      </p:sp>
      <p:sp>
        <p:nvSpPr>
          <p:cNvPr id="6" name="Text 4"/>
          <p:cNvSpPr/>
          <p:nvPr/>
        </p:nvSpPr>
        <p:spPr>
          <a:xfrm>
            <a:off x="1097280" y="1874520"/>
            <a:ext cx="3108960" cy="301752"/>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Move forward when...</a:t>
            </a:r>
            <a:endParaRPr lang="en-US" sz="1800" dirty="0"/>
          </a:p>
        </p:txBody>
      </p:sp>
      <p:sp>
        <p:nvSpPr>
          <p:cNvPr id="7" name="Text 5"/>
          <p:cNvSpPr/>
          <p:nvPr/>
        </p:nvSpPr>
        <p:spPr>
          <a:xfrm>
            <a:off x="1115568" y="2450592"/>
            <a:ext cx="4315968" cy="2103120"/>
          </a:xfrm>
          <a:prstGeom prst="rect">
            <a:avLst/>
          </a:prstGeom>
          <a:noFill/>
          <a:ln/>
        </p:spPr>
        <p:txBody>
          <a:bodyPr wrap="square" lIns="254" tIns="254" rIns="254" bIns="254" rtlCol="0" anchor="t">
            <a:normAutofit/>
          </a:bodyPr>
          <a:lstStyle/>
          <a:p>
            <a:pPr marL="0" indent="0">
              <a:buNone/>
            </a:pPr>
            <a:r>
              <a:rPr lang="en-US" sz="1450" dirty="0">
                <a:solidFill>
                  <a:srgbClr val="374151"/>
                </a:solidFill>
                <a:latin typeface="Aptos" pitchFamily="34" charset="0"/>
                <a:ea typeface="Aptos" pitchFamily="34" charset="-122"/>
                <a:cs typeface="Aptos" pitchFamily="34" charset="-120"/>
              </a:rPr>
              <a:t>• The deployment passes the 10-hour Level 2 baseline.</a:t>
            </a:r>
            <a:endParaRPr lang="en-US" sz="1450" dirty="0"/>
          </a:p>
          <a:p>
            <a:pPr marL="0" indent="0">
              <a:buNone/>
            </a:pPr>
            <a:r>
              <a:rPr lang="en-US" sz="1450" dirty="0">
                <a:solidFill>
                  <a:srgbClr val="374151"/>
                </a:solidFill>
                <a:latin typeface="Aptos" pitchFamily="34" charset="0"/>
                <a:ea typeface="Aptos" pitchFamily="34" charset="-122"/>
                <a:cs typeface="Aptos" pitchFamily="34" charset="-120"/>
              </a:rPr>
              <a:t>• Cost range is reasonable for the planning stage.</a:t>
            </a:r>
            <a:endParaRPr lang="en-US" sz="1450" dirty="0"/>
          </a:p>
          <a:p>
            <a:pPr marL="0" indent="0">
              <a:buNone/>
            </a:pPr>
            <a:r>
              <a:rPr lang="en-US" sz="1450" dirty="0">
                <a:solidFill>
                  <a:srgbClr val="374151"/>
                </a:solidFill>
                <a:latin typeface="Aptos" pitchFamily="34" charset="0"/>
                <a:ea typeface="Aptos" pitchFamily="34" charset="-122"/>
                <a:cs typeface="Aptos" pitchFamily="34" charset="-120"/>
              </a:rPr>
              <a:t>• Operations can confirm dwell time and parking assumptions.</a:t>
            </a:r>
            <a:endParaRPr lang="en-US" sz="1450" dirty="0"/>
          </a:p>
          <a:p>
            <a:pPr marL="0" indent="0">
              <a:buNone/>
            </a:pPr>
            <a:r>
              <a:rPr lang="en-US" sz="1450" dirty="0">
                <a:solidFill>
                  <a:srgbClr val="374151"/>
                </a:solidFill>
                <a:latin typeface="Aptos" pitchFamily="34" charset="0"/>
                <a:ea typeface="Aptos" pitchFamily="34" charset="-122"/>
                <a:cs typeface="Aptos" pitchFamily="34" charset="-120"/>
              </a:rPr>
              <a:t>• Facilities and the utility can review electrical capacity.</a:t>
            </a:r>
            <a:endParaRPr lang="en-US" sz="1450" dirty="0"/>
          </a:p>
        </p:txBody>
      </p:sp>
      <p:sp>
        <p:nvSpPr>
          <p:cNvPr id="8" name="Shape 6"/>
          <p:cNvSpPr/>
          <p:nvPr/>
        </p:nvSpPr>
        <p:spPr>
          <a:xfrm>
            <a:off x="6400800" y="1508760"/>
            <a:ext cx="4983480" cy="3977640"/>
          </a:xfrm>
          <a:prstGeom prst="roundRect">
            <a:avLst>
              <a:gd name="adj" fmla="val 2759"/>
            </a:avLst>
          </a:prstGeom>
          <a:solidFill>
            <a:srgbClr val="FFFFFF"/>
          </a:solidFill>
          <a:ln w="12700">
            <a:solidFill>
              <a:srgbClr val="D1D5DB"/>
            </a:solidFill>
            <a:prstDash val="solid"/>
          </a:ln>
        </p:spPr>
        <p:txBody>
          <a:bodyPr/>
          <a:lstStyle/>
          <a:p>
            <a:endParaRPr/>
          </a:p>
        </p:txBody>
      </p:sp>
      <p:sp>
        <p:nvSpPr>
          <p:cNvPr id="9" name="Text 7"/>
          <p:cNvSpPr/>
          <p:nvPr/>
        </p:nvSpPr>
        <p:spPr>
          <a:xfrm>
            <a:off x="6693408" y="1874520"/>
            <a:ext cx="3474720" cy="301752"/>
          </a:xfrm>
          <a:prstGeom prst="rect">
            <a:avLst/>
          </a:prstGeom>
          <a:noFill/>
          <a:ln/>
        </p:spPr>
        <p:txBody>
          <a:bodyPr wrap="square" lIns="0" tIns="0" rIns="0" bIns="0" rtlCol="0" anchor="ct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Pause or redesign when...</a:t>
            </a:r>
            <a:endParaRPr lang="en-US" sz="1800" dirty="0"/>
          </a:p>
        </p:txBody>
      </p:sp>
      <p:sp>
        <p:nvSpPr>
          <p:cNvPr id="10" name="Text 8"/>
          <p:cNvSpPr/>
          <p:nvPr/>
        </p:nvSpPr>
        <p:spPr>
          <a:xfrm>
            <a:off x="6711696" y="2450592"/>
            <a:ext cx="4315968" cy="2103120"/>
          </a:xfrm>
          <a:prstGeom prst="rect">
            <a:avLst/>
          </a:prstGeom>
          <a:noFill/>
          <a:ln/>
        </p:spPr>
        <p:txBody>
          <a:bodyPr wrap="square" lIns="254" tIns="254" rIns="254" bIns="254" rtlCol="0" anchor="t">
            <a:normAutofit/>
          </a:bodyPr>
          <a:lstStyle/>
          <a:p>
            <a:pPr marL="0" indent="0">
              <a:buNone/>
            </a:pPr>
            <a:r>
              <a:rPr lang="en-US" sz="1450" dirty="0">
                <a:solidFill>
                  <a:srgbClr val="374151"/>
                </a:solidFill>
                <a:latin typeface="Aptos" pitchFamily="34" charset="0"/>
                <a:ea typeface="Aptos" pitchFamily="34" charset="-122"/>
                <a:cs typeface="Aptos" pitchFamily="34" charset="-120"/>
              </a:rPr>
              <a:t>• Level 2 cannot meet planning energy in the tested window.</a:t>
            </a:r>
            <a:endParaRPr lang="en-US" sz="1450" dirty="0"/>
          </a:p>
          <a:p>
            <a:pPr marL="0" indent="0">
              <a:buNone/>
            </a:pPr>
            <a:r>
              <a:rPr lang="en-US" sz="1450" dirty="0">
                <a:solidFill>
                  <a:srgbClr val="374151"/>
                </a:solidFill>
                <a:latin typeface="Aptos" pitchFamily="34" charset="0"/>
                <a:ea typeface="Aptos" pitchFamily="34" charset="-122"/>
                <a:cs typeface="Aptos" pitchFamily="34" charset="-120"/>
              </a:rPr>
              <a:t>• The highest-demand vehicle fails the individual energy check.</a:t>
            </a:r>
            <a:endParaRPr lang="en-US" sz="1450" dirty="0"/>
          </a:p>
          <a:p>
            <a:pPr marL="0" indent="0">
              <a:buNone/>
            </a:pPr>
            <a:r>
              <a:rPr lang="en-US" sz="1450" dirty="0">
                <a:solidFill>
                  <a:srgbClr val="374151"/>
                </a:solidFill>
                <a:latin typeface="Aptos" pitchFamily="34" charset="0"/>
                <a:ea typeface="Aptos" pitchFamily="34" charset="-122"/>
                <a:cs typeface="Aptos" pitchFamily="34" charset="-120"/>
              </a:rPr>
              <a:t>• Required ports exceed selected vehicles or layout looks unrealistic.</a:t>
            </a:r>
            <a:endParaRPr lang="en-US" sz="1450" dirty="0"/>
          </a:p>
          <a:p>
            <a:pPr marL="0" indent="0">
              <a:buNone/>
            </a:pPr>
            <a:r>
              <a:rPr lang="en-US" sz="1450" dirty="0">
                <a:solidFill>
                  <a:srgbClr val="374151"/>
                </a:solidFill>
                <a:latin typeface="Aptos" pitchFamily="34" charset="0"/>
                <a:ea typeface="Aptos" pitchFamily="34" charset="-122"/>
                <a:cs typeface="Aptos" pitchFamily="34" charset="-120"/>
              </a:rPr>
              <a:t>• Cost range suggests a site-specific assessment is needed first.</a:t>
            </a:r>
            <a:endParaRPr lang="en-US" sz="1450" dirty="0"/>
          </a:p>
        </p:txBody>
      </p:sp>
      <p:sp>
        <p:nvSpPr>
          <p:cNvPr id="11" name="Text 9"/>
          <p:cNvSpPr/>
          <p:nvPr/>
        </p:nvSpPr>
        <p:spPr>
          <a:xfrm>
            <a:off x="563880" y="5660877"/>
            <a:ext cx="11064240" cy="767353"/>
          </a:xfrm>
          <a:prstGeom prst="rect">
            <a:avLst/>
          </a:prstGeom>
          <a:noFill/>
          <a:ln/>
        </p:spPr>
        <p:txBody>
          <a:bodyPr wrap="square" lIns="0" tIns="0" rIns="0" bIns="0" rtlCol="0" anchor="ctr"/>
          <a:lstStyle/>
          <a:p>
            <a:pPr marL="0" indent="0" algn="ctr">
              <a:buNone/>
            </a:pPr>
            <a:r>
              <a:rPr sz="1300" b="1" dirty="0">
                <a:solidFill>
                  <a:srgbClr val="156082"/>
                </a:solidFill>
                <a:latin typeface="Aptos"/>
              </a:rPr>
              <a:t>Audience question: What must be verified before buying equipment? Actual schedules, parking layout, electrical capacity, permits, and vendor quotes.</a:t>
            </a:r>
            <a:r>
              <a:rPr lang="en-US" sz="1300" b="1" dirty="0">
                <a:solidFill>
                  <a:srgbClr val="156082"/>
                </a:solidFill>
                <a:latin typeface="Aptos"/>
              </a:rPr>
              <a:t> </a:t>
            </a:r>
            <a:r>
              <a:rPr lang="en-US" sz="1300" dirty="0"/>
              <a:t> </a:t>
            </a:r>
            <a:r>
              <a:rPr lang="en-US" sz="1300" b="1" dirty="0">
                <a:solidFill>
                  <a:srgbClr val="156082"/>
                </a:solidFill>
                <a:latin typeface="Aptos"/>
              </a:rPr>
              <a:t>Because in the end, this is a budgeting and screening model, not a construction-ready charging design.</a:t>
            </a:r>
          </a:p>
          <a:p>
            <a:pPr marL="0" indent="0" algn="ctr">
              <a:buNone/>
            </a:pPr>
            <a:endParaRPr lang="en-US" sz="1200" dirty="0"/>
          </a:p>
        </p:txBody>
      </p:sp>
      <p:sp>
        <p:nvSpPr>
          <p:cNvPr id="13" name="Text 11"/>
          <p:cNvSpPr/>
          <p:nvPr/>
        </p:nvSpPr>
        <p:spPr>
          <a:xfrm>
            <a:off x="502920" y="6473952"/>
            <a:ext cx="6492240" cy="182880"/>
          </a:xfrm>
          <a:prstGeom prst="rect">
            <a:avLst/>
          </a:prstGeom>
          <a:noFill/>
          <a:ln/>
        </p:spPr>
        <p:txBody>
          <a:bodyPr wrap="square" lIns="0" tIns="0" rIns="0" bIns="0" rtlCol="0" anchor="ctr"/>
          <a:lstStyle/>
          <a:p>
            <a:pPr marL="0" indent="0">
              <a:buNone/>
            </a:pPr>
            <a:r>
              <a:rPr lang="en-US" sz="850" dirty="0">
                <a:solidFill>
                  <a:srgbClr val="4B5563"/>
                </a:solidFill>
                <a:latin typeface="Aptos" pitchFamily="34" charset="0"/>
                <a:ea typeface="Aptos" pitchFamily="34" charset="-122"/>
                <a:cs typeface="Aptos" pitchFamily="34" charset="-120"/>
              </a:rPr>
              <a:t>DSC 680 Milestone 3  |  Level 2 charging infrastructure planning</a:t>
            </a:r>
            <a:endParaRPr lang="en-US" sz="850" dirty="0"/>
          </a:p>
        </p:txBody>
      </p:sp>
      <p:sp>
        <p:nvSpPr>
          <p:cNvPr id="14" name="Text 12"/>
          <p:cNvSpPr/>
          <p:nvPr/>
        </p:nvSpPr>
        <p:spPr>
          <a:xfrm>
            <a:off x="11109960" y="6473952"/>
            <a:ext cx="594360" cy="182880"/>
          </a:xfrm>
          <a:prstGeom prst="rect">
            <a:avLst/>
          </a:prstGeom>
          <a:noFill/>
          <a:ln/>
        </p:spPr>
        <p:txBody>
          <a:bodyPr wrap="square" lIns="0" tIns="0" rIns="0" bIns="0" rtlCol="0" anchor="ctr"/>
          <a:lstStyle/>
          <a:p>
            <a:pPr marL="0" indent="0" algn="r">
              <a:buNone/>
            </a:pPr>
            <a:r>
              <a:rPr lang="en-US" sz="850" dirty="0">
                <a:solidFill>
                  <a:srgbClr val="4B5563"/>
                </a:solidFill>
                <a:latin typeface="Aptos" pitchFamily="34" charset="0"/>
                <a:ea typeface="Aptos" pitchFamily="34" charset="-122"/>
                <a:cs typeface="Aptos" pitchFamily="34" charset="-120"/>
              </a:rPr>
              <a:t>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1172</Words>
  <Application>Microsoft Macintosh PowerPoint</Application>
  <PresentationFormat>Widescreen</PresentationFormat>
  <Paragraphs>120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Bellevue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Charging Infrastructure Planning for Commercial Fleets</dc:title>
  <dc:subject>DSC680 Milestone 3 Presentation</dc:subject>
  <dc:creator>Dan Morrow</dc:creator>
  <cp:lastModifiedBy>Dan Morrow</cp:lastModifiedBy>
  <cp:revision>2</cp:revision>
  <dcterms:created xsi:type="dcterms:W3CDTF">2026-09-27T18:45:14Z</dcterms:created>
  <dcterms:modified xsi:type="dcterms:W3CDTF">2026-10-04T18:02:50Z</dcterms:modified>
</cp:coreProperties>
</file>