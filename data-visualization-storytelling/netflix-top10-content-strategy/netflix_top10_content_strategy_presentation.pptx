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67" r:id="rId3"/>
    <p:sldId id="258" r:id="rId4"/>
    <p:sldId id="259" r:id="rId5"/>
    <p:sldId id="260" r:id="rId6"/>
    <p:sldId id="261" r:id="rId7"/>
    <p:sldId id="262" r:id="rId8"/>
    <p:sldId id="263" r:id="rId9"/>
    <p:sldId id="264" r:id="rId10"/>
    <p:sldId id="265" r:id="rId11"/>
    <p:sldId id="269" r:id="rId12"/>
    <p:sldId id="266"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664"/>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
          <c:y val="0"/>
          <c:w val="1"/>
          <c:h val="1"/>
        </c:manualLayout>
      </c:layout>
      <c:barChart>
        <c:barDir val="col"/>
        <c:grouping val="clustered"/>
        <c:varyColors val="0"/>
        <c:ser>
          <c:idx val="0"/>
          <c:order val="0"/>
          <c:tx>
            <c:strRef>
              <c:f>Sheet1!$B$1</c:f>
              <c:strCache>
                <c:ptCount val="1"/>
                <c:pt idx="0">
                  <c:v>Countries reached</c:v>
                </c:pt>
              </c:strCache>
            </c:strRef>
          </c:tx>
          <c:spPr>
            <a:solidFill>
              <a:srgbClr val="2F6F7E"/>
            </a:solidFill>
            <a:ln w="22860">
              <a:solidFill>
                <a:srgbClr val="2F6F7E"/>
              </a:solidFill>
            </a:ln>
            <a:effectLst/>
          </c:spPr>
          <c:invertIfNegative val="0"/>
          <c:dLbls>
            <c:numFmt formatCode="#,##0" sourceLinked="0"/>
            <c:spPr>
              <a:noFill/>
              <a:ln>
                <a:noFill/>
              </a:ln>
              <a:effectLst/>
            </c:spPr>
            <c:txPr>
              <a:bodyPr/>
              <a:lstStyle/>
              <a:p>
                <a:pPr>
                  <a:defRPr sz="800" b="0" i="0" u="none" strike="noStrike">
                    <a:solidFill>
                      <a:srgbClr val="FFFFFF"/>
                    </a:solidFill>
                    <a:latin typeface="Apto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Demon Slayer: Swordsmith Village</c:v>
                </c:pt>
                <c:pt idx="1">
                  <c:v>My Demon: Limited Series</c:v>
                </c:pt>
                <c:pt idx="2">
                  <c:v>Physical: 100: S1</c:v>
                </c:pt>
                <c:pt idx="3">
                  <c:v>Physical: 100: S2</c:v>
                </c:pt>
                <c:pt idx="4">
                  <c:v>Alice in Borderland: S2</c:v>
                </c:pt>
                <c:pt idx="5">
                  <c:v>ONE PIECE: S1</c:v>
                </c:pt>
                <c:pt idx="6">
                  <c:v>All of Us Are Dead: S1</c:v>
                </c:pt>
                <c:pt idx="7">
                  <c:v>Squid Game: S1</c:v>
                </c:pt>
              </c:strCache>
            </c:strRef>
          </c:cat>
          <c:val>
            <c:numRef>
              <c:f>Sheet1!$B$2:$B$9</c:f>
              <c:numCache>
                <c:formatCode>General</c:formatCode>
                <c:ptCount val="8"/>
                <c:pt idx="0">
                  <c:v>38</c:v>
                </c:pt>
                <c:pt idx="1">
                  <c:v>66</c:v>
                </c:pt>
                <c:pt idx="2">
                  <c:v>82</c:v>
                </c:pt>
                <c:pt idx="3">
                  <c:v>87</c:v>
                </c:pt>
                <c:pt idx="4">
                  <c:v>92</c:v>
                </c:pt>
                <c:pt idx="5">
                  <c:v>93</c:v>
                </c:pt>
                <c:pt idx="6">
                  <c:v>94</c:v>
                </c:pt>
                <c:pt idx="7">
                  <c:v>94</c:v>
                </c:pt>
              </c:numCache>
            </c:numRef>
          </c:val>
          <c:extLst>
            <c:ext xmlns:c16="http://schemas.microsoft.com/office/drawing/2014/chart" uri="{C3380CC4-5D6E-409C-BE32-E72D297353CC}">
              <c16:uniqueId val="{00000000-81AD-1746-AA92-422E97957F0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5D8DC"/>
            </a:solidFill>
            <a:prstDash val="solid"/>
            <a:round/>
          </a:ln>
        </c:spPr>
        <c:txPr>
          <a:bodyPr/>
          <a:lstStyle/>
          <a:p>
            <a:pPr>
              <a:defRPr b="0" i="0" u="none" strike="noStrike">
                <a:solidFill>
                  <a:srgbClr val="263238"/>
                </a:solidFill>
                <a:latin typeface="Aptos"/>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12700" cap="flat">
              <a:solidFill>
                <a:srgbClr val="333333"/>
              </a:solidFill>
              <a:prstDash val="solid"/>
              <a:round/>
            </a:ln>
          </c:spPr>
        </c:majorGridlines>
        <c:numFmt formatCode="General" sourceLinked="0"/>
        <c:majorTickMark val="out"/>
        <c:minorTickMark val="none"/>
        <c:tickLblPos val="nextTo"/>
        <c:spPr>
          <a:ln w="12700" cap="flat">
            <a:solidFill>
              <a:srgbClr val="D5D8DC"/>
            </a:solidFill>
            <a:prstDash val="solid"/>
            <a:round/>
          </a:ln>
        </c:spPr>
        <c:txPr>
          <a:bodyPr/>
          <a:lstStyle/>
          <a:p>
            <a:pPr>
              <a:defRPr b="0" i="0" u="none" strike="noStrike">
                <a:solidFill>
                  <a:srgbClr val="263238"/>
                </a:solidFill>
                <a:latin typeface="Aptos"/>
              </a:defRPr>
            </a:pPr>
            <a:endParaRPr lang="en-US"/>
          </a:p>
        </c:txPr>
        <c:crossAx val="2094734554"/>
        <c:crosses val="autoZero"/>
        <c:crossBetween val="between"/>
        <c:majorUnit val="20"/>
      </c:valAx>
      <c:spPr>
        <a:noFill/>
        <a:ln>
          <a:noFill/>
        </a:ln>
        <a:effectLst/>
      </c:spPr>
    </c:plotArea>
    <c:plotVisOnly val="1"/>
    <c:dispBlanksAs val="span"/>
    <c:showDLblsOverMax val="1"/>
  </c:chart>
  <c:spPr>
    <a:noFill/>
    <a:ln>
      <a:noFill/>
    </a:ln>
    <a:effectLst/>
  </c:spPr>
  <c:txPr>
    <a:bodyPr/>
    <a:lstStyle/>
    <a:p>
      <a:pPr>
        <a:defRPr>
          <a:solidFill>
            <a:srgbClr val="263238"/>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Squid Game: S1</c:v>
                </c:pt>
              </c:strCache>
            </c:strRef>
          </c:tx>
          <c:spPr>
            <a:ln w="22860" cap="flat">
              <a:solidFill>
                <a:srgbClr val="2F6F7E"/>
              </a:solidFill>
              <a:prstDash val="solid"/>
              <a:round/>
            </a:ln>
            <a:effectLst/>
          </c:spPr>
          <c:marker>
            <c:symbol val="circle"/>
            <c:size val="6"/>
            <c:spPr>
              <a:solidFill>
                <a:srgbClr val="E50914"/>
              </a:solidFill>
              <a:ln w="9525" cap="flat">
                <a:solidFill>
                  <a:srgbClr val="E50914"/>
                </a:solidFill>
                <a:prstDash val="solid"/>
                <a:round/>
              </a:ln>
              <a:effectLst/>
            </c:spPr>
          </c:marker>
          <c:cat>
            <c:strRef>
              <c:f>Sheet1!$A$2:$A$23</c:f>
              <c:strCache>
                <c:ptCount val="22"/>
                <c:pt idx="0">
                  <c:v>W1</c:v>
                </c:pt>
                <c:pt idx="1">
                  <c:v>W2</c:v>
                </c:pt>
                <c:pt idx="2">
                  <c:v>W3</c:v>
                </c:pt>
                <c:pt idx="3">
                  <c:v>W4</c:v>
                </c:pt>
                <c:pt idx="4">
                  <c:v>W5</c:v>
                </c:pt>
                <c:pt idx="5">
                  <c:v>W6</c:v>
                </c:pt>
                <c:pt idx="6">
                  <c:v>W7</c:v>
                </c:pt>
                <c:pt idx="7">
                  <c:v>W8</c:v>
                </c:pt>
                <c:pt idx="8">
                  <c:v>W9</c:v>
                </c:pt>
                <c:pt idx="9">
                  <c:v>W10</c:v>
                </c:pt>
                <c:pt idx="10">
                  <c:v>W11</c:v>
                </c:pt>
                <c:pt idx="11">
                  <c:v>W12</c:v>
                </c:pt>
                <c:pt idx="12">
                  <c:v>W13</c:v>
                </c:pt>
                <c:pt idx="13">
                  <c:v>W14</c:v>
                </c:pt>
                <c:pt idx="14">
                  <c:v>W15</c:v>
                </c:pt>
                <c:pt idx="15">
                  <c:v>W16</c:v>
                </c:pt>
                <c:pt idx="16">
                  <c:v>W17</c:v>
                </c:pt>
                <c:pt idx="17">
                  <c:v>W18</c:v>
                </c:pt>
                <c:pt idx="18">
                  <c:v>W19</c:v>
                </c:pt>
                <c:pt idx="19">
                  <c:v>W20</c:v>
                </c:pt>
                <c:pt idx="20">
                  <c:v>W21</c:v>
                </c:pt>
                <c:pt idx="21">
                  <c:v>W22</c:v>
                </c:pt>
              </c:strCache>
            </c:strRef>
          </c:cat>
          <c:val>
            <c:numRef>
              <c:f>Sheet1!$B$2:$B$23</c:f>
              <c:numCache>
                <c:formatCode>General</c:formatCode>
                <c:ptCount val="22"/>
                <c:pt idx="0">
                  <c:v>10</c:v>
                </c:pt>
                <c:pt idx="1">
                  <c:v>10</c:v>
                </c:pt>
                <c:pt idx="2">
                  <c:v>10</c:v>
                </c:pt>
                <c:pt idx="3">
                  <c:v>10</c:v>
                </c:pt>
                <c:pt idx="4">
                  <c:v>10</c:v>
                </c:pt>
                <c:pt idx="5">
                  <c:v>10</c:v>
                </c:pt>
                <c:pt idx="6">
                  <c:v>10</c:v>
                </c:pt>
                <c:pt idx="7">
                  <c:v>10</c:v>
                </c:pt>
                <c:pt idx="8">
                  <c:v>10</c:v>
                </c:pt>
                <c:pt idx="9">
                  <c:v>8</c:v>
                </c:pt>
                <c:pt idx="10">
                  <c:v>8</c:v>
                </c:pt>
                <c:pt idx="11">
                  <c:v>7</c:v>
                </c:pt>
                <c:pt idx="12">
                  <c:v>7</c:v>
                </c:pt>
                <c:pt idx="13">
                  <c:v>7</c:v>
                </c:pt>
                <c:pt idx="14">
                  <c:v>6</c:v>
                </c:pt>
                <c:pt idx="15">
                  <c:v>5</c:v>
                </c:pt>
                <c:pt idx="16">
                  <c:v>3</c:v>
                </c:pt>
                <c:pt idx="17">
                  <c:v>1</c:v>
                </c:pt>
                <c:pt idx="18">
                  <c:v>3</c:v>
                </c:pt>
                <c:pt idx="19">
                  <c:v>1</c:v>
                </c:pt>
                <c:pt idx="20">
                  <c:v>5</c:v>
                </c:pt>
                <c:pt idx="21">
                  <c:v>4</c:v>
                </c:pt>
              </c:numCache>
            </c:numRef>
          </c:val>
          <c:smooth val="0"/>
          <c:extLst>
            <c:ext xmlns:c16="http://schemas.microsoft.com/office/drawing/2014/chart" uri="{C3380CC4-5D6E-409C-BE32-E72D297353CC}">
              <c16:uniqueId val="{00000000-EB4E-3642-B2B2-86AFD7DD92DC}"/>
            </c:ext>
          </c:extLst>
        </c:ser>
        <c:ser>
          <c:idx val="1"/>
          <c:order val="1"/>
          <c:tx>
            <c:strRef>
              <c:f>Sheet1!$C$1</c:f>
              <c:strCache>
                <c:ptCount val="1"/>
                <c:pt idx="0">
                  <c:v>All of Us Are Dead: S1</c:v>
                </c:pt>
              </c:strCache>
            </c:strRef>
          </c:tx>
          <c:spPr>
            <a:ln w="22860" cap="flat">
              <a:solidFill>
                <a:srgbClr val="B07636"/>
              </a:solidFill>
              <a:prstDash val="solid"/>
              <a:round/>
            </a:ln>
            <a:effectLst/>
          </c:spPr>
          <c:marker>
            <c:symbol val="circle"/>
            <c:size val="6"/>
            <c:spPr>
              <a:solidFill>
                <a:srgbClr val="F4B400"/>
              </a:solidFill>
              <a:ln w="9525" cap="flat">
                <a:solidFill>
                  <a:srgbClr val="F4B400"/>
                </a:solidFill>
                <a:prstDash val="solid"/>
                <a:round/>
              </a:ln>
              <a:effectLst/>
            </c:spPr>
          </c:marker>
          <c:cat>
            <c:strRef>
              <c:f>Sheet1!$A$2:$A$23</c:f>
              <c:strCache>
                <c:ptCount val="22"/>
                <c:pt idx="0">
                  <c:v>W1</c:v>
                </c:pt>
                <c:pt idx="1">
                  <c:v>W2</c:v>
                </c:pt>
                <c:pt idx="2">
                  <c:v>W3</c:v>
                </c:pt>
                <c:pt idx="3">
                  <c:v>W4</c:v>
                </c:pt>
                <c:pt idx="4">
                  <c:v>W5</c:v>
                </c:pt>
                <c:pt idx="5">
                  <c:v>W6</c:v>
                </c:pt>
                <c:pt idx="6">
                  <c:v>W7</c:v>
                </c:pt>
                <c:pt idx="7">
                  <c:v>W8</c:v>
                </c:pt>
                <c:pt idx="8">
                  <c:v>W9</c:v>
                </c:pt>
                <c:pt idx="9">
                  <c:v>W10</c:v>
                </c:pt>
                <c:pt idx="10">
                  <c:v>W11</c:v>
                </c:pt>
                <c:pt idx="11">
                  <c:v>W12</c:v>
                </c:pt>
                <c:pt idx="12">
                  <c:v>W13</c:v>
                </c:pt>
                <c:pt idx="13">
                  <c:v>W14</c:v>
                </c:pt>
                <c:pt idx="14">
                  <c:v>W15</c:v>
                </c:pt>
                <c:pt idx="15">
                  <c:v>W16</c:v>
                </c:pt>
                <c:pt idx="16">
                  <c:v>W17</c:v>
                </c:pt>
                <c:pt idx="17">
                  <c:v>W18</c:v>
                </c:pt>
                <c:pt idx="18">
                  <c:v>W19</c:v>
                </c:pt>
                <c:pt idx="19">
                  <c:v>W20</c:v>
                </c:pt>
                <c:pt idx="20">
                  <c:v>W21</c:v>
                </c:pt>
                <c:pt idx="21">
                  <c:v>W22</c:v>
                </c:pt>
              </c:strCache>
            </c:strRef>
          </c:cat>
          <c:val>
            <c:numRef>
              <c:f>Sheet1!$C$2:$C$23</c:f>
              <c:numCache>
                <c:formatCode>General</c:formatCode>
                <c:ptCount val="22"/>
                <c:pt idx="0">
                  <c:v>10</c:v>
                </c:pt>
                <c:pt idx="1">
                  <c:v>10</c:v>
                </c:pt>
                <c:pt idx="2">
                  <c:v>10</c:v>
                </c:pt>
                <c:pt idx="3">
                  <c:v>10</c:v>
                </c:pt>
                <c:pt idx="4">
                  <c:v>10</c:v>
                </c:pt>
                <c:pt idx="5">
                  <c:v>8</c:v>
                </c:pt>
                <c:pt idx="6">
                  <c:v>7</c:v>
                </c:pt>
                <c:pt idx="7">
                  <c:v>6</c:v>
                </c:pt>
                <c:pt idx="8">
                  <c:v>4</c:v>
                </c:pt>
                <c:pt idx="9">
                  <c:v>4</c:v>
                </c:pt>
                <c:pt idx="10">
                  <c:v>3</c:v>
                </c:pt>
              </c:numCache>
            </c:numRef>
          </c:val>
          <c:smooth val="0"/>
          <c:extLst>
            <c:ext xmlns:c16="http://schemas.microsoft.com/office/drawing/2014/chart" uri="{C3380CC4-5D6E-409C-BE32-E72D297353CC}">
              <c16:uniqueId val="{00000001-EB4E-3642-B2B2-86AFD7DD92DC}"/>
            </c:ext>
          </c:extLst>
        </c:ser>
        <c:ser>
          <c:idx val="2"/>
          <c:order val="2"/>
          <c:tx>
            <c:strRef>
              <c:f>Sheet1!$D$1</c:f>
              <c:strCache>
                <c:ptCount val="1"/>
                <c:pt idx="0">
                  <c:v>Alice in Borderland: S2</c:v>
                </c:pt>
              </c:strCache>
            </c:strRef>
          </c:tx>
          <c:spPr>
            <a:ln w="22860" cap="flat">
              <a:solidFill>
                <a:srgbClr val="5C6F7E"/>
              </a:solidFill>
              <a:prstDash val="solid"/>
              <a:round/>
            </a:ln>
            <a:effectLst/>
          </c:spPr>
          <c:marker>
            <c:symbol val="circle"/>
            <c:size val="6"/>
            <c:spPr>
              <a:solidFill>
                <a:srgbClr val="3AA76D"/>
              </a:solidFill>
              <a:ln w="9525" cap="flat">
                <a:solidFill>
                  <a:srgbClr val="3AA76D"/>
                </a:solidFill>
                <a:prstDash val="solid"/>
                <a:round/>
              </a:ln>
              <a:effectLst/>
            </c:spPr>
          </c:marker>
          <c:cat>
            <c:strRef>
              <c:f>Sheet1!$A$2:$A$23</c:f>
              <c:strCache>
                <c:ptCount val="22"/>
                <c:pt idx="0">
                  <c:v>W1</c:v>
                </c:pt>
                <c:pt idx="1">
                  <c:v>W2</c:v>
                </c:pt>
                <c:pt idx="2">
                  <c:v>W3</c:v>
                </c:pt>
                <c:pt idx="3">
                  <c:v>W4</c:v>
                </c:pt>
                <c:pt idx="4">
                  <c:v>W5</c:v>
                </c:pt>
                <c:pt idx="5">
                  <c:v>W6</c:v>
                </c:pt>
                <c:pt idx="6">
                  <c:v>W7</c:v>
                </c:pt>
                <c:pt idx="7">
                  <c:v>W8</c:v>
                </c:pt>
                <c:pt idx="8">
                  <c:v>W9</c:v>
                </c:pt>
                <c:pt idx="9">
                  <c:v>W10</c:v>
                </c:pt>
                <c:pt idx="10">
                  <c:v>W11</c:v>
                </c:pt>
                <c:pt idx="11">
                  <c:v>W12</c:v>
                </c:pt>
                <c:pt idx="12">
                  <c:v>W13</c:v>
                </c:pt>
                <c:pt idx="13">
                  <c:v>W14</c:v>
                </c:pt>
                <c:pt idx="14">
                  <c:v>W15</c:v>
                </c:pt>
                <c:pt idx="15">
                  <c:v>W16</c:v>
                </c:pt>
                <c:pt idx="16">
                  <c:v>W17</c:v>
                </c:pt>
                <c:pt idx="17">
                  <c:v>W18</c:v>
                </c:pt>
                <c:pt idx="18">
                  <c:v>W19</c:v>
                </c:pt>
                <c:pt idx="19">
                  <c:v>W20</c:v>
                </c:pt>
                <c:pt idx="20">
                  <c:v>W21</c:v>
                </c:pt>
                <c:pt idx="21">
                  <c:v>W22</c:v>
                </c:pt>
              </c:strCache>
            </c:strRef>
          </c:cat>
          <c:val>
            <c:numRef>
              <c:f>Sheet1!$D$2:$D$23</c:f>
              <c:numCache>
                <c:formatCode>General</c:formatCode>
                <c:ptCount val="22"/>
                <c:pt idx="0">
                  <c:v>10</c:v>
                </c:pt>
                <c:pt idx="1">
                  <c:v>10</c:v>
                </c:pt>
                <c:pt idx="2">
                  <c:v>8</c:v>
                </c:pt>
                <c:pt idx="3">
                  <c:v>7</c:v>
                </c:pt>
                <c:pt idx="4">
                  <c:v>5</c:v>
                </c:pt>
              </c:numCache>
            </c:numRef>
          </c:val>
          <c:smooth val="0"/>
          <c:extLst>
            <c:ext xmlns:c16="http://schemas.microsoft.com/office/drawing/2014/chart" uri="{C3380CC4-5D6E-409C-BE32-E72D297353CC}">
              <c16:uniqueId val="{00000002-EB4E-3642-B2B2-86AFD7DD92DC}"/>
            </c:ext>
          </c:extLst>
        </c:ser>
        <c:ser>
          <c:idx val="3"/>
          <c:order val="3"/>
          <c:tx>
            <c:strRef>
              <c:f>Sheet1!$E$1</c:f>
              <c:strCache>
                <c:ptCount val="1"/>
                <c:pt idx="0">
                  <c:v>ONE PIECE: S1</c:v>
                </c:pt>
              </c:strCache>
            </c:strRef>
          </c:tx>
          <c:spPr>
            <a:ln w="22860" cap="flat">
              <a:solidFill>
                <a:srgbClr val="598069"/>
              </a:solidFill>
              <a:prstDash val="solid"/>
              <a:round/>
            </a:ln>
            <a:effectLst/>
          </c:spPr>
          <c:marker>
            <c:symbol val="circle"/>
            <c:size val="6"/>
            <c:spPr>
              <a:solidFill>
                <a:srgbClr val="4C9AFF"/>
              </a:solidFill>
              <a:ln w="9525" cap="flat">
                <a:solidFill>
                  <a:srgbClr val="4C9AFF"/>
                </a:solidFill>
                <a:prstDash val="solid"/>
                <a:round/>
              </a:ln>
              <a:effectLst/>
            </c:spPr>
          </c:marker>
          <c:cat>
            <c:strRef>
              <c:f>Sheet1!$A$2:$A$23</c:f>
              <c:strCache>
                <c:ptCount val="22"/>
                <c:pt idx="0">
                  <c:v>W1</c:v>
                </c:pt>
                <c:pt idx="1">
                  <c:v>W2</c:v>
                </c:pt>
                <c:pt idx="2">
                  <c:v>W3</c:v>
                </c:pt>
                <c:pt idx="3">
                  <c:v>W4</c:v>
                </c:pt>
                <c:pt idx="4">
                  <c:v>W5</c:v>
                </c:pt>
                <c:pt idx="5">
                  <c:v>W6</c:v>
                </c:pt>
                <c:pt idx="6">
                  <c:v>W7</c:v>
                </c:pt>
                <c:pt idx="7">
                  <c:v>W8</c:v>
                </c:pt>
                <c:pt idx="8">
                  <c:v>W9</c:v>
                </c:pt>
                <c:pt idx="9">
                  <c:v>W10</c:v>
                </c:pt>
                <c:pt idx="10">
                  <c:v>W11</c:v>
                </c:pt>
                <c:pt idx="11">
                  <c:v>W12</c:v>
                </c:pt>
                <c:pt idx="12">
                  <c:v>W13</c:v>
                </c:pt>
                <c:pt idx="13">
                  <c:v>W14</c:v>
                </c:pt>
                <c:pt idx="14">
                  <c:v>W15</c:v>
                </c:pt>
                <c:pt idx="15">
                  <c:v>W16</c:v>
                </c:pt>
                <c:pt idx="16">
                  <c:v>W17</c:v>
                </c:pt>
                <c:pt idx="17">
                  <c:v>W18</c:v>
                </c:pt>
                <c:pt idx="18">
                  <c:v>W19</c:v>
                </c:pt>
                <c:pt idx="19">
                  <c:v>W20</c:v>
                </c:pt>
                <c:pt idx="20">
                  <c:v>W21</c:v>
                </c:pt>
                <c:pt idx="21">
                  <c:v>W22</c:v>
                </c:pt>
              </c:strCache>
            </c:strRef>
          </c:cat>
          <c:val>
            <c:numRef>
              <c:f>Sheet1!$E$2:$E$23</c:f>
              <c:numCache>
                <c:formatCode>General</c:formatCode>
                <c:ptCount val="22"/>
                <c:pt idx="0">
                  <c:v>10</c:v>
                </c:pt>
                <c:pt idx="1">
                  <c:v>10</c:v>
                </c:pt>
                <c:pt idx="2">
                  <c:v>10</c:v>
                </c:pt>
                <c:pt idx="3">
                  <c:v>8</c:v>
                </c:pt>
                <c:pt idx="4">
                  <c:v>5</c:v>
                </c:pt>
                <c:pt idx="5">
                  <c:v>7</c:v>
                </c:pt>
                <c:pt idx="6">
                  <c:v>5</c:v>
                </c:pt>
                <c:pt idx="7">
                  <c:v>3</c:v>
                </c:pt>
              </c:numCache>
            </c:numRef>
          </c:val>
          <c:smooth val="0"/>
          <c:extLst>
            <c:ext xmlns:c16="http://schemas.microsoft.com/office/drawing/2014/chart" uri="{C3380CC4-5D6E-409C-BE32-E72D297353CC}">
              <c16:uniqueId val="{00000003-EB4E-3642-B2B2-86AFD7DD92DC}"/>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D5D8DC"/>
            </a:solidFill>
            <a:prstDash val="solid"/>
            <a:round/>
          </a:ln>
        </c:spPr>
        <c:txPr>
          <a:bodyPr/>
          <a:lstStyle/>
          <a:p>
            <a:pPr>
              <a:defRPr b="0" i="0" u="none" strike="noStrike">
                <a:solidFill>
                  <a:srgbClr val="263238"/>
                </a:solidFill>
                <a:latin typeface="Aptos"/>
              </a:defRPr>
            </a:pPr>
            <a:endParaRPr lang="en-US"/>
          </a:p>
        </c:txPr>
        <c:crossAx val="2094734552"/>
        <c:crosses val="autoZero"/>
        <c:auto val="1"/>
        <c:lblAlgn val="ctr"/>
        <c:lblOffset val="100"/>
        <c:noMultiLvlLbl val="1"/>
      </c:catAx>
      <c:valAx>
        <c:axId val="2094734552"/>
        <c:scaling>
          <c:orientation val="minMax"/>
          <c:max val="10"/>
          <c:min val="0"/>
        </c:scaling>
        <c:delete val="0"/>
        <c:axPos val="l"/>
        <c:majorGridlines>
          <c:spPr>
            <a:ln w="12700" cap="flat">
              <a:solidFill>
                <a:srgbClr val="333333"/>
              </a:solidFill>
              <a:prstDash val="solid"/>
              <a:round/>
            </a:ln>
          </c:spPr>
        </c:majorGridlines>
        <c:numFmt formatCode="General" sourceLinked="0"/>
        <c:majorTickMark val="out"/>
        <c:minorTickMark val="none"/>
        <c:tickLblPos val="nextTo"/>
        <c:spPr>
          <a:ln w="12700" cap="flat">
            <a:solidFill>
              <a:srgbClr val="D5D8DC"/>
            </a:solidFill>
            <a:prstDash val="solid"/>
            <a:round/>
          </a:ln>
        </c:spPr>
        <c:txPr>
          <a:bodyPr/>
          <a:lstStyle/>
          <a:p>
            <a:pPr>
              <a:defRPr b="0" i="0" u="none" strike="noStrike">
                <a:solidFill>
                  <a:srgbClr val="263238"/>
                </a:solidFill>
                <a:latin typeface="Aptos"/>
              </a:defRPr>
            </a:pPr>
            <a:endParaRPr lang="en-US"/>
          </a:p>
        </c:txPr>
        <c:crossAx val="2094734554"/>
        <c:crosses val="autoZero"/>
        <c:crossBetween val="between"/>
        <c:majorUnit val="2"/>
      </c:valAx>
      <c:spPr>
        <a:noFill/>
        <a:ln>
          <a:noFill/>
        </a:ln>
        <a:effectLst/>
      </c:spPr>
    </c:plotArea>
    <c:legend>
      <c:legendPos val="b"/>
      <c:overlay val="0"/>
      <c:txPr>
        <a:bodyPr/>
        <a:lstStyle/>
        <a:p>
          <a:pPr>
            <a:defRPr sz="750">
              <a:solidFill>
                <a:srgbClr val="E6E6E6"/>
              </a:solidFill>
              <a:latin typeface="Aptos"/>
              <a:cs typeface="Aptos"/>
            </a:defRPr>
          </a:pPr>
          <a:endParaRPr lang="en-US"/>
        </a:p>
      </c:txPr>
    </c:legend>
    <c:plotVisOnly val="1"/>
    <c:dispBlanksAs val="span"/>
    <c:showDLblsOverMax val="1"/>
  </c:chart>
  <c:spPr>
    <a:noFill/>
    <a:ln>
      <a:noFill/>
    </a:ln>
    <a:effectLst/>
  </c:spPr>
  <c:txPr>
    <a:bodyPr/>
    <a:lstStyle/>
    <a:p>
      <a:pPr>
        <a:defRPr>
          <a:solidFill>
            <a:srgbClr val="263238"/>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First 91-day views (millions)</c:v>
                </c:pt>
              </c:strCache>
            </c:strRef>
          </c:tx>
          <c:spPr>
            <a:solidFill>
              <a:srgbClr val="2F6F7E"/>
            </a:solidFill>
            <a:ln w="22860">
              <a:solidFill>
                <a:srgbClr val="2F6F7E"/>
              </a:solidFill>
            </a:ln>
            <a:effectLst/>
          </c:spPr>
          <c:invertIfNegative val="0"/>
          <c:dLbls>
            <c:numFmt formatCode="#,##0" sourceLinked="0"/>
            <c:spPr>
              <a:noFill/>
              <a:ln>
                <a:noFill/>
              </a:ln>
              <a:effectLst/>
            </c:spPr>
            <c:txPr>
              <a:bodyPr/>
              <a:lstStyle/>
              <a:p>
                <a:pPr>
                  <a:defRPr sz="850" b="0" i="0" u="none" strike="noStrike">
                    <a:solidFill>
                      <a:srgbClr val="FFFFFF"/>
                    </a:solidFill>
                    <a:latin typeface="Apto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Films (Non-English)</c:v>
                </c:pt>
                <c:pt idx="1">
                  <c:v>TV (Non-English)</c:v>
                </c:pt>
                <c:pt idx="2">
                  <c:v>TV (English)</c:v>
                </c:pt>
                <c:pt idx="3">
                  <c:v>Films (English)</c:v>
                </c:pt>
              </c:strCache>
            </c:strRef>
          </c:cat>
          <c:val>
            <c:numRef>
              <c:f>Sheet1!$B$2:$B$5</c:f>
              <c:numCache>
                <c:formatCode>General</c:formatCode>
                <c:ptCount val="4"/>
                <c:pt idx="0">
                  <c:v>715.3</c:v>
                </c:pt>
                <c:pt idx="1">
                  <c:v>939.8</c:v>
                </c:pt>
                <c:pt idx="2">
                  <c:v>1202.5</c:v>
                </c:pt>
                <c:pt idx="3">
                  <c:v>1545.7</c:v>
                </c:pt>
              </c:numCache>
            </c:numRef>
          </c:val>
          <c:extLst>
            <c:ext xmlns:c16="http://schemas.microsoft.com/office/drawing/2014/chart" uri="{C3380CC4-5D6E-409C-BE32-E72D297353CC}">
              <c16:uniqueId val="{00000000-CF1D-874A-AA94-5EB1A671D43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5D8DC"/>
            </a:solidFill>
            <a:prstDash val="solid"/>
            <a:round/>
          </a:ln>
        </c:spPr>
        <c:txPr>
          <a:bodyPr/>
          <a:lstStyle/>
          <a:p>
            <a:pPr>
              <a:defRPr b="0" i="0" u="none" strike="noStrike">
                <a:solidFill>
                  <a:srgbClr val="263238"/>
                </a:solidFill>
                <a:latin typeface="Aptos"/>
              </a:defRPr>
            </a:pPr>
            <a:endParaRPr lang="en-US"/>
          </a:p>
        </c:txPr>
        <c:crossAx val="2094734552"/>
        <c:crosses val="autoZero"/>
        <c:auto val="1"/>
        <c:lblAlgn val="ctr"/>
        <c:lblOffset val="100"/>
        <c:noMultiLvlLbl val="1"/>
      </c:catAx>
      <c:valAx>
        <c:axId val="2094734552"/>
        <c:scaling>
          <c:orientation val="minMax"/>
          <c:max val="1700"/>
          <c:min val="0"/>
        </c:scaling>
        <c:delete val="0"/>
        <c:axPos val="l"/>
        <c:majorGridlines>
          <c:spPr>
            <a:ln w="12700" cap="flat">
              <a:solidFill>
                <a:srgbClr val="333333"/>
              </a:solidFill>
              <a:prstDash val="solid"/>
              <a:round/>
            </a:ln>
          </c:spPr>
        </c:majorGridlines>
        <c:numFmt formatCode="General" sourceLinked="0"/>
        <c:majorTickMark val="out"/>
        <c:minorTickMark val="none"/>
        <c:tickLblPos val="nextTo"/>
        <c:spPr>
          <a:ln w="12700" cap="flat">
            <a:solidFill>
              <a:srgbClr val="D5D8DC"/>
            </a:solidFill>
            <a:prstDash val="solid"/>
            <a:round/>
          </a:ln>
        </c:spPr>
        <c:txPr>
          <a:bodyPr/>
          <a:lstStyle/>
          <a:p>
            <a:pPr>
              <a:defRPr b="0" i="0" u="none" strike="noStrike">
                <a:solidFill>
                  <a:srgbClr val="263238"/>
                </a:solidFill>
                <a:latin typeface="Aptos"/>
              </a:defRPr>
            </a:pPr>
            <a:endParaRPr lang="en-US"/>
          </a:p>
        </c:txPr>
        <c:crossAx val="2094734554"/>
        <c:crosses val="autoZero"/>
        <c:crossBetween val="between"/>
        <c:majorUnit val="400"/>
      </c:valAx>
      <c:spPr>
        <a:noFill/>
        <a:ln>
          <a:noFill/>
        </a:ln>
        <a:effectLst/>
      </c:spPr>
    </c:plotArea>
    <c:plotVisOnly val="1"/>
    <c:dispBlanksAs val="span"/>
    <c:showDLblsOverMax val="1"/>
  </c:chart>
  <c:spPr>
    <a:noFill/>
    <a:ln>
      <a:noFill/>
    </a:ln>
    <a:effectLst/>
  </c:spPr>
  <c:txPr>
    <a:bodyPr/>
    <a:lstStyle/>
    <a:p>
      <a:pPr>
        <a:defRPr>
          <a:solidFill>
            <a:srgbClr val="263238"/>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1015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Frame the deck as a strategy story, not just a set of popularity charts. The main theme is that Netflix’s next growth opportunity may come from globally adaptable Asian and non-English storytelling.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thesis slide. The goal is not simply to identify which titles were popular. The bigger question is what kind of content travels well across countries and stays relevant over time. Titles like Squid Game, All of Us Are Dead, Alice in Borderland, Physical: 100, ONE PIECE, and KPop Demon Hunters suggest audiences are open to stories outside the traditional Hollywood-first model.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up the pattern before the charts. Squid Game is the obvious example, but the larger pattern includes Korean drama, Japanese thrillers, Asian IP adaptations, reality competition content, and current Asian-inspired films.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satisfies the data foundation. Using all three datasets avoids leaning too heavily on one ranking list. Global weekly data shows attention over time, country-level data shows reach, and the Most Popular dataset shows bigger-picture success.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focuses on reach. A title that appears across 80 or 90 countries has more strategic value because it can scale globally. Squid Game and All of Us Are Dead reached 94 countries, while ONE PIECE and Alice in Borderland also reached more than 90.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looks at staying power. A strong release week is helpful, but staying in the Global Top 10 for several weeks suggests continued interest. Squid Game stayed in the Global Top 10 for 22 weeks, while other titles also remained visible beyond launch.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that non-English content competes at a large scale. English content still leads overall, but non-English TV and films are large enough to be part of Netflix’s mainstream growth strategy. Squid Game is the standout proof point.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where selected titles appeared across a sample of major markets. The goal is not to list every country. It is to show that the same titles appear across North America, Europe, Latin America, and Asia, which supports the idea that these stories cross market boundaries.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combines reach and staying power. A title that reaches many countries has global scale. A title that stays in the Top 10 for multiple weeks has continued demand. Squid Game is the clearest example, but the pattern extends to All of Us Are Dead, ONE PIECE, Alice in Borderland, and others.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final visual turns the data into the recommendation. The strongest opportunities are not just titles with one good week or one strong country. The best opportunities are titles with both global reach and staying power. Netflix should treat global Asian content as a mainstream investment category, not a side category.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does not suggest that Netflix should move away from English-language content. Instead, it suggests that Netflix has a major opportunity to treat globally adaptable Asian-originated content as part of its mainstream growth strategy. Titles like Squid Game, All of Us Are Dead, Alice in Borderland, Physical: 100, ONE PIECE, and KPop Demon Hunters show that these stories can cross borders and stay visible. The call to action is for Netflix to increase investment in this category, market these titles as major releases, and use data signals like country reach and Top 10 staying power to guide future content decisions.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071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LIGHT_MASTER">
    <p:bg>
      <p:bgPr>
        <a:solidFill>
          <a:srgbClr val="F7F4E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28663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7F3"/>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F6F7E"/>
          </a:solidFill>
          <a:ln w="12700">
            <a:noFill/>
            <a:prstDash val="solid"/>
          </a:ln>
        </p:spPr>
        <p:txBody>
          <a:bodyPr/>
          <a:lstStyle/>
          <a:p>
            <a:endParaRPr/>
          </a:p>
        </p:txBody>
      </p:sp>
      <p:sp>
        <p:nvSpPr>
          <p:cNvPr id="3" name="Text 1"/>
          <p:cNvSpPr/>
          <p:nvPr/>
        </p:nvSpPr>
        <p:spPr>
          <a:xfrm>
            <a:off x="11521440" y="237744"/>
            <a:ext cx="347472" cy="182880"/>
          </a:xfrm>
          <a:prstGeom prst="rect">
            <a:avLst/>
          </a:prstGeom>
          <a:noFill/>
          <a:ln>
            <a:noFill/>
          </a:ln>
        </p:spPr>
        <p:txBody>
          <a:bodyPr wrap="square" rtlCol="0" anchor="ctr"/>
          <a:lstStyle/>
          <a:p>
            <a:pPr marL="0" indent="0" algn="r">
              <a:buNone/>
            </a:pPr>
            <a:r>
              <a:rPr lang="en-US" sz="800" dirty="0">
                <a:solidFill>
                  <a:srgbClr val="626B72"/>
                </a:solidFill>
                <a:latin typeface="Aptos" pitchFamily="34" charset="0"/>
                <a:ea typeface="Aptos" pitchFamily="34" charset="-122"/>
                <a:cs typeface="Aptos" pitchFamily="34" charset="-120"/>
              </a:rPr>
              <a:t>01</a:t>
            </a:r>
            <a:endParaRPr lang="en-US" sz="800" dirty="0"/>
          </a:p>
        </p:txBody>
      </p:sp>
      <p:sp>
        <p:nvSpPr>
          <p:cNvPr id="4" name="Text 2"/>
          <p:cNvSpPr/>
          <p:nvPr/>
        </p:nvSpPr>
        <p:spPr>
          <a:xfrm>
            <a:off x="749808" y="1920240"/>
            <a:ext cx="10789920" cy="685800"/>
          </a:xfrm>
          <a:prstGeom prst="rect">
            <a:avLst/>
          </a:prstGeom>
          <a:noFill/>
          <a:ln>
            <a:noFill/>
          </a:ln>
        </p:spPr>
        <p:txBody>
          <a:bodyPr wrap="square" lIns="0" tIns="0" rIns="0" bIns="0" rtlCol="0" anchor="ctr">
            <a:normAutofit/>
          </a:bodyPr>
          <a:lstStyle/>
          <a:p>
            <a:pPr marL="0" indent="0">
              <a:buNone/>
            </a:pPr>
            <a:r>
              <a:rPr lang="en-US" sz="4500" b="1" dirty="0">
                <a:solidFill>
                  <a:srgbClr val="263238"/>
                </a:solidFill>
                <a:latin typeface="Aptos Display" pitchFamily="34" charset="0"/>
                <a:ea typeface="Aptos Display" pitchFamily="34" charset="-122"/>
                <a:cs typeface="Aptos Display" pitchFamily="34" charset="-120"/>
              </a:rPr>
              <a:t>Beyond Hollywood</a:t>
            </a:r>
            <a:endParaRPr lang="en-US" sz="4500" dirty="0"/>
          </a:p>
        </p:txBody>
      </p:sp>
      <p:sp>
        <p:nvSpPr>
          <p:cNvPr id="5" name="Text 3"/>
          <p:cNvSpPr/>
          <p:nvPr/>
        </p:nvSpPr>
        <p:spPr>
          <a:xfrm>
            <a:off x="786384" y="2743200"/>
            <a:ext cx="9692640" cy="411480"/>
          </a:xfrm>
          <a:prstGeom prst="rect">
            <a:avLst/>
          </a:prstGeom>
          <a:noFill/>
          <a:ln>
            <a:noFill/>
          </a:ln>
        </p:spPr>
        <p:txBody>
          <a:bodyPr wrap="square" rtlCol="0" anchor="ctr">
            <a:normAutofit/>
          </a:bodyPr>
          <a:lstStyle/>
          <a:p>
            <a:pPr marL="0" indent="0">
              <a:buNone/>
            </a:pPr>
            <a:r>
              <a:rPr lang="en-US" sz="1800" dirty="0">
                <a:solidFill>
                  <a:srgbClr val="263238"/>
                </a:solidFill>
                <a:latin typeface="Aptos" pitchFamily="34" charset="0"/>
                <a:ea typeface="Aptos" pitchFamily="34" charset="-122"/>
                <a:cs typeface="Aptos" pitchFamily="34" charset="-120"/>
              </a:rPr>
              <a:t>How Asian and Global Content Became Netflix’s Next Growth Engine</a:t>
            </a:r>
            <a:endParaRPr lang="en-US" sz="1800" dirty="0"/>
          </a:p>
        </p:txBody>
      </p:sp>
      <p:sp>
        <p:nvSpPr>
          <p:cNvPr id="6" name="Shape 4"/>
          <p:cNvSpPr/>
          <p:nvPr/>
        </p:nvSpPr>
        <p:spPr>
          <a:xfrm>
            <a:off x="786384" y="3337560"/>
            <a:ext cx="2148840" cy="54864"/>
          </a:xfrm>
          <a:prstGeom prst="rect">
            <a:avLst/>
          </a:prstGeom>
          <a:solidFill>
            <a:srgbClr val="2F6F7E"/>
          </a:solidFill>
          <a:ln w="12700">
            <a:noFill/>
            <a:prstDash val="solid"/>
          </a:ln>
        </p:spPr>
        <p:txBody>
          <a:bodyPr/>
          <a:lstStyle/>
          <a:p>
            <a:endParaRPr/>
          </a:p>
        </p:txBody>
      </p:sp>
      <p:sp>
        <p:nvSpPr>
          <p:cNvPr id="7" name="Text 5"/>
          <p:cNvSpPr/>
          <p:nvPr/>
        </p:nvSpPr>
        <p:spPr>
          <a:xfrm>
            <a:off x="786384" y="5394960"/>
            <a:ext cx="4389120" cy="411480"/>
          </a:xfrm>
          <a:prstGeom prst="rect">
            <a:avLst/>
          </a:prstGeom>
          <a:noFill/>
          <a:ln>
            <a:noFill/>
          </a:ln>
        </p:spPr>
        <p:txBody>
          <a:bodyPr wrap="square" rtlCol="0" anchor="ctr"/>
          <a:lstStyle/>
          <a:p>
            <a:pPr marL="0" indent="0">
              <a:buNone/>
            </a:pPr>
            <a:r>
              <a:rPr lang="en-US" sz="1100" dirty="0">
                <a:solidFill>
                  <a:srgbClr val="626B72"/>
                </a:solidFill>
                <a:latin typeface="Aptos" pitchFamily="34" charset="0"/>
                <a:ea typeface="Aptos" pitchFamily="34" charset="-122"/>
                <a:cs typeface="Aptos" pitchFamily="34" charset="-120"/>
              </a:rPr>
              <a:t>DSC640 Data Presentation</a:t>
            </a:r>
            <a:endParaRPr lang="en-US" sz="1100" dirty="0"/>
          </a:p>
          <a:p>
            <a:pPr marL="0" indent="0">
              <a:buNone/>
            </a:pPr>
            <a:r>
              <a:rPr lang="en-US" sz="1100" dirty="0">
                <a:solidFill>
                  <a:srgbClr val="626B72"/>
                </a:solidFill>
                <a:latin typeface="Aptos" pitchFamily="34" charset="0"/>
                <a:ea typeface="Aptos" pitchFamily="34" charset="-122"/>
                <a:cs typeface="Aptos" pitchFamily="34" charset="-120"/>
              </a:rPr>
              <a:t>Dan Morrow</a:t>
            </a:r>
            <a:endParaRPr lang="en-US" sz="1100" dirty="0"/>
          </a:p>
        </p:txBody>
      </p:sp>
      <p:sp>
        <p:nvSpPr>
          <p:cNvPr id="8" name="Text 6"/>
          <p:cNvSpPr/>
          <p:nvPr/>
        </p:nvSpPr>
        <p:spPr>
          <a:xfrm>
            <a:off x="7936992" y="5532120"/>
            <a:ext cx="3474720" cy="256032"/>
          </a:xfrm>
          <a:prstGeom prst="rect">
            <a:avLst/>
          </a:prstGeom>
          <a:noFill/>
          <a:ln>
            <a:noFill/>
          </a:ln>
        </p:spPr>
        <p:txBody>
          <a:bodyPr wrap="square" rtlCol="0" anchor="ctr"/>
          <a:lstStyle/>
          <a:p>
            <a:pPr marL="0" indent="0" algn="r">
              <a:buNone/>
            </a:pPr>
            <a:r>
              <a:rPr lang="en-US" sz="1000" dirty="0">
                <a:solidFill>
                  <a:srgbClr val="626B72"/>
                </a:solidFill>
                <a:latin typeface="Aptos" pitchFamily="34" charset="0"/>
                <a:ea typeface="Aptos" pitchFamily="34" charset="-122"/>
                <a:cs typeface="Aptos" pitchFamily="34" charset="-120"/>
              </a:rPr>
              <a:t>Netflix Top 10 data story</a:t>
            </a:r>
            <a:endParaRPr lang="en-US" sz="1000" dirty="0"/>
          </a:p>
        </p:txBody>
      </p:sp>
      <p:sp>
        <p:nvSpPr>
          <p:cNvPr id="9" name="Rectangle 8"/>
          <p:cNvSpPr/>
          <p:nvPr/>
        </p:nvSpPr>
        <p:spPr>
          <a:xfrm>
            <a:off x="320040" y="6556248"/>
            <a:ext cx="11567160" cy="18288"/>
          </a:xfrm>
          <a:prstGeom prst="rect">
            <a:avLst/>
          </a:prstGeom>
          <a:solidFill>
            <a:srgbClr val="2F6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27432"/>
          </a:xfrm>
          <a:prstGeom prst="rect">
            <a:avLst/>
          </a:prstGeom>
          <a:solidFill>
            <a:srgbClr val="2F6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56832"/>
            <a:ext cx="12191999" cy="27432"/>
          </a:xfrm>
          <a:prstGeom prst="rect">
            <a:avLst/>
          </a:prstGeom>
          <a:solidFill>
            <a:srgbClr val="2F6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631168" y="109728"/>
            <a:ext cx="320040" cy="201168"/>
          </a:xfrm>
          <a:prstGeom prst="rect">
            <a:avLst/>
          </a:prstGeom>
          <a:noFill/>
        </p:spPr>
        <p:txBody>
          <a:bodyPr wrap="none">
            <a:spAutoFit/>
          </a:bodyPr>
          <a:lstStyle/>
          <a:p>
            <a:pPr algn="r"/>
            <a:r>
              <a:rPr sz="700">
                <a:solidFill>
                  <a:srgbClr val="5F686D"/>
                </a:solidFill>
                <a:latin typeface="Aptos"/>
              </a:rPr>
              <a:t>02</a:t>
            </a:r>
          </a:p>
        </p:txBody>
      </p:sp>
      <p:sp>
        <p:nvSpPr>
          <p:cNvPr id="5" name="TextBox 4"/>
          <p:cNvSpPr txBox="1"/>
          <p:nvPr/>
        </p:nvSpPr>
        <p:spPr>
          <a:xfrm>
            <a:off x="594360" y="502920"/>
            <a:ext cx="1327608" cy="523220"/>
          </a:xfrm>
          <a:prstGeom prst="rect">
            <a:avLst/>
          </a:prstGeom>
          <a:noFill/>
        </p:spPr>
        <p:txBody>
          <a:bodyPr wrap="none">
            <a:spAutoFit/>
          </a:bodyPr>
          <a:lstStyle/>
          <a:p>
            <a:r>
              <a:rPr lang="en-US" sz="2800" b="1" dirty="0">
                <a:solidFill>
                  <a:srgbClr val="191F23"/>
                </a:solidFill>
                <a:latin typeface="Aptos Display"/>
              </a:rPr>
              <a:t>Agenda</a:t>
            </a:r>
            <a:endParaRPr sz="2800" b="1" dirty="0">
              <a:solidFill>
                <a:srgbClr val="191F23"/>
              </a:solidFill>
              <a:latin typeface="Aptos Display"/>
            </a:endParaRPr>
          </a:p>
        </p:txBody>
      </p:sp>
      <p:sp>
        <p:nvSpPr>
          <p:cNvPr id="7" name="Rectangle 6"/>
          <p:cNvSpPr/>
          <p:nvPr/>
        </p:nvSpPr>
        <p:spPr>
          <a:xfrm>
            <a:off x="594360" y="1399032"/>
            <a:ext cx="914400" cy="32004"/>
          </a:xfrm>
          <a:prstGeom prst="rect">
            <a:avLst/>
          </a:prstGeom>
          <a:solidFill>
            <a:srgbClr val="2F6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94360" y="1691640"/>
            <a:ext cx="10927080" cy="585216"/>
          </a:xfrm>
          <a:prstGeom prst="roundRect">
            <a:avLst/>
          </a:prstGeom>
          <a:solidFill>
            <a:srgbClr val="FAFAF8"/>
          </a:solidFill>
          <a:ln w="9525">
            <a:solidFill>
              <a:srgbClr val="E2E4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 y="1810512"/>
            <a:ext cx="411480" cy="256032"/>
          </a:xfrm>
          <a:prstGeom prst="rect">
            <a:avLst/>
          </a:prstGeom>
          <a:noFill/>
        </p:spPr>
        <p:txBody>
          <a:bodyPr wrap="none" lIns="0" tIns="0" rIns="0" bIns="0">
            <a:spAutoFit/>
          </a:bodyPr>
          <a:lstStyle/>
          <a:p>
            <a:pPr algn="ctr"/>
            <a:r>
              <a:rPr sz="1200" b="1">
                <a:solidFill>
                  <a:srgbClr val="2F6F7E"/>
                </a:solidFill>
                <a:latin typeface="Aptos"/>
              </a:rPr>
              <a:t>01</a:t>
            </a:r>
          </a:p>
        </p:txBody>
      </p:sp>
      <p:sp>
        <p:nvSpPr>
          <p:cNvPr id="10" name="Rectangle 9"/>
          <p:cNvSpPr/>
          <p:nvPr/>
        </p:nvSpPr>
        <p:spPr>
          <a:xfrm>
            <a:off x="1481328" y="1828800"/>
            <a:ext cx="10972" cy="310896"/>
          </a:xfrm>
          <a:prstGeom prst="rect">
            <a:avLst/>
          </a:prstGeom>
          <a:solidFill>
            <a:srgbClr val="E2E4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691640" y="1837944"/>
            <a:ext cx="2331720" cy="292608"/>
          </a:xfrm>
          <a:prstGeom prst="rect">
            <a:avLst/>
          </a:prstGeom>
          <a:noFill/>
        </p:spPr>
        <p:txBody>
          <a:bodyPr wrap="none" lIns="0" tIns="0" rIns="0" bIns="0">
            <a:spAutoFit/>
          </a:bodyPr>
          <a:lstStyle/>
          <a:p>
            <a:r>
              <a:rPr sz="1400" b="1">
                <a:solidFill>
                  <a:srgbClr val="191F23"/>
                </a:solidFill>
                <a:latin typeface="Aptos"/>
              </a:rPr>
              <a:t>Story Thesis:</a:t>
            </a:r>
          </a:p>
        </p:txBody>
      </p:sp>
      <p:sp>
        <p:nvSpPr>
          <p:cNvPr id="12" name="TextBox 11"/>
          <p:cNvSpPr txBox="1"/>
          <p:nvPr/>
        </p:nvSpPr>
        <p:spPr>
          <a:xfrm>
            <a:off x="3657600" y="1837944"/>
            <a:ext cx="7406640" cy="292608"/>
          </a:xfrm>
          <a:prstGeom prst="rect">
            <a:avLst/>
          </a:prstGeom>
          <a:noFill/>
        </p:spPr>
        <p:txBody>
          <a:bodyPr wrap="none" lIns="0" tIns="0" rIns="0" bIns="0">
            <a:spAutoFit/>
          </a:bodyPr>
          <a:lstStyle/>
          <a:p>
            <a:r>
              <a:rPr sz="1400">
                <a:solidFill>
                  <a:srgbClr val="191F23"/>
                </a:solidFill>
                <a:latin typeface="Aptos"/>
              </a:rPr>
              <a:t>The next hit may not start in Hollywood</a:t>
            </a:r>
          </a:p>
        </p:txBody>
      </p:sp>
      <p:sp>
        <p:nvSpPr>
          <p:cNvPr id="13" name="Rounded Rectangle 12"/>
          <p:cNvSpPr/>
          <p:nvPr/>
        </p:nvSpPr>
        <p:spPr>
          <a:xfrm>
            <a:off x="594360" y="2450592"/>
            <a:ext cx="10927080" cy="585216"/>
          </a:xfrm>
          <a:prstGeom prst="roundRect">
            <a:avLst/>
          </a:prstGeom>
          <a:solidFill>
            <a:srgbClr val="FAFAF8"/>
          </a:solidFill>
          <a:ln w="9525">
            <a:solidFill>
              <a:srgbClr val="E2E4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2" y="2569464"/>
            <a:ext cx="411480" cy="256032"/>
          </a:xfrm>
          <a:prstGeom prst="rect">
            <a:avLst/>
          </a:prstGeom>
          <a:noFill/>
        </p:spPr>
        <p:txBody>
          <a:bodyPr wrap="none" lIns="0" tIns="0" rIns="0" bIns="0">
            <a:spAutoFit/>
          </a:bodyPr>
          <a:lstStyle/>
          <a:p>
            <a:pPr algn="ctr"/>
            <a:r>
              <a:rPr sz="1200" b="1">
                <a:solidFill>
                  <a:srgbClr val="2F6F7E"/>
                </a:solidFill>
                <a:latin typeface="Aptos"/>
              </a:rPr>
              <a:t>02</a:t>
            </a:r>
          </a:p>
        </p:txBody>
      </p:sp>
      <p:sp>
        <p:nvSpPr>
          <p:cNvPr id="15" name="Rectangle 14"/>
          <p:cNvSpPr/>
          <p:nvPr/>
        </p:nvSpPr>
        <p:spPr>
          <a:xfrm>
            <a:off x="1481328" y="2587752"/>
            <a:ext cx="10972" cy="310896"/>
          </a:xfrm>
          <a:prstGeom prst="rect">
            <a:avLst/>
          </a:prstGeom>
          <a:solidFill>
            <a:srgbClr val="E2E4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691640" y="2596896"/>
            <a:ext cx="2331720" cy="292608"/>
          </a:xfrm>
          <a:prstGeom prst="rect">
            <a:avLst/>
          </a:prstGeom>
          <a:noFill/>
        </p:spPr>
        <p:txBody>
          <a:bodyPr wrap="none" lIns="0" tIns="0" rIns="0" bIns="0">
            <a:spAutoFit/>
          </a:bodyPr>
          <a:lstStyle/>
          <a:p>
            <a:r>
              <a:rPr sz="1400" b="1">
                <a:solidFill>
                  <a:srgbClr val="191F23"/>
                </a:solidFill>
                <a:latin typeface="Aptos"/>
              </a:rPr>
              <a:t>Market Signal:</a:t>
            </a:r>
          </a:p>
        </p:txBody>
      </p:sp>
      <p:sp>
        <p:nvSpPr>
          <p:cNvPr id="17" name="TextBox 16"/>
          <p:cNvSpPr txBox="1"/>
          <p:nvPr/>
        </p:nvSpPr>
        <p:spPr>
          <a:xfrm>
            <a:off x="3657600" y="2596896"/>
            <a:ext cx="7406640" cy="292608"/>
          </a:xfrm>
          <a:prstGeom prst="rect">
            <a:avLst/>
          </a:prstGeom>
          <a:noFill/>
        </p:spPr>
        <p:txBody>
          <a:bodyPr wrap="none" lIns="0" tIns="0" rIns="0" bIns="0">
            <a:spAutoFit/>
          </a:bodyPr>
          <a:lstStyle/>
          <a:p>
            <a:r>
              <a:rPr sz="1400" dirty="0">
                <a:solidFill>
                  <a:srgbClr val="191F23"/>
                </a:solidFill>
                <a:latin typeface="Aptos"/>
              </a:rPr>
              <a:t>Global and Asian-led hits are breaking through</a:t>
            </a:r>
          </a:p>
        </p:txBody>
      </p:sp>
      <p:sp>
        <p:nvSpPr>
          <p:cNvPr id="18" name="Rounded Rectangle 17"/>
          <p:cNvSpPr/>
          <p:nvPr/>
        </p:nvSpPr>
        <p:spPr>
          <a:xfrm>
            <a:off x="594360" y="3209544"/>
            <a:ext cx="10927080" cy="585216"/>
          </a:xfrm>
          <a:prstGeom prst="roundRect">
            <a:avLst/>
          </a:prstGeom>
          <a:solidFill>
            <a:srgbClr val="FAFAF8"/>
          </a:solidFill>
          <a:ln w="9525">
            <a:solidFill>
              <a:srgbClr val="E2E4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4672" y="3328416"/>
            <a:ext cx="411480" cy="256032"/>
          </a:xfrm>
          <a:prstGeom prst="rect">
            <a:avLst/>
          </a:prstGeom>
          <a:noFill/>
        </p:spPr>
        <p:txBody>
          <a:bodyPr wrap="none" lIns="0" tIns="0" rIns="0" bIns="0">
            <a:spAutoFit/>
          </a:bodyPr>
          <a:lstStyle/>
          <a:p>
            <a:pPr algn="ctr"/>
            <a:r>
              <a:rPr sz="1200" b="1">
                <a:solidFill>
                  <a:srgbClr val="2F6F7E"/>
                </a:solidFill>
                <a:latin typeface="Aptos"/>
              </a:rPr>
              <a:t>03</a:t>
            </a:r>
          </a:p>
        </p:txBody>
      </p:sp>
      <p:sp>
        <p:nvSpPr>
          <p:cNvPr id="20" name="Rectangle 19"/>
          <p:cNvSpPr/>
          <p:nvPr/>
        </p:nvSpPr>
        <p:spPr>
          <a:xfrm>
            <a:off x="1481328" y="3346704"/>
            <a:ext cx="10972" cy="310896"/>
          </a:xfrm>
          <a:prstGeom prst="rect">
            <a:avLst/>
          </a:prstGeom>
          <a:solidFill>
            <a:srgbClr val="E2E4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691640" y="3355848"/>
            <a:ext cx="2331720" cy="292608"/>
          </a:xfrm>
          <a:prstGeom prst="rect">
            <a:avLst/>
          </a:prstGeom>
          <a:noFill/>
        </p:spPr>
        <p:txBody>
          <a:bodyPr wrap="none" lIns="0" tIns="0" rIns="0" bIns="0">
            <a:spAutoFit/>
          </a:bodyPr>
          <a:lstStyle/>
          <a:p>
            <a:r>
              <a:rPr sz="1400" b="1">
                <a:solidFill>
                  <a:srgbClr val="191F23"/>
                </a:solidFill>
                <a:latin typeface="Aptos"/>
              </a:rPr>
              <a:t>Data Foundation:</a:t>
            </a:r>
          </a:p>
        </p:txBody>
      </p:sp>
      <p:sp>
        <p:nvSpPr>
          <p:cNvPr id="22" name="TextBox 21"/>
          <p:cNvSpPr txBox="1"/>
          <p:nvPr/>
        </p:nvSpPr>
        <p:spPr>
          <a:xfrm>
            <a:off x="3657600" y="3355848"/>
            <a:ext cx="7406640" cy="292608"/>
          </a:xfrm>
          <a:prstGeom prst="rect">
            <a:avLst/>
          </a:prstGeom>
          <a:noFill/>
        </p:spPr>
        <p:txBody>
          <a:bodyPr wrap="none" lIns="0" tIns="0" rIns="0" bIns="0">
            <a:spAutoFit/>
          </a:bodyPr>
          <a:lstStyle/>
          <a:p>
            <a:r>
              <a:rPr sz="1400">
                <a:solidFill>
                  <a:srgbClr val="191F23"/>
                </a:solidFill>
                <a:latin typeface="Aptos"/>
              </a:rPr>
              <a:t>Three views of Netflix popularity</a:t>
            </a:r>
          </a:p>
        </p:txBody>
      </p:sp>
      <p:sp>
        <p:nvSpPr>
          <p:cNvPr id="23" name="Rounded Rectangle 22"/>
          <p:cNvSpPr/>
          <p:nvPr/>
        </p:nvSpPr>
        <p:spPr>
          <a:xfrm>
            <a:off x="594360" y="3968496"/>
            <a:ext cx="10927080" cy="585216"/>
          </a:xfrm>
          <a:prstGeom prst="roundRect">
            <a:avLst/>
          </a:prstGeom>
          <a:solidFill>
            <a:srgbClr val="FAFAF8"/>
          </a:solidFill>
          <a:ln w="9525">
            <a:solidFill>
              <a:srgbClr val="E2E4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04672" y="4087368"/>
            <a:ext cx="411480" cy="256032"/>
          </a:xfrm>
          <a:prstGeom prst="rect">
            <a:avLst/>
          </a:prstGeom>
          <a:noFill/>
        </p:spPr>
        <p:txBody>
          <a:bodyPr wrap="none" lIns="0" tIns="0" rIns="0" bIns="0">
            <a:spAutoFit/>
          </a:bodyPr>
          <a:lstStyle/>
          <a:p>
            <a:pPr algn="ctr"/>
            <a:r>
              <a:rPr sz="1200" b="1">
                <a:solidFill>
                  <a:srgbClr val="2F6F7E"/>
                </a:solidFill>
                <a:latin typeface="Aptos"/>
              </a:rPr>
              <a:t>04</a:t>
            </a:r>
          </a:p>
        </p:txBody>
      </p:sp>
      <p:sp>
        <p:nvSpPr>
          <p:cNvPr id="25" name="Rectangle 24"/>
          <p:cNvSpPr/>
          <p:nvPr/>
        </p:nvSpPr>
        <p:spPr>
          <a:xfrm>
            <a:off x="1481328" y="4105656"/>
            <a:ext cx="10972" cy="310896"/>
          </a:xfrm>
          <a:prstGeom prst="rect">
            <a:avLst/>
          </a:prstGeom>
          <a:solidFill>
            <a:srgbClr val="E2E4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691640" y="4114800"/>
            <a:ext cx="2331720" cy="292608"/>
          </a:xfrm>
          <a:prstGeom prst="rect">
            <a:avLst/>
          </a:prstGeom>
          <a:noFill/>
        </p:spPr>
        <p:txBody>
          <a:bodyPr wrap="none" lIns="0" tIns="0" rIns="0" bIns="0">
            <a:spAutoFit/>
          </a:bodyPr>
          <a:lstStyle/>
          <a:p>
            <a:r>
              <a:rPr sz="1400" b="1">
                <a:solidFill>
                  <a:srgbClr val="191F23"/>
                </a:solidFill>
                <a:latin typeface="Aptos"/>
              </a:rPr>
              <a:t>Visual Evidence:</a:t>
            </a:r>
          </a:p>
        </p:txBody>
      </p:sp>
      <p:sp>
        <p:nvSpPr>
          <p:cNvPr id="27" name="TextBox 26"/>
          <p:cNvSpPr txBox="1"/>
          <p:nvPr/>
        </p:nvSpPr>
        <p:spPr>
          <a:xfrm>
            <a:off x="3657600" y="4114800"/>
            <a:ext cx="7406640" cy="292608"/>
          </a:xfrm>
          <a:prstGeom prst="rect">
            <a:avLst/>
          </a:prstGeom>
          <a:noFill/>
        </p:spPr>
        <p:txBody>
          <a:bodyPr wrap="none" lIns="0" tIns="0" rIns="0" bIns="0">
            <a:spAutoFit/>
          </a:bodyPr>
          <a:lstStyle/>
          <a:p>
            <a:r>
              <a:rPr sz="1400">
                <a:solidFill>
                  <a:srgbClr val="191F23"/>
                </a:solidFill>
                <a:latin typeface="Aptos"/>
              </a:rPr>
              <a:t>Reach, staying power, scale, and market travel</a:t>
            </a:r>
          </a:p>
        </p:txBody>
      </p:sp>
      <p:sp>
        <p:nvSpPr>
          <p:cNvPr id="28" name="Rounded Rectangle 27"/>
          <p:cNvSpPr/>
          <p:nvPr/>
        </p:nvSpPr>
        <p:spPr>
          <a:xfrm>
            <a:off x="594360" y="4727448"/>
            <a:ext cx="10927080" cy="585216"/>
          </a:xfrm>
          <a:prstGeom prst="roundRect">
            <a:avLst/>
          </a:prstGeom>
          <a:solidFill>
            <a:srgbClr val="FAFAF8"/>
          </a:solidFill>
          <a:ln w="9525">
            <a:solidFill>
              <a:srgbClr val="E2E4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04672" y="4846320"/>
            <a:ext cx="411480" cy="256032"/>
          </a:xfrm>
          <a:prstGeom prst="rect">
            <a:avLst/>
          </a:prstGeom>
          <a:noFill/>
        </p:spPr>
        <p:txBody>
          <a:bodyPr wrap="none" lIns="0" tIns="0" rIns="0" bIns="0">
            <a:spAutoFit/>
          </a:bodyPr>
          <a:lstStyle/>
          <a:p>
            <a:pPr algn="ctr"/>
            <a:r>
              <a:rPr sz="1200" b="1">
                <a:solidFill>
                  <a:srgbClr val="2F6F7E"/>
                </a:solidFill>
                <a:latin typeface="Aptos"/>
              </a:rPr>
              <a:t>05</a:t>
            </a:r>
          </a:p>
        </p:txBody>
      </p:sp>
      <p:sp>
        <p:nvSpPr>
          <p:cNvPr id="30" name="Rectangle 29"/>
          <p:cNvSpPr/>
          <p:nvPr/>
        </p:nvSpPr>
        <p:spPr>
          <a:xfrm>
            <a:off x="1481328" y="4864608"/>
            <a:ext cx="10972" cy="310896"/>
          </a:xfrm>
          <a:prstGeom prst="rect">
            <a:avLst/>
          </a:prstGeom>
          <a:solidFill>
            <a:srgbClr val="E2E4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691640" y="4873752"/>
            <a:ext cx="2331720" cy="292608"/>
          </a:xfrm>
          <a:prstGeom prst="rect">
            <a:avLst/>
          </a:prstGeom>
          <a:noFill/>
        </p:spPr>
        <p:txBody>
          <a:bodyPr wrap="none" lIns="0" tIns="0" rIns="0" bIns="0">
            <a:spAutoFit/>
          </a:bodyPr>
          <a:lstStyle/>
          <a:p>
            <a:r>
              <a:rPr sz="1400" b="1">
                <a:solidFill>
                  <a:srgbClr val="191F23"/>
                </a:solidFill>
                <a:latin typeface="Aptos"/>
              </a:rPr>
              <a:t>Strategic Opportunity:</a:t>
            </a:r>
          </a:p>
        </p:txBody>
      </p:sp>
      <p:sp>
        <p:nvSpPr>
          <p:cNvPr id="32" name="TextBox 31"/>
          <p:cNvSpPr txBox="1"/>
          <p:nvPr/>
        </p:nvSpPr>
        <p:spPr>
          <a:xfrm>
            <a:off x="3657600" y="4873752"/>
            <a:ext cx="7406640" cy="292608"/>
          </a:xfrm>
          <a:prstGeom prst="rect">
            <a:avLst/>
          </a:prstGeom>
          <a:noFill/>
        </p:spPr>
        <p:txBody>
          <a:bodyPr wrap="none" lIns="0" tIns="0" rIns="0" bIns="0">
            <a:spAutoFit/>
          </a:bodyPr>
          <a:lstStyle/>
          <a:p>
            <a:r>
              <a:rPr sz="1400">
                <a:solidFill>
                  <a:srgbClr val="191F23"/>
                </a:solidFill>
                <a:latin typeface="Aptos"/>
              </a:rPr>
              <a:t>What the data suggests Netflix should bet on</a:t>
            </a:r>
          </a:p>
        </p:txBody>
      </p:sp>
      <p:sp>
        <p:nvSpPr>
          <p:cNvPr id="33" name="Rounded Rectangle 32"/>
          <p:cNvSpPr/>
          <p:nvPr/>
        </p:nvSpPr>
        <p:spPr>
          <a:xfrm>
            <a:off x="594360" y="5486400"/>
            <a:ext cx="10927080" cy="585216"/>
          </a:xfrm>
          <a:prstGeom prst="roundRect">
            <a:avLst/>
          </a:prstGeom>
          <a:solidFill>
            <a:srgbClr val="FAFAF8"/>
          </a:solidFill>
          <a:ln w="9525">
            <a:solidFill>
              <a:srgbClr val="E2E4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04672" y="5605272"/>
            <a:ext cx="411480" cy="256032"/>
          </a:xfrm>
          <a:prstGeom prst="rect">
            <a:avLst/>
          </a:prstGeom>
          <a:noFill/>
        </p:spPr>
        <p:txBody>
          <a:bodyPr wrap="none" lIns="0" tIns="0" rIns="0" bIns="0">
            <a:spAutoFit/>
          </a:bodyPr>
          <a:lstStyle/>
          <a:p>
            <a:pPr algn="ctr"/>
            <a:r>
              <a:rPr sz="1200" b="1">
                <a:solidFill>
                  <a:srgbClr val="2F6F7E"/>
                </a:solidFill>
                <a:latin typeface="Aptos"/>
              </a:rPr>
              <a:t>06</a:t>
            </a:r>
          </a:p>
        </p:txBody>
      </p:sp>
      <p:sp>
        <p:nvSpPr>
          <p:cNvPr id="35" name="Rectangle 34"/>
          <p:cNvSpPr/>
          <p:nvPr/>
        </p:nvSpPr>
        <p:spPr>
          <a:xfrm>
            <a:off x="1481328" y="5623560"/>
            <a:ext cx="10972" cy="310896"/>
          </a:xfrm>
          <a:prstGeom prst="rect">
            <a:avLst/>
          </a:prstGeom>
          <a:solidFill>
            <a:srgbClr val="E2E4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691640" y="5632704"/>
            <a:ext cx="2331720" cy="292608"/>
          </a:xfrm>
          <a:prstGeom prst="rect">
            <a:avLst/>
          </a:prstGeom>
          <a:noFill/>
        </p:spPr>
        <p:txBody>
          <a:bodyPr wrap="none" lIns="0" tIns="0" rIns="0" bIns="0">
            <a:spAutoFit/>
          </a:bodyPr>
          <a:lstStyle/>
          <a:p>
            <a:r>
              <a:rPr sz="1400" b="1">
                <a:solidFill>
                  <a:srgbClr val="191F23"/>
                </a:solidFill>
                <a:latin typeface="Aptos"/>
              </a:rPr>
              <a:t>Call to Action:</a:t>
            </a:r>
          </a:p>
        </p:txBody>
      </p:sp>
      <p:sp>
        <p:nvSpPr>
          <p:cNvPr id="37" name="TextBox 36"/>
          <p:cNvSpPr txBox="1"/>
          <p:nvPr/>
        </p:nvSpPr>
        <p:spPr>
          <a:xfrm>
            <a:off x="3657600" y="5632704"/>
            <a:ext cx="7406640" cy="292608"/>
          </a:xfrm>
          <a:prstGeom prst="rect">
            <a:avLst/>
          </a:prstGeom>
          <a:noFill/>
        </p:spPr>
        <p:txBody>
          <a:bodyPr wrap="none" lIns="0" tIns="0" rIns="0" bIns="0">
            <a:spAutoFit/>
          </a:bodyPr>
          <a:lstStyle/>
          <a:p>
            <a:r>
              <a:rPr sz="1400">
                <a:solidFill>
                  <a:srgbClr val="191F23"/>
                </a:solidFill>
                <a:latin typeface="Aptos"/>
              </a:rPr>
              <a:t>Invest in globally adaptable Asian-originated content</a:t>
            </a:r>
          </a:p>
        </p:txBody>
      </p:sp>
      <p:sp>
        <p:nvSpPr>
          <p:cNvPr id="38" name="TextBox 37"/>
          <p:cNvSpPr txBox="1"/>
          <p:nvPr/>
        </p:nvSpPr>
        <p:spPr>
          <a:xfrm>
            <a:off x="594360" y="6446520"/>
            <a:ext cx="4114800" cy="164592"/>
          </a:xfrm>
          <a:prstGeom prst="rect">
            <a:avLst/>
          </a:prstGeom>
          <a:noFill/>
        </p:spPr>
        <p:txBody>
          <a:bodyPr wrap="none">
            <a:spAutoFit/>
          </a:bodyPr>
          <a:lstStyle/>
          <a:p>
            <a:r>
              <a:rPr sz="550">
                <a:solidFill>
                  <a:srgbClr val="5F686D"/>
                </a:solidFill>
                <a:latin typeface="Aptos"/>
              </a:rPr>
              <a:t>Netflix Top 10 data story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7F3"/>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F6F7E"/>
          </a:solidFill>
          <a:ln w="12700">
            <a:noFill/>
            <a:prstDash val="solid"/>
          </a:ln>
        </p:spPr>
        <p:txBody>
          <a:bodyPr/>
          <a:lstStyle/>
          <a:p>
            <a:endParaRPr/>
          </a:p>
        </p:txBody>
      </p:sp>
      <p:sp>
        <p:nvSpPr>
          <p:cNvPr id="3" name="Text 1"/>
          <p:cNvSpPr/>
          <p:nvPr/>
        </p:nvSpPr>
        <p:spPr>
          <a:xfrm>
            <a:off x="11521440" y="237744"/>
            <a:ext cx="347472" cy="182880"/>
          </a:xfrm>
          <a:prstGeom prst="rect">
            <a:avLst/>
          </a:prstGeom>
          <a:noFill/>
          <a:ln>
            <a:noFill/>
          </a:ln>
        </p:spPr>
        <p:txBody>
          <a:bodyPr wrap="square" rtlCol="0" anchor="ctr"/>
          <a:lstStyle/>
          <a:p>
            <a:pPr marL="0" indent="0" algn="r">
              <a:buNone/>
            </a:pPr>
            <a:r>
              <a:rPr lang="en-US" sz="800" dirty="0">
                <a:solidFill>
                  <a:srgbClr val="626B72"/>
                </a:solidFill>
                <a:latin typeface="Aptos" pitchFamily="34" charset="0"/>
                <a:ea typeface="Aptos" pitchFamily="34" charset="-122"/>
                <a:cs typeface="Aptos" pitchFamily="34" charset="-120"/>
              </a:rPr>
              <a:t>03</a:t>
            </a:r>
            <a:endParaRPr lang="en-US" sz="800" dirty="0"/>
          </a:p>
        </p:txBody>
      </p:sp>
      <p:sp>
        <p:nvSpPr>
          <p:cNvPr id="4" name="Text 2"/>
          <p:cNvSpPr/>
          <p:nvPr/>
        </p:nvSpPr>
        <p:spPr>
          <a:xfrm>
            <a:off x="594360" y="384048"/>
            <a:ext cx="5303520" cy="228600"/>
          </a:xfrm>
          <a:prstGeom prst="rect">
            <a:avLst/>
          </a:prstGeom>
          <a:noFill/>
          <a:ln>
            <a:noFill/>
          </a:ln>
        </p:spPr>
        <p:txBody>
          <a:bodyPr wrap="square" rtlCol="0" anchor="ctr"/>
          <a:lstStyle/>
          <a:p>
            <a:pPr marL="0" indent="0">
              <a:buNone/>
            </a:pPr>
            <a:r>
              <a:rPr lang="en-US" sz="900" b="1" dirty="0">
                <a:solidFill>
                  <a:srgbClr val="2F6F7E"/>
                </a:solidFill>
                <a:latin typeface="Aptos" pitchFamily="34" charset="0"/>
                <a:ea typeface="Aptos" pitchFamily="34" charset="-122"/>
                <a:cs typeface="Aptos" pitchFamily="34" charset="-120"/>
              </a:rPr>
              <a:t>THESIS</a:t>
            </a:r>
            <a:endParaRPr lang="en-US" sz="900" dirty="0"/>
          </a:p>
        </p:txBody>
      </p:sp>
      <p:sp>
        <p:nvSpPr>
          <p:cNvPr id="5" name="Text 3"/>
          <p:cNvSpPr/>
          <p:nvPr/>
        </p:nvSpPr>
        <p:spPr>
          <a:xfrm>
            <a:off x="594360" y="658368"/>
            <a:ext cx="10972800" cy="502920"/>
          </a:xfrm>
          <a:prstGeom prst="rect">
            <a:avLst/>
          </a:prstGeom>
          <a:noFill/>
          <a:ln>
            <a:noFill/>
          </a:ln>
        </p:spPr>
        <p:txBody>
          <a:bodyPr wrap="square" lIns="0" tIns="0" rIns="0" bIns="0" rtlCol="0" anchor="ctr">
            <a:normAutofit/>
          </a:bodyPr>
          <a:lstStyle/>
          <a:p>
            <a:pPr marL="0" indent="0">
              <a:buNone/>
            </a:pPr>
            <a:r>
              <a:rPr lang="en-US" sz="2500" b="1" dirty="0">
                <a:solidFill>
                  <a:srgbClr val="263238"/>
                </a:solidFill>
                <a:latin typeface="Aptos Display" pitchFamily="34" charset="0"/>
                <a:ea typeface="Aptos Display" pitchFamily="34" charset="-122"/>
                <a:cs typeface="Aptos Display" pitchFamily="34" charset="-120"/>
              </a:rPr>
              <a:t>The Next Netflix Hit May Not Start in Hollywood</a:t>
            </a:r>
            <a:endParaRPr lang="en-US" sz="2500" dirty="0"/>
          </a:p>
        </p:txBody>
      </p:sp>
      <p:sp>
        <p:nvSpPr>
          <p:cNvPr id="6" name="Text 4"/>
          <p:cNvSpPr/>
          <p:nvPr/>
        </p:nvSpPr>
        <p:spPr>
          <a:xfrm>
            <a:off x="731520" y="1508760"/>
            <a:ext cx="6583680" cy="1417320"/>
          </a:xfrm>
          <a:prstGeom prst="rect">
            <a:avLst/>
          </a:prstGeom>
          <a:noFill/>
          <a:ln>
            <a:noFill/>
          </a:ln>
        </p:spPr>
        <p:txBody>
          <a:bodyPr wrap="square" rtlCol="0" anchor="ctr">
            <a:normAutofit fontScale="92500" lnSpcReduction="10000"/>
          </a:bodyPr>
          <a:lstStyle/>
          <a:p>
            <a:pPr marL="0" indent="0">
              <a:buNone/>
            </a:pPr>
            <a:r>
              <a:rPr lang="en-US" sz="2000" dirty="0">
                <a:solidFill>
                  <a:srgbClr val="263238"/>
                </a:solidFill>
                <a:latin typeface="Aptos" pitchFamily="34" charset="0"/>
                <a:ea typeface="Aptos" pitchFamily="34" charset="-122"/>
                <a:cs typeface="Aptos" pitchFamily="34" charset="-120"/>
              </a:rPr>
              <a:t>Netflix’s Top 10 data shows that global audiences are repeatedly responding to Asian and non-English stories. These titles are not just regional successes. Many are crossing borders, staying on the charts, and becoming part of mainstream streaming culture.</a:t>
            </a:r>
            <a:endParaRPr lang="en-US" sz="2000" dirty="0"/>
          </a:p>
        </p:txBody>
      </p:sp>
      <p:sp>
        <p:nvSpPr>
          <p:cNvPr id="7" name="Shape 5"/>
          <p:cNvSpPr/>
          <p:nvPr/>
        </p:nvSpPr>
        <p:spPr>
          <a:xfrm>
            <a:off x="7635240" y="1325880"/>
            <a:ext cx="3429000" cy="3291840"/>
          </a:xfrm>
          <a:prstGeom prst="roundRect">
            <a:avLst>
              <a:gd name="adj" fmla="val 3333"/>
            </a:avLst>
          </a:prstGeom>
          <a:solidFill>
            <a:srgbClr val="2F6F7E"/>
          </a:solidFill>
          <a:ln w="12700">
            <a:noFill/>
            <a:prstDash val="solid"/>
          </a:ln>
        </p:spPr>
        <p:txBody>
          <a:bodyPr/>
          <a:lstStyle/>
          <a:p>
            <a:endParaRPr/>
          </a:p>
        </p:txBody>
      </p:sp>
      <p:sp>
        <p:nvSpPr>
          <p:cNvPr id="8" name="Text 6"/>
          <p:cNvSpPr/>
          <p:nvPr/>
        </p:nvSpPr>
        <p:spPr>
          <a:xfrm>
            <a:off x="7955280" y="1691640"/>
            <a:ext cx="2788920" cy="256032"/>
          </a:xfrm>
          <a:prstGeom prst="rect">
            <a:avLst/>
          </a:prstGeom>
          <a:noFill/>
          <a:ln>
            <a:noFill/>
          </a:ln>
        </p:spPr>
        <p:txBody>
          <a:bodyPr wrap="square" rtlCol="0" anchor="ctr"/>
          <a:lstStyle/>
          <a:p>
            <a:pPr marL="0" indent="0">
              <a:buNone/>
            </a:pPr>
            <a:r>
              <a:rPr lang="en-US" sz="1300" b="1" dirty="0">
                <a:solidFill>
                  <a:srgbClr val="263238"/>
                </a:solidFill>
                <a:latin typeface="Aptos" pitchFamily="34" charset="0"/>
                <a:ea typeface="Aptos" pitchFamily="34" charset="-122"/>
                <a:cs typeface="Aptos" pitchFamily="34" charset="-120"/>
              </a:rPr>
              <a:t>Recommendation</a:t>
            </a:r>
            <a:endParaRPr lang="en-US" sz="1300" dirty="0"/>
          </a:p>
        </p:txBody>
      </p:sp>
      <p:sp>
        <p:nvSpPr>
          <p:cNvPr id="9" name="Text 7"/>
          <p:cNvSpPr/>
          <p:nvPr/>
        </p:nvSpPr>
        <p:spPr>
          <a:xfrm>
            <a:off x="7955280" y="2148840"/>
            <a:ext cx="2697480" cy="1783080"/>
          </a:xfrm>
          <a:prstGeom prst="rect">
            <a:avLst/>
          </a:prstGeom>
          <a:noFill/>
          <a:ln>
            <a:noFill/>
          </a:ln>
        </p:spPr>
        <p:txBody>
          <a:bodyPr wrap="square" rtlCol="0" anchor="ctr">
            <a:normAutofit fontScale="92500" lnSpcReduction="20000"/>
          </a:bodyPr>
          <a:lstStyle/>
          <a:p>
            <a:pPr marL="0" indent="0">
              <a:buNone/>
            </a:pPr>
            <a:r>
              <a:rPr lang="en-US" sz="1800" b="1" dirty="0">
                <a:solidFill>
                  <a:srgbClr val="263238"/>
                </a:solidFill>
                <a:latin typeface="Aptos Display" pitchFamily="34" charset="0"/>
                <a:ea typeface="Aptos Display" pitchFamily="34" charset="-122"/>
                <a:cs typeface="Aptos Display" pitchFamily="34" charset="-120"/>
              </a:rPr>
              <a:t>Increase investment in globally adaptable Asian-originated content, including limited series, reality formats, anime-inspired adaptations, and Korean/Japanese genre storytelling.</a:t>
            </a:r>
            <a:endParaRPr lang="en-US" sz="1800" dirty="0"/>
          </a:p>
        </p:txBody>
      </p:sp>
      <p:sp>
        <p:nvSpPr>
          <p:cNvPr id="10" name="Text 8"/>
          <p:cNvSpPr/>
          <p:nvPr/>
        </p:nvSpPr>
        <p:spPr>
          <a:xfrm>
            <a:off x="749808" y="5074920"/>
            <a:ext cx="8046720" cy="274320"/>
          </a:xfrm>
          <a:prstGeom prst="rect">
            <a:avLst/>
          </a:prstGeom>
          <a:noFill/>
          <a:ln>
            <a:noFill/>
          </a:ln>
        </p:spPr>
        <p:txBody>
          <a:bodyPr wrap="square" rtlCol="0" anchor="ctr"/>
          <a:lstStyle/>
          <a:p>
            <a:pPr marL="0" indent="0">
              <a:buNone/>
            </a:pPr>
            <a:r>
              <a:rPr lang="en-US" sz="1200" dirty="0">
                <a:solidFill>
                  <a:srgbClr val="626B72"/>
                </a:solidFill>
                <a:latin typeface="Aptos" pitchFamily="34" charset="0"/>
                <a:ea typeface="Aptos" pitchFamily="34" charset="-122"/>
                <a:cs typeface="Aptos" pitchFamily="34" charset="-120"/>
              </a:rPr>
              <a:t>Using Netflix Global Top 10, Country Top 10, and Most Popular data.</a:t>
            </a:r>
            <a:endParaRPr lang="en-US" sz="1200" dirty="0"/>
          </a:p>
        </p:txBody>
      </p:sp>
      <p:sp>
        <p:nvSpPr>
          <p:cNvPr id="11" name="Text 9"/>
          <p:cNvSpPr/>
          <p:nvPr/>
        </p:nvSpPr>
        <p:spPr>
          <a:xfrm>
            <a:off x="502920" y="6556248"/>
            <a:ext cx="8503920" cy="164592"/>
          </a:xfrm>
          <a:prstGeom prst="rect">
            <a:avLst/>
          </a:prstGeom>
          <a:noFill/>
          <a:ln>
            <a:noFill/>
          </a:ln>
        </p:spPr>
        <p:txBody>
          <a:bodyPr wrap="square" rtlCol="0" anchor="ctr">
            <a:normAutofit fontScale="77500" lnSpcReduction="20000"/>
          </a:bodyPr>
          <a:lstStyle/>
          <a:p>
            <a:pPr marL="0" indent="0">
              <a:buNone/>
            </a:pPr>
            <a:r>
              <a:rPr lang="en-US" sz="650" dirty="0">
                <a:solidFill>
                  <a:srgbClr val="626B72"/>
                </a:solidFill>
                <a:latin typeface="Aptos" pitchFamily="34" charset="0"/>
                <a:ea typeface="Aptos" pitchFamily="34" charset="-122"/>
                <a:cs typeface="Aptos" pitchFamily="34" charset="-120"/>
              </a:rPr>
              <a:t>Source: Netflix Top 10 datasets provided; current-context example from Netflix Tudum Top 10 page.</a:t>
            </a:r>
            <a:endParaRPr lang="en-US" sz="650" dirty="0"/>
          </a:p>
        </p:txBody>
      </p:sp>
      <p:sp>
        <p:nvSpPr>
          <p:cNvPr id="12" name="Text 10"/>
          <p:cNvSpPr/>
          <p:nvPr/>
        </p:nvSpPr>
        <p:spPr>
          <a:xfrm>
            <a:off x="10789920" y="6510528"/>
            <a:ext cx="868680" cy="182880"/>
          </a:xfrm>
          <a:prstGeom prst="rect">
            <a:avLst/>
          </a:prstGeom>
          <a:noFill/>
          <a:ln>
            <a:noFill/>
          </a:ln>
        </p:spPr>
        <p:txBody>
          <a:bodyPr wrap="square" rtlCol="0" anchor="ctr"/>
          <a:lstStyle/>
          <a:p>
            <a:pPr marL="0" indent="0" algn="r">
              <a:buNone/>
            </a:pPr>
            <a:r>
              <a:rPr lang="en-US" sz="750" dirty="0">
                <a:solidFill>
                  <a:srgbClr val="626B72"/>
                </a:solidFill>
                <a:latin typeface="Aptos" pitchFamily="34" charset="0"/>
                <a:ea typeface="Aptos" pitchFamily="34" charset="-122"/>
                <a:cs typeface="Aptos" pitchFamily="34" charset="-120"/>
              </a:rPr>
              <a:t>DSC640</a:t>
            </a:r>
            <a:endParaRPr lang="en-US" sz="750" dirty="0"/>
          </a:p>
        </p:txBody>
      </p:sp>
      <p:sp>
        <p:nvSpPr>
          <p:cNvPr id="13" name="Rectangle 12"/>
          <p:cNvSpPr/>
          <p:nvPr/>
        </p:nvSpPr>
        <p:spPr>
          <a:xfrm>
            <a:off x="320040" y="6556248"/>
            <a:ext cx="11567160" cy="18288"/>
          </a:xfrm>
          <a:prstGeom prst="rect">
            <a:avLst/>
          </a:prstGeom>
          <a:solidFill>
            <a:srgbClr val="2F6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7F3"/>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F6F7E"/>
          </a:solidFill>
          <a:ln w="12700">
            <a:noFill/>
            <a:prstDash val="solid"/>
          </a:ln>
        </p:spPr>
        <p:txBody>
          <a:bodyPr/>
          <a:lstStyle/>
          <a:p>
            <a:endParaRPr/>
          </a:p>
        </p:txBody>
      </p:sp>
      <p:sp>
        <p:nvSpPr>
          <p:cNvPr id="3" name="Text 1"/>
          <p:cNvSpPr/>
          <p:nvPr/>
        </p:nvSpPr>
        <p:spPr>
          <a:xfrm>
            <a:off x="11521440" y="237744"/>
            <a:ext cx="347472" cy="182880"/>
          </a:xfrm>
          <a:prstGeom prst="rect">
            <a:avLst/>
          </a:prstGeom>
          <a:noFill/>
          <a:ln>
            <a:noFill/>
          </a:ln>
        </p:spPr>
        <p:txBody>
          <a:bodyPr wrap="square" rtlCol="0" anchor="ctr"/>
          <a:lstStyle/>
          <a:p>
            <a:pPr marL="0" indent="0" algn="r">
              <a:buNone/>
            </a:pPr>
            <a:r>
              <a:rPr lang="en-US" sz="800" dirty="0">
                <a:solidFill>
                  <a:srgbClr val="626B72"/>
                </a:solidFill>
                <a:latin typeface="Aptos" pitchFamily="34" charset="0"/>
                <a:ea typeface="Aptos" pitchFamily="34" charset="-122"/>
                <a:cs typeface="Aptos" pitchFamily="34" charset="-120"/>
              </a:rPr>
              <a:t>04</a:t>
            </a:r>
            <a:endParaRPr lang="en-US" sz="800" dirty="0"/>
          </a:p>
        </p:txBody>
      </p:sp>
      <p:sp>
        <p:nvSpPr>
          <p:cNvPr id="5" name="Text 3"/>
          <p:cNvSpPr/>
          <p:nvPr/>
        </p:nvSpPr>
        <p:spPr>
          <a:xfrm>
            <a:off x="594360" y="658368"/>
            <a:ext cx="10972800" cy="502920"/>
          </a:xfrm>
          <a:prstGeom prst="rect">
            <a:avLst/>
          </a:prstGeom>
          <a:noFill/>
          <a:ln>
            <a:noFill/>
          </a:ln>
        </p:spPr>
        <p:txBody>
          <a:bodyPr wrap="square" lIns="0" tIns="0" rIns="0" bIns="0" rtlCol="0" anchor="ctr">
            <a:normAutofit/>
          </a:bodyPr>
          <a:lstStyle/>
          <a:p>
            <a:pPr marL="0" indent="0">
              <a:buNone/>
            </a:pPr>
            <a:r>
              <a:rPr lang="en-US" sz="2500" b="1" dirty="0">
                <a:solidFill>
                  <a:srgbClr val="263238"/>
                </a:solidFill>
                <a:latin typeface="Aptos Display" pitchFamily="34" charset="0"/>
                <a:ea typeface="Aptos Display" pitchFamily="34" charset="-122"/>
                <a:cs typeface="Aptos Display" pitchFamily="34" charset="-120"/>
              </a:rPr>
              <a:t>Global Hits Aren’t Exclusive to Hollywood</a:t>
            </a:r>
            <a:endParaRPr lang="en-US" sz="2500" dirty="0"/>
          </a:p>
        </p:txBody>
      </p:sp>
      <p:sp>
        <p:nvSpPr>
          <p:cNvPr id="6" name="Text 4"/>
          <p:cNvSpPr/>
          <p:nvPr/>
        </p:nvSpPr>
        <p:spPr>
          <a:xfrm>
            <a:off x="731520" y="1234440"/>
            <a:ext cx="8138160" cy="777240"/>
          </a:xfrm>
          <a:prstGeom prst="rect">
            <a:avLst/>
          </a:prstGeom>
          <a:noFill/>
          <a:ln>
            <a:noFill/>
          </a:ln>
        </p:spPr>
        <p:txBody>
          <a:bodyPr wrap="square" rtlCol="0" anchor="ctr">
            <a:normAutofit lnSpcReduction="10000"/>
          </a:bodyPr>
          <a:lstStyle/>
          <a:p>
            <a:pPr marL="0" indent="0">
              <a:buNone/>
            </a:pPr>
            <a:r>
              <a:rPr lang="en-US" sz="1600" dirty="0">
                <a:solidFill>
                  <a:srgbClr val="263238"/>
                </a:solidFill>
                <a:latin typeface="Aptos" pitchFamily="34" charset="0"/>
                <a:ea typeface="Aptos" pitchFamily="34" charset="-122"/>
                <a:cs typeface="Aptos" pitchFamily="34" charset="-120"/>
              </a:rPr>
              <a:t>Asian and non-English titles have repeatedly broken through Netflix’s Top 10 lists. Instead of isolated successes, they show a pattern: they can travel across countries, stay visible for multiple weeks, and attract mainstream attention.</a:t>
            </a:r>
            <a:endParaRPr lang="en-US" sz="1600" dirty="0"/>
          </a:p>
        </p:txBody>
      </p:sp>
      <p:sp>
        <p:nvSpPr>
          <p:cNvPr id="7" name="Shape 5"/>
          <p:cNvSpPr/>
          <p:nvPr/>
        </p:nvSpPr>
        <p:spPr>
          <a:xfrm>
            <a:off x="713232" y="2423160"/>
            <a:ext cx="3401568" cy="969264"/>
          </a:xfrm>
          <a:prstGeom prst="roundRect">
            <a:avLst>
              <a:gd name="adj" fmla="val 7547"/>
            </a:avLst>
          </a:prstGeom>
          <a:solidFill>
            <a:srgbClr val="FFFFFF"/>
          </a:solidFill>
          <a:ln w="10160">
            <a:noFill/>
            <a:prstDash val="solid"/>
          </a:ln>
        </p:spPr>
        <p:txBody>
          <a:bodyPr/>
          <a:lstStyle/>
          <a:p>
            <a:endParaRPr/>
          </a:p>
        </p:txBody>
      </p:sp>
      <p:sp>
        <p:nvSpPr>
          <p:cNvPr id="8" name="Text 6"/>
          <p:cNvSpPr/>
          <p:nvPr/>
        </p:nvSpPr>
        <p:spPr>
          <a:xfrm>
            <a:off x="877824" y="2578608"/>
            <a:ext cx="3081528" cy="219456"/>
          </a:xfrm>
          <a:prstGeom prst="rect">
            <a:avLst/>
          </a:prstGeom>
          <a:noFill/>
          <a:ln>
            <a:noFill/>
          </a:ln>
        </p:spPr>
        <p:txBody>
          <a:bodyPr wrap="square" rtlCol="0" anchor="ctr">
            <a:normAutofit fontScale="62500" lnSpcReduction="20000"/>
          </a:bodyPr>
          <a:lstStyle/>
          <a:p>
            <a:pPr marL="0" indent="0">
              <a:buNone/>
            </a:pPr>
            <a:r>
              <a:rPr lang="en-US" sz="1600" b="1" dirty="0">
                <a:solidFill>
                  <a:srgbClr val="263238"/>
                </a:solidFill>
                <a:latin typeface="Aptos Display" pitchFamily="34" charset="0"/>
                <a:ea typeface="Aptos Display" pitchFamily="34" charset="-122"/>
                <a:cs typeface="Aptos Display" pitchFamily="34" charset="-120"/>
              </a:rPr>
              <a:t>Squid Game</a:t>
            </a:r>
            <a:endParaRPr lang="en-US" sz="1600" dirty="0"/>
          </a:p>
        </p:txBody>
      </p:sp>
      <p:sp>
        <p:nvSpPr>
          <p:cNvPr id="9" name="Text 7"/>
          <p:cNvSpPr/>
          <p:nvPr/>
        </p:nvSpPr>
        <p:spPr>
          <a:xfrm>
            <a:off x="877824" y="2916936"/>
            <a:ext cx="3081528" cy="228600"/>
          </a:xfrm>
          <a:prstGeom prst="rect">
            <a:avLst/>
          </a:prstGeom>
          <a:noFill/>
          <a:ln>
            <a:noFill/>
          </a:ln>
        </p:spPr>
        <p:txBody>
          <a:bodyPr wrap="square" rtlCol="0" anchor="ctr">
            <a:normAutofit fontScale="92500" lnSpcReduction="20000"/>
          </a:bodyPr>
          <a:lstStyle/>
          <a:p>
            <a:pPr marL="0" indent="0">
              <a:buNone/>
            </a:pPr>
            <a:r>
              <a:rPr lang="en-US" sz="1050" dirty="0">
                <a:solidFill>
                  <a:srgbClr val="626B72"/>
                </a:solidFill>
                <a:latin typeface="Aptos" pitchFamily="34" charset="0"/>
                <a:ea typeface="Aptos" pitchFamily="34" charset="-122"/>
                <a:cs typeface="Aptos" pitchFamily="34" charset="-120"/>
              </a:rPr>
              <a:t>Korean scripted breakout</a:t>
            </a:r>
            <a:endParaRPr lang="en-US" sz="1050" dirty="0"/>
          </a:p>
        </p:txBody>
      </p:sp>
      <p:sp>
        <p:nvSpPr>
          <p:cNvPr id="10" name="Shape 8"/>
          <p:cNvSpPr/>
          <p:nvPr/>
        </p:nvSpPr>
        <p:spPr>
          <a:xfrm>
            <a:off x="4343400" y="2423160"/>
            <a:ext cx="3401568" cy="969264"/>
          </a:xfrm>
          <a:prstGeom prst="roundRect">
            <a:avLst>
              <a:gd name="adj" fmla="val 7547"/>
            </a:avLst>
          </a:prstGeom>
          <a:solidFill>
            <a:srgbClr val="FFFFFF"/>
          </a:solidFill>
          <a:ln w="10160">
            <a:noFill/>
            <a:prstDash val="solid"/>
          </a:ln>
        </p:spPr>
        <p:txBody>
          <a:bodyPr/>
          <a:lstStyle/>
          <a:p>
            <a:endParaRPr/>
          </a:p>
        </p:txBody>
      </p:sp>
      <p:sp>
        <p:nvSpPr>
          <p:cNvPr id="11" name="Text 9"/>
          <p:cNvSpPr/>
          <p:nvPr/>
        </p:nvSpPr>
        <p:spPr>
          <a:xfrm>
            <a:off x="4507992" y="2578608"/>
            <a:ext cx="3081528" cy="219456"/>
          </a:xfrm>
          <a:prstGeom prst="rect">
            <a:avLst/>
          </a:prstGeom>
          <a:noFill/>
          <a:ln>
            <a:noFill/>
          </a:ln>
        </p:spPr>
        <p:txBody>
          <a:bodyPr wrap="square" rtlCol="0" anchor="ctr">
            <a:normAutofit fontScale="62500" lnSpcReduction="20000"/>
          </a:bodyPr>
          <a:lstStyle/>
          <a:p>
            <a:pPr marL="0" indent="0">
              <a:buNone/>
            </a:pPr>
            <a:r>
              <a:rPr lang="en-US" sz="1600" b="1" dirty="0">
                <a:solidFill>
                  <a:srgbClr val="263238"/>
                </a:solidFill>
                <a:latin typeface="Aptos Display" pitchFamily="34" charset="0"/>
                <a:ea typeface="Aptos Display" pitchFamily="34" charset="-122"/>
                <a:cs typeface="Aptos Display" pitchFamily="34" charset="-120"/>
              </a:rPr>
              <a:t>All of Us Are Dead</a:t>
            </a:r>
            <a:endParaRPr lang="en-US" sz="1600" dirty="0"/>
          </a:p>
        </p:txBody>
      </p:sp>
      <p:sp>
        <p:nvSpPr>
          <p:cNvPr id="12" name="Text 10"/>
          <p:cNvSpPr/>
          <p:nvPr/>
        </p:nvSpPr>
        <p:spPr>
          <a:xfrm>
            <a:off x="4507992" y="2916936"/>
            <a:ext cx="3081528" cy="228600"/>
          </a:xfrm>
          <a:prstGeom prst="rect">
            <a:avLst/>
          </a:prstGeom>
          <a:noFill/>
          <a:ln>
            <a:noFill/>
          </a:ln>
        </p:spPr>
        <p:txBody>
          <a:bodyPr wrap="square" rtlCol="0" anchor="ctr">
            <a:normAutofit fontScale="92500" lnSpcReduction="20000"/>
          </a:bodyPr>
          <a:lstStyle/>
          <a:p>
            <a:pPr marL="0" indent="0">
              <a:buNone/>
            </a:pPr>
            <a:r>
              <a:rPr lang="en-US" sz="1050" dirty="0">
                <a:solidFill>
                  <a:srgbClr val="626B72"/>
                </a:solidFill>
                <a:latin typeface="Aptos" pitchFamily="34" charset="0"/>
                <a:ea typeface="Aptos" pitchFamily="34" charset="-122"/>
                <a:cs typeface="Aptos" pitchFamily="34" charset="-120"/>
              </a:rPr>
              <a:t>Korean zombie series</a:t>
            </a:r>
            <a:endParaRPr lang="en-US" sz="1050" dirty="0"/>
          </a:p>
        </p:txBody>
      </p:sp>
      <p:sp>
        <p:nvSpPr>
          <p:cNvPr id="13" name="Shape 11"/>
          <p:cNvSpPr/>
          <p:nvPr/>
        </p:nvSpPr>
        <p:spPr>
          <a:xfrm>
            <a:off x="7973568" y="2423160"/>
            <a:ext cx="3401568" cy="969264"/>
          </a:xfrm>
          <a:prstGeom prst="roundRect">
            <a:avLst>
              <a:gd name="adj" fmla="val 7547"/>
            </a:avLst>
          </a:prstGeom>
          <a:solidFill>
            <a:srgbClr val="FFFFFF"/>
          </a:solidFill>
          <a:ln w="10160">
            <a:noFill/>
            <a:prstDash val="solid"/>
          </a:ln>
        </p:spPr>
        <p:txBody>
          <a:bodyPr/>
          <a:lstStyle/>
          <a:p>
            <a:endParaRPr/>
          </a:p>
        </p:txBody>
      </p:sp>
      <p:sp>
        <p:nvSpPr>
          <p:cNvPr id="14" name="Text 12"/>
          <p:cNvSpPr/>
          <p:nvPr/>
        </p:nvSpPr>
        <p:spPr>
          <a:xfrm>
            <a:off x="8138160" y="2578608"/>
            <a:ext cx="3081528" cy="219456"/>
          </a:xfrm>
          <a:prstGeom prst="rect">
            <a:avLst/>
          </a:prstGeom>
          <a:noFill/>
          <a:ln>
            <a:noFill/>
          </a:ln>
        </p:spPr>
        <p:txBody>
          <a:bodyPr wrap="square" rtlCol="0" anchor="ctr">
            <a:normAutofit fontScale="62500" lnSpcReduction="20000"/>
          </a:bodyPr>
          <a:lstStyle/>
          <a:p>
            <a:pPr marL="0" indent="0">
              <a:buNone/>
            </a:pPr>
            <a:r>
              <a:rPr lang="en-US" sz="1600" b="1" dirty="0">
                <a:solidFill>
                  <a:srgbClr val="263238"/>
                </a:solidFill>
                <a:latin typeface="Aptos Display" pitchFamily="34" charset="0"/>
                <a:ea typeface="Aptos Display" pitchFamily="34" charset="-122"/>
                <a:cs typeface="Aptos Display" pitchFamily="34" charset="-120"/>
              </a:rPr>
              <a:t>Alice in Borderland</a:t>
            </a:r>
            <a:endParaRPr lang="en-US" sz="1600" dirty="0"/>
          </a:p>
        </p:txBody>
      </p:sp>
      <p:sp>
        <p:nvSpPr>
          <p:cNvPr id="15" name="Text 13"/>
          <p:cNvSpPr/>
          <p:nvPr/>
        </p:nvSpPr>
        <p:spPr>
          <a:xfrm>
            <a:off x="8138160" y="2916936"/>
            <a:ext cx="3081528" cy="228600"/>
          </a:xfrm>
          <a:prstGeom prst="rect">
            <a:avLst/>
          </a:prstGeom>
          <a:noFill/>
          <a:ln>
            <a:noFill/>
          </a:ln>
        </p:spPr>
        <p:txBody>
          <a:bodyPr wrap="square" rtlCol="0" anchor="ctr">
            <a:normAutofit fontScale="92500" lnSpcReduction="20000"/>
          </a:bodyPr>
          <a:lstStyle/>
          <a:p>
            <a:pPr marL="0" indent="0">
              <a:buNone/>
            </a:pPr>
            <a:r>
              <a:rPr lang="en-US" sz="1050" dirty="0">
                <a:solidFill>
                  <a:srgbClr val="626B72"/>
                </a:solidFill>
                <a:latin typeface="Aptos" pitchFamily="34" charset="0"/>
                <a:ea typeface="Aptos" pitchFamily="34" charset="-122"/>
                <a:cs typeface="Aptos" pitchFamily="34" charset="-120"/>
              </a:rPr>
              <a:t>Japanese thriller</a:t>
            </a:r>
            <a:endParaRPr lang="en-US" sz="1050" dirty="0"/>
          </a:p>
        </p:txBody>
      </p:sp>
      <p:sp>
        <p:nvSpPr>
          <p:cNvPr id="16" name="Shape 14"/>
          <p:cNvSpPr/>
          <p:nvPr/>
        </p:nvSpPr>
        <p:spPr>
          <a:xfrm>
            <a:off x="713232" y="3712464"/>
            <a:ext cx="3401568" cy="969264"/>
          </a:xfrm>
          <a:prstGeom prst="roundRect">
            <a:avLst>
              <a:gd name="adj" fmla="val 7547"/>
            </a:avLst>
          </a:prstGeom>
          <a:solidFill>
            <a:srgbClr val="FFFFFF"/>
          </a:solidFill>
          <a:ln w="10160">
            <a:noFill/>
            <a:prstDash val="solid"/>
          </a:ln>
        </p:spPr>
        <p:txBody>
          <a:bodyPr/>
          <a:lstStyle/>
          <a:p>
            <a:endParaRPr/>
          </a:p>
        </p:txBody>
      </p:sp>
      <p:sp>
        <p:nvSpPr>
          <p:cNvPr id="17" name="Text 15"/>
          <p:cNvSpPr/>
          <p:nvPr/>
        </p:nvSpPr>
        <p:spPr>
          <a:xfrm>
            <a:off x="877824" y="3867912"/>
            <a:ext cx="3081528" cy="219456"/>
          </a:xfrm>
          <a:prstGeom prst="rect">
            <a:avLst/>
          </a:prstGeom>
          <a:noFill/>
          <a:ln>
            <a:noFill/>
          </a:ln>
        </p:spPr>
        <p:txBody>
          <a:bodyPr wrap="square" rtlCol="0" anchor="ctr">
            <a:normAutofit fontScale="62500" lnSpcReduction="20000"/>
          </a:bodyPr>
          <a:lstStyle/>
          <a:p>
            <a:pPr marL="0" indent="0">
              <a:buNone/>
            </a:pPr>
            <a:r>
              <a:rPr lang="en-US" sz="1600" b="1" dirty="0">
                <a:solidFill>
                  <a:srgbClr val="263238"/>
                </a:solidFill>
                <a:latin typeface="Aptos Display" pitchFamily="34" charset="0"/>
                <a:ea typeface="Aptos Display" pitchFamily="34" charset="-122"/>
                <a:cs typeface="Aptos Display" pitchFamily="34" charset="-120"/>
              </a:rPr>
              <a:t>Physical: 100</a:t>
            </a:r>
            <a:endParaRPr lang="en-US" sz="1600" dirty="0"/>
          </a:p>
        </p:txBody>
      </p:sp>
      <p:sp>
        <p:nvSpPr>
          <p:cNvPr id="18" name="Text 16"/>
          <p:cNvSpPr/>
          <p:nvPr/>
        </p:nvSpPr>
        <p:spPr>
          <a:xfrm>
            <a:off x="877824" y="4206240"/>
            <a:ext cx="3081528" cy="228600"/>
          </a:xfrm>
          <a:prstGeom prst="rect">
            <a:avLst/>
          </a:prstGeom>
          <a:noFill/>
          <a:ln>
            <a:noFill/>
          </a:ln>
        </p:spPr>
        <p:txBody>
          <a:bodyPr wrap="square" rtlCol="0" anchor="ctr">
            <a:normAutofit fontScale="92500" lnSpcReduction="20000"/>
          </a:bodyPr>
          <a:lstStyle/>
          <a:p>
            <a:pPr marL="0" indent="0">
              <a:buNone/>
            </a:pPr>
            <a:r>
              <a:rPr lang="en-US" sz="1050" dirty="0">
                <a:solidFill>
                  <a:srgbClr val="626B72"/>
                </a:solidFill>
                <a:latin typeface="Aptos" pitchFamily="34" charset="0"/>
                <a:ea typeface="Aptos" pitchFamily="34" charset="-122"/>
                <a:cs typeface="Aptos" pitchFamily="34" charset="-120"/>
              </a:rPr>
              <a:t>Korean competition format</a:t>
            </a:r>
            <a:endParaRPr lang="en-US" sz="1050" dirty="0"/>
          </a:p>
        </p:txBody>
      </p:sp>
      <p:sp>
        <p:nvSpPr>
          <p:cNvPr id="19" name="Shape 17"/>
          <p:cNvSpPr/>
          <p:nvPr/>
        </p:nvSpPr>
        <p:spPr>
          <a:xfrm>
            <a:off x="4343400" y="3712464"/>
            <a:ext cx="3401568" cy="969264"/>
          </a:xfrm>
          <a:prstGeom prst="roundRect">
            <a:avLst>
              <a:gd name="adj" fmla="val 7547"/>
            </a:avLst>
          </a:prstGeom>
          <a:solidFill>
            <a:srgbClr val="FFFFFF"/>
          </a:solidFill>
          <a:ln w="10160">
            <a:noFill/>
            <a:prstDash val="solid"/>
          </a:ln>
        </p:spPr>
        <p:txBody>
          <a:bodyPr/>
          <a:lstStyle/>
          <a:p>
            <a:endParaRPr/>
          </a:p>
        </p:txBody>
      </p:sp>
      <p:sp>
        <p:nvSpPr>
          <p:cNvPr id="20" name="Text 18"/>
          <p:cNvSpPr/>
          <p:nvPr/>
        </p:nvSpPr>
        <p:spPr>
          <a:xfrm>
            <a:off x="4507992" y="3867912"/>
            <a:ext cx="3081528" cy="219456"/>
          </a:xfrm>
          <a:prstGeom prst="rect">
            <a:avLst/>
          </a:prstGeom>
          <a:noFill/>
          <a:ln>
            <a:noFill/>
          </a:ln>
        </p:spPr>
        <p:txBody>
          <a:bodyPr wrap="square" rtlCol="0" anchor="ctr">
            <a:normAutofit fontScale="62500" lnSpcReduction="20000"/>
          </a:bodyPr>
          <a:lstStyle/>
          <a:p>
            <a:pPr marL="0" indent="0">
              <a:buNone/>
            </a:pPr>
            <a:r>
              <a:rPr lang="en-US" sz="1600" b="1" dirty="0">
                <a:solidFill>
                  <a:srgbClr val="263238"/>
                </a:solidFill>
                <a:latin typeface="Aptos Display" pitchFamily="34" charset="0"/>
                <a:ea typeface="Aptos Display" pitchFamily="34" charset="-122"/>
                <a:cs typeface="Aptos Display" pitchFamily="34" charset="-120"/>
              </a:rPr>
              <a:t>ONE PIECE</a:t>
            </a:r>
            <a:endParaRPr lang="en-US" sz="1600" dirty="0"/>
          </a:p>
        </p:txBody>
      </p:sp>
      <p:sp>
        <p:nvSpPr>
          <p:cNvPr id="21" name="Text 19"/>
          <p:cNvSpPr/>
          <p:nvPr/>
        </p:nvSpPr>
        <p:spPr>
          <a:xfrm>
            <a:off x="4507992" y="4206240"/>
            <a:ext cx="3081528" cy="228600"/>
          </a:xfrm>
          <a:prstGeom prst="rect">
            <a:avLst/>
          </a:prstGeom>
          <a:noFill/>
          <a:ln>
            <a:noFill/>
          </a:ln>
        </p:spPr>
        <p:txBody>
          <a:bodyPr wrap="square" rtlCol="0" anchor="ctr">
            <a:normAutofit fontScale="92500" lnSpcReduction="20000"/>
          </a:bodyPr>
          <a:lstStyle/>
          <a:p>
            <a:pPr marL="0" indent="0">
              <a:buNone/>
            </a:pPr>
            <a:r>
              <a:rPr lang="en-US" sz="1050" dirty="0">
                <a:solidFill>
                  <a:srgbClr val="626B72"/>
                </a:solidFill>
                <a:latin typeface="Aptos" pitchFamily="34" charset="0"/>
                <a:ea typeface="Aptos" pitchFamily="34" charset="-122"/>
                <a:cs typeface="Aptos" pitchFamily="34" charset="-120"/>
              </a:rPr>
              <a:t>Japanese IP adapted globally</a:t>
            </a:r>
            <a:endParaRPr lang="en-US" sz="1050" dirty="0"/>
          </a:p>
        </p:txBody>
      </p:sp>
      <p:sp>
        <p:nvSpPr>
          <p:cNvPr id="22" name="Shape 20"/>
          <p:cNvSpPr/>
          <p:nvPr/>
        </p:nvSpPr>
        <p:spPr>
          <a:xfrm>
            <a:off x="7973568" y="3712464"/>
            <a:ext cx="3401568" cy="969264"/>
          </a:xfrm>
          <a:prstGeom prst="roundRect">
            <a:avLst>
              <a:gd name="adj" fmla="val 7547"/>
            </a:avLst>
          </a:prstGeom>
          <a:solidFill>
            <a:srgbClr val="FFFFFF"/>
          </a:solidFill>
          <a:ln w="17780">
            <a:noFill/>
            <a:prstDash val="solid"/>
          </a:ln>
        </p:spPr>
        <p:txBody>
          <a:bodyPr/>
          <a:lstStyle/>
          <a:p>
            <a:endParaRPr/>
          </a:p>
        </p:txBody>
      </p:sp>
      <p:sp>
        <p:nvSpPr>
          <p:cNvPr id="23" name="Text 21"/>
          <p:cNvSpPr/>
          <p:nvPr/>
        </p:nvSpPr>
        <p:spPr>
          <a:xfrm>
            <a:off x="8138160" y="3867912"/>
            <a:ext cx="3081528" cy="219456"/>
          </a:xfrm>
          <a:prstGeom prst="rect">
            <a:avLst/>
          </a:prstGeom>
          <a:noFill/>
          <a:ln>
            <a:noFill/>
          </a:ln>
        </p:spPr>
        <p:txBody>
          <a:bodyPr wrap="square" rtlCol="0" anchor="ctr">
            <a:normAutofit fontScale="62500" lnSpcReduction="20000"/>
          </a:bodyPr>
          <a:lstStyle/>
          <a:p>
            <a:pPr marL="0" indent="0">
              <a:buNone/>
            </a:pPr>
            <a:r>
              <a:rPr lang="en-US" sz="1600" b="1" dirty="0">
                <a:solidFill>
                  <a:srgbClr val="263238"/>
                </a:solidFill>
                <a:latin typeface="Aptos Display" pitchFamily="34" charset="0"/>
                <a:ea typeface="Aptos Display" pitchFamily="34" charset="-122"/>
                <a:cs typeface="Aptos Display" pitchFamily="34" charset="-120"/>
              </a:rPr>
              <a:t>KPop Demon Hunters</a:t>
            </a:r>
            <a:endParaRPr lang="en-US" sz="1600" dirty="0"/>
          </a:p>
        </p:txBody>
      </p:sp>
      <p:sp>
        <p:nvSpPr>
          <p:cNvPr id="24" name="Text 22"/>
          <p:cNvSpPr/>
          <p:nvPr/>
        </p:nvSpPr>
        <p:spPr>
          <a:xfrm>
            <a:off x="8138160" y="4206240"/>
            <a:ext cx="3081528" cy="228600"/>
          </a:xfrm>
          <a:prstGeom prst="rect">
            <a:avLst/>
          </a:prstGeom>
          <a:noFill/>
          <a:ln>
            <a:noFill/>
          </a:ln>
        </p:spPr>
        <p:txBody>
          <a:bodyPr wrap="square" rtlCol="0" anchor="ctr">
            <a:normAutofit fontScale="92500" lnSpcReduction="20000"/>
          </a:bodyPr>
          <a:lstStyle/>
          <a:p>
            <a:pPr marL="0" indent="0">
              <a:buNone/>
            </a:pPr>
            <a:r>
              <a:rPr lang="en-US" sz="1050" dirty="0">
                <a:solidFill>
                  <a:srgbClr val="626B72"/>
                </a:solidFill>
                <a:latin typeface="Aptos" pitchFamily="34" charset="0"/>
                <a:ea typeface="Aptos" pitchFamily="34" charset="-122"/>
                <a:cs typeface="Aptos" pitchFamily="34" charset="-120"/>
              </a:rPr>
              <a:t>Global Phenomenon</a:t>
            </a:r>
            <a:endParaRPr lang="en-US" sz="1050" dirty="0"/>
          </a:p>
        </p:txBody>
      </p:sp>
      <p:sp>
        <p:nvSpPr>
          <p:cNvPr id="25" name="Shape 23"/>
          <p:cNvSpPr/>
          <p:nvPr/>
        </p:nvSpPr>
        <p:spPr>
          <a:xfrm>
            <a:off x="960120" y="5413248"/>
            <a:ext cx="10058400" cy="566928"/>
          </a:xfrm>
          <a:prstGeom prst="roundRect">
            <a:avLst>
              <a:gd name="adj" fmla="val 12903"/>
            </a:avLst>
          </a:prstGeom>
          <a:solidFill>
            <a:srgbClr val="F8F7F3"/>
          </a:solidFill>
          <a:ln w="15240">
            <a:noFill/>
            <a:prstDash val="solid"/>
          </a:ln>
        </p:spPr>
        <p:txBody>
          <a:bodyPr/>
          <a:lstStyle/>
          <a:p>
            <a:endParaRPr/>
          </a:p>
        </p:txBody>
      </p:sp>
      <p:sp>
        <p:nvSpPr>
          <p:cNvPr id="26" name="Text 24"/>
          <p:cNvSpPr/>
          <p:nvPr/>
        </p:nvSpPr>
        <p:spPr>
          <a:xfrm>
            <a:off x="1124712" y="5541264"/>
            <a:ext cx="9729216" cy="310896"/>
          </a:xfrm>
          <a:prstGeom prst="rect">
            <a:avLst/>
          </a:prstGeom>
          <a:noFill/>
          <a:ln>
            <a:noFill/>
          </a:ln>
        </p:spPr>
        <p:txBody>
          <a:bodyPr wrap="square" rtlCol="0" anchor="ctr">
            <a:normAutofit fontScale="85000" lnSpcReduction="10000"/>
          </a:bodyPr>
          <a:lstStyle/>
          <a:p>
            <a:pPr marL="0" indent="0">
              <a:buNone/>
            </a:pPr>
            <a:r>
              <a:rPr lang="en-US" sz="1400" dirty="0">
                <a:solidFill>
                  <a:srgbClr val="263238"/>
                </a:solidFill>
                <a:latin typeface="Aptos" pitchFamily="34" charset="0"/>
                <a:ea typeface="Aptos" pitchFamily="34" charset="-122"/>
                <a:cs typeface="Aptos" pitchFamily="34" charset="-120"/>
              </a:rPr>
              <a:t>The target opportunity is not just foreign content. It’s to focus on content that can move from regional popularity to global mainstream popularity.</a:t>
            </a:r>
            <a:endParaRPr lang="en-US" sz="1400" dirty="0"/>
          </a:p>
        </p:txBody>
      </p:sp>
      <p:sp>
        <p:nvSpPr>
          <p:cNvPr id="27" name="Text 25"/>
          <p:cNvSpPr/>
          <p:nvPr/>
        </p:nvSpPr>
        <p:spPr>
          <a:xfrm>
            <a:off x="502920" y="6556248"/>
            <a:ext cx="8503920" cy="164592"/>
          </a:xfrm>
          <a:prstGeom prst="rect">
            <a:avLst/>
          </a:prstGeom>
          <a:noFill/>
          <a:ln>
            <a:noFill/>
          </a:ln>
        </p:spPr>
        <p:txBody>
          <a:bodyPr wrap="square" rtlCol="0" anchor="ctr">
            <a:normAutofit fontScale="77500" lnSpcReduction="20000"/>
          </a:bodyPr>
          <a:lstStyle/>
          <a:p>
            <a:pPr marL="0" indent="0">
              <a:buNone/>
            </a:pPr>
            <a:r>
              <a:rPr lang="en-US" sz="650" dirty="0">
                <a:solidFill>
                  <a:srgbClr val="626B72"/>
                </a:solidFill>
                <a:latin typeface="Aptos" pitchFamily="34" charset="0"/>
                <a:ea typeface="Aptos" pitchFamily="34" charset="-122"/>
                <a:cs typeface="Aptos" pitchFamily="34" charset="-120"/>
              </a:rPr>
              <a:t>Source: Netflix Top 10 datasets provided; Netflix Tudum Top 10 page for KPop Demon Hunters current-context mention.</a:t>
            </a:r>
            <a:endParaRPr lang="en-US" sz="650" dirty="0"/>
          </a:p>
        </p:txBody>
      </p:sp>
      <p:sp>
        <p:nvSpPr>
          <p:cNvPr id="28" name="Text 26"/>
          <p:cNvSpPr/>
          <p:nvPr/>
        </p:nvSpPr>
        <p:spPr>
          <a:xfrm>
            <a:off x="10789920" y="6510528"/>
            <a:ext cx="868680" cy="182880"/>
          </a:xfrm>
          <a:prstGeom prst="rect">
            <a:avLst/>
          </a:prstGeom>
          <a:noFill/>
          <a:ln>
            <a:noFill/>
          </a:ln>
        </p:spPr>
        <p:txBody>
          <a:bodyPr wrap="square" rtlCol="0" anchor="ctr"/>
          <a:lstStyle/>
          <a:p>
            <a:pPr marL="0" indent="0" algn="r">
              <a:buNone/>
            </a:pPr>
            <a:r>
              <a:rPr lang="en-US" sz="750" dirty="0">
                <a:solidFill>
                  <a:srgbClr val="626B72"/>
                </a:solidFill>
                <a:latin typeface="Aptos" pitchFamily="34" charset="0"/>
                <a:ea typeface="Aptos" pitchFamily="34" charset="-122"/>
                <a:cs typeface="Aptos" pitchFamily="34" charset="-120"/>
              </a:rPr>
              <a:t>DSC640</a:t>
            </a:r>
            <a:endParaRPr lang="en-US" sz="750" dirty="0"/>
          </a:p>
        </p:txBody>
      </p:sp>
      <p:sp>
        <p:nvSpPr>
          <p:cNvPr id="29" name="Rectangle 28"/>
          <p:cNvSpPr/>
          <p:nvPr/>
        </p:nvSpPr>
        <p:spPr>
          <a:xfrm>
            <a:off x="320040" y="6556248"/>
            <a:ext cx="11567160" cy="18288"/>
          </a:xfrm>
          <a:prstGeom prst="rect">
            <a:avLst/>
          </a:prstGeom>
          <a:solidFill>
            <a:srgbClr val="2F6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a:extLst>
              <a:ext uri="{FF2B5EF4-FFF2-40B4-BE49-F238E27FC236}">
                <a16:creationId xmlns:a16="http://schemas.microsoft.com/office/drawing/2014/main" id="{4CEAC6B7-AC31-0E30-7CC5-9C0F4C5919CF}"/>
              </a:ext>
            </a:extLst>
          </p:cNvPr>
          <p:cNvPicPr>
            <a:picLocks noChangeAspect="1"/>
          </p:cNvPicPr>
          <p:nvPr/>
        </p:nvPicPr>
        <p:blipFill>
          <a:blip r:embed="rId3"/>
          <a:stretch>
            <a:fillRect/>
          </a:stretch>
        </p:blipFill>
        <p:spPr>
          <a:xfrm>
            <a:off x="10245130" y="3849624"/>
            <a:ext cx="974558" cy="548640"/>
          </a:xfrm>
          <a:prstGeom prst="rect">
            <a:avLst/>
          </a:prstGeom>
        </p:spPr>
      </p:pic>
      <p:pic>
        <p:nvPicPr>
          <p:cNvPr id="33" name="Picture 32">
            <a:extLst>
              <a:ext uri="{FF2B5EF4-FFF2-40B4-BE49-F238E27FC236}">
                <a16:creationId xmlns:a16="http://schemas.microsoft.com/office/drawing/2014/main" id="{91A7CEAD-6AA8-13CD-A99F-46DF971E3640}"/>
              </a:ext>
            </a:extLst>
          </p:cNvPr>
          <p:cNvPicPr>
            <a:picLocks noChangeAspect="1"/>
          </p:cNvPicPr>
          <p:nvPr/>
        </p:nvPicPr>
        <p:blipFill>
          <a:blip r:embed="rId4"/>
          <a:stretch>
            <a:fillRect/>
          </a:stretch>
        </p:blipFill>
        <p:spPr>
          <a:xfrm>
            <a:off x="2879585" y="2550834"/>
            <a:ext cx="929442" cy="615441"/>
          </a:xfrm>
          <a:prstGeom prst="rect">
            <a:avLst/>
          </a:prstGeom>
        </p:spPr>
      </p:pic>
      <p:pic>
        <p:nvPicPr>
          <p:cNvPr id="35" name="Picture 34">
            <a:extLst>
              <a:ext uri="{FF2B5EF4-FFF2-40B4-BE49-F238E27FC236}">
                <a16:creationId xmlns:a16="http://schemas.microsoft.com/office/drawing/2014/main" id="{4B6DCBD0-2400-525C-6A2B-6C96A00249DC}"/>
              </a:ext>
            </a:extLst>
          </p:cNvPr>
          <p:cNvPicPr>
            <a:picLocks noChangeAspect="1"/>
          </p:cNvPicPr>
          <p:nvPr/>
        </p:nvPicPr>
        <p:blipFill>
          <a:blip r:embed="rId5"/>
          <a:stretch>
            <a:fillRect/>
          </a:stretch>
        </p:blipFill>
        <p:spPr>
          <a:xfrm>
            <a:off x="10245130" y="2547004"/>
            <a:ext cx="757418" cy="718376"/>
          </a:xfrm>
          <a:prstGeom prst="rect">
            <a:avLst/>
          </a:prstGeom>
        </p:spPr>
      </p:pic>
      <p:pic>
        <p:nvPicPr>
          <p:cNvPr id="37" name="Picture 36">
            <a:extLst>
              <a:ext uri="{FF2B5EF4-FFF2-40B4-BE49-F238E27FC236}">
                <a16:creationId xmlns:a16="http://schemas.microsoft.com/office/drawing/2014/main" id="{2E61675C-E3D3-3F31-D891-4510D5BEFF86}"/>
              </a:ext>
            </a:extLst>
          </p:cNvPr>
          <p:cNvPicPr>
            <a:picLocks noChangeAspect="1"/>
          </p:cNvPicPr>
          <p:nvPr/>
        </p:nvPicPr>
        <p:blipFill>
          <a:blip r:embed="rId6"/>
          <a:stretch>
            <a:fillRect/>
          </a:stretch>
        </p:blipFill>
        <p:spPr>
          <a:xfrm>
            <a:off x="2879585" y="3834070"/>
            <a:ext cx="978696" cy="630936"/>
          </a:xfrm>
          <a:prstGeom prst="rect">
            <a:avLst/>
          </a:prstGeom>
        </p:spPr>
      </p:pic>
      <p:pic>
        <p:nvPicPr>
          <p:cNvPr id="39" name="Picture 38">
            <a:extLst>
              <a:ext uri="{FF2B5EF4-FFF2-40B4-BE49-F238E27FC236}">
                <a16:creationId xmlns:a16="http://schemas.microsoft.com/office/drawing/2014/main" id="{03BCB4D3-5427-C5F8-F998-58FECDC4A8CA}"/>
              </a:ext>
            </a:extLst>
          </p:cNvPr>
          <p:cNvPicPr>
            <a:picLocks noChangeAspect="1"/>
          </p:cNvPicPr>
          <p:nvPr/>
        </p:nvPicPr>
        <p:blipFill>
          <a:blip r:embed="rId7"/>
          <a:stretch>
            <a:fillRect/>
          </a:stretch>
        </p:blipFill>
        <p:spPr>
          <a:xfrm>
            <a:off x="6664751" y="3834825"/>
            <a:ext cx="1002493" cy="637950"/>
          </a:xfrm>
          <a:prstGeom prst="rect">
            <a:avLst/>
          </a:prstGeom>
        </p:spPr>
      </p:pic>
      <p:pic>
        <p:nvPicPr>
          <p:cNvPr id="41" name="Picture 40">
            <a:extLst>
              <a:ext uri="{FF2B5EF4-FFF2-40B4-BE49-F238E27FC236}">
                <a16:creationId xmlns:a16="http://schemas.microsoft.com/office/drawing/2014/main" id="{173EFA5E-B6D9-54C3-6AF6-717A632F3628}"/>
              </a:ext>
            </a:extLst>
          </p:cNvPr>
          <p:cNvPicPr>
            <a:picLocks noChangeAspect="1"/>
          </p:cNvPicPr>
          <p:nvPr/>
        </p:nvPicPr>
        <p:blipFill>
          <a:blip r:embed="rId8"/>
          <a:stretch>
            <a:fillRect/>
          </a:stretch>
        </p:blipFill>
        <p:spPr>
          <a:xfrm>
            <a:off x="6664751" y="2590800"/>
            <a:ext cx="998959" cy="59131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7F3"/>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F6F7E"/>
          </a:solidFill>
          <a:ln w="12700">
            <a:noFill/>
            <a:prstDash val="solid"/>
          </a:ln>
        </p:spPr>
        <p:txBody>
          <a:bodyPr/>
          <a:lstStyle/>
          <a:p>
            <a:endParaRPr/>
          </a:p>
        </p:txBody>
      </p:sp>
      <p:sp>
        <p:nvSpPr>
          <p:cNvPr id="3" name="Text 1"/>
          <p:cNvSpPr/>
          <p:nvPr/>
        </p:nvSpPr>
        <p:spPr>
          <a:xfrm>
            <a:off x="11521440" y="237744"/>
            <a:ext cx="347472" cy="182880"/>
          </a:xfrm>
          <a:prstGeom prst="rect">
            <a:avLst/>
          </a:prstGeom>
          <a:noFill/>
          <a:ln>
            <a:noFill/>
          </a:ln>
        </p:spPr>
        <p:txBody>
          <a:bodyPr wrap="square" rtlCol="0" anchor="ctr"/>
          <a:lstStyle/>
          <a:p>
            <a:pPr marL="0" indent="0" algn="r">
              <a:buNone/>
            </a:pPr>
            <a:r>
              <a:rPr lang="en-US" sz="800" dirty="0">
                <a:solidFill>
                  <a:srgbClr val="626B72"/>
                </a:solidFill>
                <a:latin typeface="Aptos" pitchFamily="34" charset="0"/>
                <a:ea typeface="Aptos" pitchFamily="34" charset="-122"/>
                <a:cs typeface="Aptos" pitchFamily="34" charset="-120"/>
              </a:rPr>
              <a:t>05</a:t>
            </a:r>
            <a:endParaRPr lang="en-US" sz="800" dirty="0"/>
          </a:p>
        </p:txBody>
      </p:sp>
      <p:sp>
        <p:nvSpPr>
          <p:cNvPr id="4" name="Text 2"/>
          <p:cNvSpPr/>
          <p:nvPr/>
        </p:nvSpPr>
        <p:spPr>
          <a:xfrm>
            <a:off x="594360" y="384048"/>
            <a:ext cx="5303520" cy="228600"/>
          </a:xfrm>
          <a:prstGeom prst="rect">
            <a:avLst/>
          </a:prstGeom>
          <a:noFill/>
          <a:ln>
            <a:noFill/>
          </a:ln>
        </p:spPr>
        <p:txBody>
          <a:bodyPr wrap="square" rtlCol="0" anchor="ctr"/>
          <a:lstStyle/>
          <a:p>
            <a:pPr marL="0" indent="0">
              <a:buNone/>
            </a:pPr>
            <a:r>
              <a:rPr lang="en-US" sz="900" b="1" dirty="0">
                <a:solidFill>
                  <a:srgbClr val="2F6F7E"/>
                </a:solidFill>
                <a:latin typeface="Aptos" pitchFamily="34" charset="0"/>
                <a:ea typeface="Aptos" pitchFamily="34" charset="-122"/>
                <a:cs typeface="Aptos" pitchFamily="34" charset="-120"/>
              </a:rPr>
              <a:t>DATA SOURCES</a:t>
            </a:r>
            <a:endParaRPr lang="en-US" sz="900" dirty="0"/>
          </a:p>
        </p:txBody>
      </p:sp>
      <p:sp>
        <p:nvSpPr>
          <p:cNvPr id="5" name="Text 3"/>
          <p:cNvSpPr/>
          <p:nvPr/>
        </p:nvSpPr>
        <p:spPr>
          <a:xfrm>
            <a:off x="594360" y="658368"/>
            <a:ext cx="10972800" cy="502920"/>
          </a:xfrm>
          <a:prstGeom prst="rect">
            <a:avLst/>
          </a:prstGeom>
          <a:noFill/>
          <a:ln>
            <a:noFill/>
          </a:ln>
        </p:spPr>
        <p:txBody>
          <a:bodyPr wrap="square" lIns="0" tIns="0" rIns="0" bIns="0" rtlCol="0" anchor="ctr">
            <a:normAutofit/>
          </a:bodyPr>
          <a:lstStyle/>
          <a:p>
            <a:pPr marL="0" indent="0">
              <a:buNone/>
            </a:pPr>
            <a:r>
              <a:rPr lang="en-US" sz="2500" b="1" dirty="0">
                <a:solidFill>
                  <a:srgbClr val="263238"/>
                </a:solidFill>
                <a:latin typeface="Aptos Display" pitchFamily="34" charset="0"/>
                <a:ea typeface="Aptos Display" pitchFamily="34" charset="-122"/>
                <a:cs typeface="Aptos Display" pitchFamily="34" charset="-120"/>
              </a:rPr>
              <a:t>Three Views of Netflix Popularity</a:t>
            </a:r>
            <a:endParaRPr lang="en-US" sz="2500" dirty="0"/>
          </a:p>
        </p:txBody>
      </p:sp>
      <p:sp>
        <p:nvSpPr>
          <p:cNvPr id="6" name="Text 4"/>
          <p:cNvSpPr/>
          <p:nvPr/>
        </p:nvSpPr>
        <p:spPr>
          <a:xfrm>
            <a:off x="731520" y="1188720"/>
            <a:ext cx="8869680" cy="438912"/>
          </a:xfrm>
          <a:prstGeom prst="rect">
            <a:avLst/>
          </a:prstGeom>
          <a:noFill/>
          <a:ln>
            <a:noFill/>
          </a:ln>
        </p:spPr>
        <p:txBody>
          <a:bodyPr wrap="square" rtlCol="0" anchor="ctr">
            <a:normAutofit fontScale="85000" lnSpcReduction="20000"/>
          </a:bodyPr>
          <a:lstStyle/>
          <a:p>
            <a:pPr marL="0" indent="0">
              <a:buNone/>
            </a:pPr>
            <a:r>
              <a:rPr lang="en-US" sz="1550" dirty="0">
                <a:solidFill>
                  <a:srgbClr val="263238"/>
                </a:solidFill>
                <a:latin typeface="Aptos" pitchFamily="34" charset="0"/>
                <a:ea typeface="Aptos" pitchFamily="34" charset="-122"/>
                <a:cs typeface="Aptos" pitchFamily="34" charset="-120"/>
              </a:rPr>
              <a:t>Each dataset answers a different part of the story: what became popular, where it became popular, and which titles became Netflix’s biggest overall hits.</a:t>
            </a:r>
            <a:endParaRPr lang="en-US" sz="1550" dirty="0"/>
          </a:p>
        </p:txBody>
      </p:sp>
      <p:sp>
        <p:nvSpPr>
          <p:cNvPr id="7" name="Shape 5"/>
          <p:cNvSpPr/>
          <p:nvPr/>
        </p:nvSpPr>
        <p:spPr>
          <a:xfrm>
            <a:off x="731520" y="2103120"/>
            <a:ext cx="3456432" cy="2542032"/>
          </a:xfrm>
          <a:prstGeom prst="roundRect">
            <a:avLst>
              <a:gd name="adj" fmla="val 3597"/>
            </a:avLst>
          </a:prstGeom>
          <a:solidFill>
            <a:srgbClr val="FFFFFF"/>
          </a:solidFill>
          <a:ln w="10160">
            <a:noFill/>
            <a:prstDash val="solid"/>
          </a:ln>
        </p:spPr>
        <p:txBody>
          <a:bodyPr/>
          <a:lstStyle/>
          <a:p>
            <a:endParaRPr/>
          </a:p>
        </p:txBody>
      </p:sp>
      <p:sp>
        <p:nvSpPr>
          <p:cNvPr id="8" name="Shape 6"/>
          <p:cNvSpPr/>
          <p:nvPr/>
        </p:nvSpPr>
        <p:spPr>
          <a:xfrm>
            <a:off x="731520" y="2103120"/>
            <a:ext cx="3456432" cy="73152"/>
          </a:xfrm>
          <a:prstGeom prst="rect">
            <a:avLst/>
          </a:prstGeom>
          <a:solidFill>
            <a:srgbClr val="2F6F7E"/>
          </a:solidFill>
          <a:ln w="12700">
            <a:noFill/>
            <a:prstDash val="solid"/>
          </a:ln>
        </p:spPr>
        <p:txBody>
          <a:bodyPr/>
          <a:lstStyle/>
          <a:p>
            <a:endParaRPr/>
          </a:p>
        </p:txBody>
      </p:sp>
      <p:sp>
        <p:nvSpPr>
          <p:cNvPr id="9" name="Text 7"/>
          <p:cNvSpPr/>
          <p:nvPr/>
        </p:nvSpPr>
        <p:spPr>
          <a:xfrm>
            <a:off x="932688" y="2404872"/>
            <a:ext cx="3072384" cy="411480"/>
          </a:xfrm>
          <a:prstGeom prst="rect">
            <a:avLst/>
          </a:prstGeom>
          <a:noFill/>
          <a:ln>
            <a:noFill/>
          </a:ln>
        </p:spPr>
        <p:txBody>
          <a:bodyPr wrap="square" rtlCol="0" anchor="ctr">
            <a:normAutofit/>
          </a:bodyPr>
          <a:lstStyle/>
          <a:p>
            <a:pPr marL="0" indent="0">
              <a:buNone/>
            </a:pPr>
            <a:r>
              <a:rPr lang="en-US" sz="1600" b="1" dirty="0">
                <a:solidFill>
                  <a:srgbClr val="263238"/>
                </a:solidFill>
                <a:latin typeface="Aptos Display" pitchFamily="34" charset="0"/>
                <a:ea typeface="Aptos Display" pitchFamily="34" charset="-122"/>
                <a:cs typeface="Aptos Display" pitchFamily="34" charset="-120"/>
              </a:rPr>
              <a:t>All Weeks Global Netflix</a:t>
            </a:r>
            <a:endParaRPr lang="en-US" sz="1600" dirty="0"/>
          </a:p>
        </p:txBody>
      </p:sp>
      <p:sp>
        <p:nvSpPr>
          <p:cNvPr id="10" name="Text 8"/>
          <p:cNvSpPr/>
          <p:nvPr/>
        </p:nvSpPr>
        <p:spPr>
          <a:xfrm>
            <a:off x="932688" y="3154680"/>
            <a:ext cx="3072384" cy="164592"/>
          </a:xfrm>
          <a:prstGeom prst="rect">
            <a:avLst/>
          </a:prstGeom>
          <a:noFill/>
          <a:ln>
            <a:noFill/>
          </a:ln>
        </p:spPr>
        <p:txBody>
          <a:bodyPr wrap="square" rtlCol="0" anchor="ctr"/>
          <a:lstStyle/>
          <a:p>
            <a:pPr marL="0" indent="0">
              <a:buNone/>
            </a:pPr>
            <a:r>
              <a:rPr lang="en-US" sz="900" b="1" dirty="0">
                <a:solidFill>
                  <a:srgbClr val="2F6F7E"/>
                </a:solidFill>
                <a:latin typeface="Aptos" pitchFamily="34" charset="0"/>
                <a:ea typeface="Aptos" pitchFamily="34" charset="-122"/>
                <a:cs typeface="Aptos" pitchFamily="34" charset="-120"/>
              </a:rPr>
              <a:t>What it shows</a:t>
            </a:r>
            <a:endParaRPr lang="en-US" sz="900" dirty="0"/>
          </a:p>
        </p:txBody>
      </p:sp>
      <p:sp>
        <p:nvSpPr>
          <p:cNvPr id="11" name="Text 9"/>
          <p:cNvSpPr/>
          <p:nvPr/>
        </p:nvSpPr>
        <p:spPr>
          <a:xfrm>
            <a:off x="932688" y="3364992"/>
            <a:ext cx="3072384" cy="530352"/>
          </a:xfrm>
          <a:prstGeom prst="rect">
            <a:avLst/>
          </a:prstGeom>
          <a:noFill/>
          <a:ln>
            <a:noFill/>
          </a:ln>
        </p:spPr>
        <p:txBody>
          <a:bodyPr wrap="square" rtlCol="0" anchor="ctr">
            <a:normAutofit/>
          </a:bodyPr>
          <a:lstStyle/>
          <a:p>
            <a:pPr marL="0" indent="0">
              <a:buNone/>
            </a:pPr>
            <a:r>
              <a:rPr lang="en-US" sz="1050" dirty="0">
                <a:solidFill>
                  <a:srgbClr val="263238"/>
                </a:solidFill>
                <a:latin typeface="Aptos" pitchFamily="34" charset="0"/>
                <a:ea typeface="Aptos" pitchFamily="34" charset="-122"/>
                <a:cs typeface="Aptos" pitchFamily="34" charset="-120"/>
              </a:rPr>
              <a:t>Weekly global rankings, views, hours viewed, and weeks in the Top 10</a:t>
            </a:r>
            <a:endParaRPr lang="en-US" sz="1050" dirty="0"/>
          </a:p>
        </p:txBody>
      </p:sp>
      <p:sp>
        <p:nvSpPr>
          <p:cNvPr id="12" name="Text 10"/>
          <p:cNvSpPr/>
          <p:nvPr/>
        </p:nvSpPr>
        <p:spPr>
          <a:xfrm>
            <a:off x="932688" y="4005072"/>
            <a:ext cx="3072384" cy="164592"/>
          </a:xfrm>
          <a:prstGeom prst="rect">
            <a:avLst/>
          </a:prstGeom>
          <a:noFill/>
          <a:ln>
            <a:noFill/>
          </a:ln>
        </p:spPr>
        <p:txBody>
          <a:bodyPr wrap="square" rtlCol="0" anchor="ctr"/>
          <a:lstStyle/>
          <a:p>
            <a:pPr marL="0" indent="0">
              <a:buNone/>
            </a:pPr>
            <a:r>
              <a:rPr lang="en-US" sz="900" b="1" dirty="0">
                <a:solidFill>
                  <a:srgbClr val="2F6F7E"/>
                </a:solidFill>
                <a:latin typeface="Aptos" pitchFamily="34" charset="0"/>
                <a:ea typeface="Aptos" pitchFamily="34" charset="-122"/>
                <a:cs typeface="Aptos" pitchFamily="34" charset="-120"/>
              </a:rPr>
              <a:t>Why it matters</a:t>
            </a:r>
            <a:endParaRPr lang="en-US" sz="900" dirty="0"/>
          </a:p>
        </p:txBody>
      </p:sp>
      <p:sp>
        <p:nvSpPr>
          <p:cNvPr id="13" name="Text 11"/>
          <p:cNvSpPr/>
          <p:nvPr/>
        </p:nvSpPr>
        <p:spPr>
          <a:xfrm>
            <a:off x="932688" y="4224528"/>
            <a:ext cx="3072384" cy="347472"/>
          </a:xfrm>
          <a:prstGeom prst="rect">
            <a:avLst/>
          </a:prstGeom>
          <a:noFill/>
          <a:ln>
            <a:noFill/>
          </a:ln>
        </p:spPr>
        <p:txBody>
          <a:bodyPr wrap="square" rtlCol="0" anchor="ctr">
            <a:normAutofit fontScale="92500"/>
          </a:bodyPr>
          <a:lstStyle/>
          <a:p>
            <a:pPr marL="0" indent="0">
              <a:buNone/>
            </a:pPr>
            <a:r>
              <a:rPr lang="en-US" sz="1020" dirty="0">
                <a:solidFill>
                  <a:srgbClr val="626B72"/>
                </a:solidFill>
                <a:latin typeface="Aptos" pitchFamily="34" charset="0"/>
                <a:ea typeface="Aptos" pitchFamily="34" charset="-122"/>
                <a:cs typeface="Aptos" pitchFamily="34" charset="-120"/>
              </a:rPr>
              <a:t>Shows which titles gained worldwide attention over time</a:t>
            </a:r>
            <a:endParaRPr lang="en-US" sz="1020" dirty="0"/>
          </a:p>
        </p:txBody>
      </p:sp>
      <p:sp>
        <p:nvSpPr>
          <p:cNvPr id="14" name="Shape 12"/>
          <p:cNvSpPr/>
          <p:nvPr/>
        </p:nvSpPr>
        <p:spPr>
          <a:xfrm>
            <a:off x="4599432" y="2103120"/>
            <a:ext cx="3456432" cy="2542032"/>
          </a:xfrm>
          <a:prstGeom prst="roundRect">
            <a:avLst>
              <a:gd name="adj" fmla="val 3597"/>
            </a:avLst>
          </a:prstGeom>
          <a:solidFill>
            <a:srgbClr val="FFFFFF"/>
          </a:solidFill>
          <a:ln w="10160">
            <a:noFill/>
            <a:prstDash val="solid"/>
          </a:ln>
        </p:spPr>
        <p:txBody>
          <a:bodyPr/>
          <a:lstStyle/>
          <a:p>
            <a:endParaRPr/>
          </a:p>
        </p:txBody>
      </p:sp>
      <p:sp>
        <p:nvSpPr>
          <p:cNvPr id="15" name="Shape 13"/>
          <p:cNvSpPr/>
          <p:nvPr/>
        </p:nvSpPr>
        <p:spPr>
          <a:xfrm>
            <a:off x="4599432" y="2103120"/>
            <a:ext cx="3456432" cy="73152"/>
          </a:xfrm>
          <a:prstGeom prst="rect">
            <a:avLst/>
          </a:prstGeom>
          <a:solidFill>
            <a:srgbClr val="2F6F7E"/>
          </a:solidFill>
          <a:ln w="12700">
            <a:noFill/>
            <a:prstDash val="solid"/>
          </a:ln>
        </p:spPr>
        <p:txBody>
          <a:bodyPr/>
          <a:lstStyle/>
          <a:p>
            <a:endParaRPr/>
          </a:p>
        </p:txBody>
      </p:sp>
      <p:sp>
        <p:nvSpPr>
          <p:cNvPr id="16" name="Text 14"/>
          <p:cNvSpPr/>
          <p:nvPr/>
        </p:nvSpPr>
        <p:spPr>
          <a:xfrm>
            <a:off x="4800600" y="2404872"/>
            <a:ext cx="3072384" cy="411480"/>
          </a:xfrm>
          <a:prstGeom prst="rect">
            <a:avLst/>
          </a:prstGeom>
          <a:noFill/>
          <a:ln>
            <a:noFill/>
          </a:ln>
        </p:spPr>
        <p:txBody>
          <a:bodyPr wrap="square" rtlCol="0" anchor="ctr">
            <a:normAutofit/>
          </a:bodyPr>
          <a:lstStyle/>
          <a:p>
            <a:pPr marL="0" indent="0">
              <a:buNone/>
            </a:pPr>
            <a:r>
              <a:rPr lang="en-US" sz="1600" b="1" dirty="0">
                <a:solidFill>
                  <a:srgbClr val="263238"/>
                </a:solidFill>
                <a:latin typeface="Aptos Display" pitchFamily="34" charset="0"/>
                <a:ea typeface="Aptos Display" pitchFamily="34" charset="-122"/>
                <a:cs typeface="Aptos Display" pitchFamily="34" charset="-120"/>
              </a:rPr>
              <a:t>All Weeks Countries Netflix</a:t>
            </a:r>
            <a:endParaRPr lang="en-US" sz="1600" dirty="0"/>
          </a:p>
        </p:txBody>
      </p:sp>
      <p:sp>
        <p:nvSpPr>
          <p:cNvPr id="17" name="Text 15"/>
          <p:cNvSpPr/>
          <p:nvPr/>
        </p:nvSpPr>
        <p:spPr>
          <a:xfrm>
            <a:off x="4800600" y="3154680"/>
            <a:ext cx="3072384" cy="164592"/>
          </a:xfrm>
          <a:prstGeom prst="rect">
            <a:avLst/>
          </a:prstGeom>
          <a:noFill/>
          <a:ln>
            <a:noFill/>
          </a:ln>
        </p:spPr>
        <p:txBody>
          <a:bodyPr wrap="square" rtlCol="0" anchor="ctr"/>
          <a:lstStyle/>
          <a:p>
            <a:pPr marL="0" indent="0">
              <a:buNone/>
            </a:pPr>
            <a:r>
              <a:rPr lang="en-US" sz="900" b="1" dirty="0">
                <a:solidFill>
                  <a:srgbClr val="2F6F7E"/>
                </a:solidFill>
                <a:latin typeface="Aptos" pitchFamily="34" charset="0"/>
                <a:ea typeface="Aptos" pitchFamily="34" charset="-122"/>
                <a:cs typeface="Aptos" pitchFamily="34" charset="-120"/>
              </a:rPr>
              <a:t>What it shows</a:t>
            </a:r>
            <a:endParaRPr lang="en-US" sz="900" dirty="0"/>
          </a:p>
        </p:txBody>
      </p:sp>
      <p:sp>
        <p:nvSpPr>
          <p:cNvPr id="18" name="Text 16"/>
          <p:cNvSpPr/>
          <p:nvPr/>
        </p:nvSpPr>
        <p:spPr>
          <a:xfrm>
            <a:off x="4800600" y="3364992"/>
            <a:ext cx="3072384" cy="530352"/>
          </a:xfrm>
          <a:prstGeom prst="rect">
            <a:avLst/>
          </a:prstGeom>
          <a:noFill/>
          <a:ln>
            <a:noFill/>
          </a:ln>
        </p:spPr>
        <p:txBody>
          <a:bodyPr wrap="square" rtlCol="0" anchor="ctr">
            <a:normAutofit/>
          </a:bodyPr>
          <a:lstStyle/>
          <a:p>
            <a:pPr marL="0" indent="0">
              <a:buNone/>
            </a:pPr>
            <a:r>
              <a:rPr lang="en-US" sz="1050" dirty="0">
                <a:solidFill>
                  <a:srgbClr val="263238"/>
                </a:solidFill>
                <a:latin typeface="Aptos" pitchFamily="34" charset="0"/>
                <a:ea typeface="Aptos" pitchFamily="34" charset="-122"/>
                <a:cs typeface="Aptos" pitchFamily="34" charset="-120"/>
              </a:rPr>
              <a:t>Weekly Top 10 rankings by country</a:t>
            </a:r>
            <a:endParaRPr lang="en-US" sz="1050" dirty="0"/>
          </a:p>
        </p:txBody>
      </p:sp>
      <p:sp>
        <p:nvSpPr>
          <p:cNvPr id="19" name="Text 17"/>
          <p:cNvSpPr/>
          <p:nvPr/>
        </p:nvSpPr>
        <p:spPr>
          <a:xfrm>
            <a:off x="4800600" y="4005072"/>
            <a:ext cx="3072384" cy="164592"/>
          </a:xfrm>
          <a:prstGeom prst="rect">
            <a:avLst/>
          </a:prstGeom>
          <a:noFill/>
          <a:ln>
            <a:noFill/>
          </a:ln>
        </p:spPr>
        <p:txBody>
          <a:bodyPr wrap="square" rtlCol="0" anchor="ctr"/>
          <a:lstStyle/>
          <a:p>
            <a:pPr marL="0" indent="0">
              <a:buNone/>
            </a:pPr>
            <a:r>
              <a:rPr lang="en-US" sz="900" b="1" dirty="0">
                <a:solidFill>
                  <a:srgbClr val="2F6F7E"/>
                </a:solidFill>
                <a:latin typeface="Aptos" pitchFamily="34" charset="0"/>
                <a:ea typeface="Aptos" pitchFamily="34" charset="-122"/>
                <a:cs typeface="Aptos" pitchFamily="34" charset="-120"/>
              </a:rPr>
              <a:t>Why it matters</a:t>
            </a:r>
            <a:endParaRPr lang="en-US" sz="900" dirty="0"/>
          </a:p>
        </p:txBody>
      </p:sp>
      <p:sp>
        <p:nvSpPr>
          <p:cNvPr id="20" name="Text 18"/>
          <p:cNvSpPr/>
          <p:nvPr/>
        </p:nvSpPr>
        <p:spPr>
          <a:xfrm>
            <a:off x="4800600" y="4224528"/>
            <a:ext cx="3072384" cy="347472"/>
          </a:xfrm>
          <a:prstGeom prst="rect">
            <a:avLst/>
          </a:prstGeom>
          <a:noFill/>
          <a:ln>
            <a:noFill/>
          </a:ln>
        </p:spPr>
        <p:txBody>
          <a:bodyPr wrap="square" rtlCol="0" anchor="ctr">
            <a:normAutofit fontScale="92500" lnSpcReduction="10000"/>
          </a:bodyPr>
          <a:lstStyle/>
          <a:p>
            <a:pPr marL="0" indent="0">
              <a:buNone/>
            </a:pPr>
            <a:r>
              <a:rPr lang="en-US" sz="1020" dirty="0">
                <a:solidFill>
                  <a:srgbClr val="626B72"/>
                </a:solidFill>
                <a:latin typeface="Aptos" pitchFamily="34" charset="0"/>
                <a:ea typeface="Aptos" pitchFamily="34" charset="-122"/>
                <a:cs typeface="Aptos" pitchFamily="34" charset="-120"/>
              </a:rPr>
              <a:t>Shows whether a title succeeded in one market or traveled across many countries</a:t>
            </a:r>
            <a:endParaRPr lang="en-US" sz="1020" dirty="0"/>
          </a:p>
        </p:txBody>
      </p:sp>
      <p:sp>
        <p:nvSpPr>
          <p:cNvPr id="21" name="Shape 19"/>
          <p:cNvSpPr/>
          <p:nvPr/>
        </p:nvSpPr>
        <p:spPr>
          <a:xfrm>
            <a:off x="8467344" y="2103120"/>
            <a:ext cx="3456432" cy="2542032"/>
          </a:xfrm>
          <a:prstGeom prst="roundRect">
            <a:avLst>
              <a:gd name="adj" fmla="val 3597"/>
            </a:avLst>
          </a:prstGeom>
          <a:solidFill>
            <a:srgbClr val="FFFFFF"/>
          </a:solidFill>
          <a:ln w="10160">
            <a:noFill/>
            <a:prstDash val="solid"/>
          </a:ln>
        </p:spPr>
        <p:txBody>
          <a:bodyPr/>
          <a:lstStyle/>
          <a:p>
            <a:endParaRPr/>
          </a:p>
        </p:txBody>
      </p:sp>
      <p:sp>
        <p:nvSpPr>
          <p:cNvPr id="22" name="Shape 20"/>
          <p:cNvSpPr/>
          <p:nvPr/>
        </p:nvSpPr>
        <p:spPr>
          <a:xfrm>
            <a:off x="8467344" y="2103120"/>
            <a:ext cx="3456432" cy="73152"/>
          </a:xfrm>
          <a:prstGeom prst="rect">
            <a:avLst/>
          </a:prstGeom>
          <a:solidFill>
            <a:srgbClr val="2F6F7E"/>
          </a:solidFill>
          <a:ln w="12700">
            <a:noFill/>
            <a:prstDash val="solid"/>
          </a:ln>
        </p:spPr>
        <p:txBody>
          <a:bodyPr/>
          <a:lstStyle/>
          <a:p>
            <a:endParaRPr/>
          </a:p>
        </p:txBody>
      </p:sp>
      <p:sp>
        <p:nvSpPr>
          <p:cNvPr id="23" name="Text 21"/>
          <p:cNvSpPr/>
          <p:nvPr/>
        </p:nvSpPr>
        <p:spPr>
          <a:xfrm>
            <a:off x="8668512" y="2404872"/>
            <a:ext cx="3072384" cy="411480"/>
          </a:xfrm>
          <a:prstGeom prst="rect">
            <a:avLst/>
          </a:prstGeom>
          <a:noFill/>
          <a:ln>
            <a:noFill/>
          </a:ln>
        </p:spPr>
        <p:txBody>
          <a:bodyPr wrap="square" rtlCol="0" anchor="ctr">
            <a:normAutofit/>
          </a:bodyPr>
          <a:lstStyle/>
          <a:p>
            <a:pPr marL="0" indent="0">
              <a:buNone/>
            </a:pPr>
            <a:r>
              <a:rPr lang="en-US" sz="1600" b="1" dirty="0">
                <a:solidFill>
                  <a:srgbClr val="263238"/>
                </a:solidFill>
                <a:latin typeface="Aptos Display" pitchFamily="34" charset="0"/>
                <a:ea typeface="Aptos Display" pitchFamily="34" charset="-122"/>
                <a:cs typeface="Aptos Display" pitchFamily="34" charset="-120"/>
              </a:rPr>
              <a:t>Most Popular Netflix</a:t>
            </a:r>
            <a:endParaRPr lang="en-US" sz="1600" dirty="0"/>
          </a:p>
        </p:txBody>
      </p:sp>
      <p:sp>
        <p:nvSpPr>
          <p:cNvPr id="24" name="Text 22"/>
          <p:cNvSpPr/>
          <p:nvPr/>
        </p:nvSpPr>
        <p:spPr>
          <a:xfrm>
            <a:off x="8668512" y="3154680"/>
            <a:ext cx="3072384" cy="164592"/>
          </a:xfrm>
          <a:prstGeom prst="rect">
            <a:avLst/>
          </a:prstGeom>
          <a:noFill/>
          <a:ln>
            <a:noFill/>
          </a:ln>
        </p:spPr>
        <p:txBody>
          <a:bodyPr wrap="square" rtlCol="0" anchor="ctr"/>
          <a:lstStyle/>
          <a:p>
            <a:pPr marL="0" indent="0">
              <a:buNone/>
            </a:pPr>
            <a:r>
              <a:rPr lang="en-US" sz="900" b="1" dirty="0">
                <a:solidFill>
                  <a:srgbClr val="2F6F7E"/>
                </a:solidFill>
                <a:latin typeface="Aptos" pitchFamily="34" charset="0"/>
                <a:ea typeface="Aptos" pitchFamily="34" charset="-122"/>
                <a:cs typeface="Aptos" pitchFamily="34" charset="-120"/>
              </a:rPr>
              <a:t>What it shows</a:t>
            </a:r>
            <a:endParaRPr lang="en-US" sz="900" dirty="0"/>
          </a:p>
        </p:txBody>
      </p:sp>
      <p:sp>
        <p:nvSpPr>
          <p:cNvPr id="25" name="Text 23"/>
          <p:cNvSpPr/>
          <p:nvPr/>
        </p:nvSpPr>
        <p:spPr>
          <a:xfrm>
            <a:off x="8668512" y="3364992"/>
            <a:ext cx="3072384" cy="530352"/>
          </a:xfrm>
          <a:prstGeom prst="rect">
            <a:avLst/>
          </a:prstGeom>
          <a:noFill/>
          <a:ln>
            <a:noFill/>
          </a:ln>
        </p:spPr>
        <p:txBody>
          <a:bodyPr wrap="square" rtlCol="0" anchor="ctr">
            <a:normAutofit/>
          </a:bodyPr>
          <a:lstStyle/>
          <a:p>
            <a:pPr marL="0" indent="0">
              <a:buNone/>
            </a:pPr>
            <a:r>
              <a:rPr lang="en-US" sz="1050" dirty="0">
                <a:solidFill>
                  <a:srgbClr val="263238"/>
                </a:solidFill>
                <a:latin typeface="Aptos" pitchFamily="34" charset="0"/>
                <a:ea typeface="Aptos" pitchFamily="34" charset="-122"/>
                <a:cs typeface="Aptos" pitchFamily="34" charset="-120"/>
              </a:rPr>
              <a:t>Highest-performing titles by first 91-day performance</a:t>
            </a:r>
            <a:endParaRPr lang="en-US" sz="1050" dirty="0"/>
          </a:p>
        </p:txBody>
      </p:sp>
      <p:sp>
        <p:nvSpPr>
          <p:cNvPr id="26" name="Text 24"/>
          <p:cNvSpPr/>
          <p:nvPr/>
        </p:nvSpPr>
        <p:spPr>
          <a:xfrm>
            <a:off x="8668512" y="4005072"/>
            <a:ext cx="3072384" cy="164592"/>
          </a:xfrm>
          <a:prstGeom prst="rect">
            <a:avLst/>
          </a:prstGeom>
          <a:noFill/>
          <a:ln>
            <a:noFill/>
          </a:ln>
        </p:spPr>
        <p:txBody>
          <a:bodyPr wrap="square" rtlCol="0" anchor="ctr"/>
          <a:lstStyle/>
          <a:p>
            <a:pPr marL="0" indent="0">
              <a:buNone/>
            </a:pPr>
            <a:r>
              <a:rPr lang="en-US" sz="900" b="1" dirty="0">
                <a:solidFill>
                  <a:srgbClr val="2F6F7E"/>
                </a:solidFill>
                <a:latin typeface="Aptos" pitchFamily="34" charset="0"/>
                <a:ea typeface="Aptos" pitchFamily="34" charset="-122"/>
                <a:cs typeface="Aptos" pitchFamily="34" charset="-120"/>
              </a:rPr>
              <a:t>Why it matters</a:t>
            </a:r>
            <a:endParaRPr lang="en-US" sz="900" dirty="0"/>
          </a:p>
        </p:txBody>
      </p:sp>
      <p:sp>
        <p:nvSpPr>
          <p:cNvPr id="27" name="Text 25"/>
          <p:cNvSpPr/>
          <p:nvPr/>
        </p:nvSpPr>
        <p:spPr>
          <a:xfrm>
            <a:off x="8668512" y="4224528"/>
            <a:ext cx="3072384" cy="347472"/>
          </a:xfrm>
          <a:prstGeom prst="rect">
            <a:avLst/>
          </a:prstGeom>
          <a:noFill/>
          <a:ln>
            <a:noFill/>
          </a:ln>
        </p:spPr>
        <p:txBody>
          <a:bodyPr wrap="square" rtlCol="0" anchor="ctr">
            <a:normAutofit fontScale="92500"/>
          </a:bodyPr>
          <a:lstStyle/>
          <a:p>
            <a:pPr marL="0" indent="0">
              <a:buNone/>
            </a:pPr>
            <a:r>
              <a:rPr lang="en-US" sz="1020" dirty="0">
                <a:solidFill>
                  <a:srgbClr val="626B72"/>
                </a:solidFill>
                <a:latin typeface="Aptos" pitchFamily="34" charset="0"/>
                <a:ea typeface="Aptos" pitchFamily="34" charset="-122"/>
                <a:cs typeface="Aptos" pitchFamily="34" charset="-120"/>
              </a:rPr>
              <a:t>Shows which titles became major long-term successes</a:t>
            </a:r>
            <a:endParaRPr lang="en-US" sz="1020" dirty="0"/>
          </a:p>
        </p:txBody>
      </p:sp>
      <p:sp>
        <p:nvSpPr>
          <p:cNvPr id="28" name="Shape 26"/>
          <p:cNvSpPr/>
          <p:nvPr/>
        </p:nvSpPr>
        <p:spPr>
          <a:xfrm>
            <a:off x="1371600" y="5257800"/>
            <a:ext cx="9418320" cy="530352"/>
          </a:xfrm>
          <a:prstGeom prst="roundRect">
            <a:avLst>
              <a:gd name="adj" fmla="val 13793"/>
            </a:avLst>
          </a:prstGeom>
          <a:solidFill>
            <a:srgbClr val="F8F7F3"/>
          </a:solidFill>
          <a:ln w="15240">
            <a:noFill/>
            <a:prstDash val="solid"/>
          </a:ln>
        </p:spPr>
        <p:txBody>
          <a:bodyPr/>
          <a:lstStyle/>
          <a:p>
            <a:endParaRPr/>
          </a:p>
        </p:txBody>
      </p:sp>
      <p:sp>
        <p:nvSpPr>
          <p:cNvPr id="29" name="Text 27"/>
          <p:cNvSpPr/>
          <p:nvPr/>
        </p:nvSpPr>
        <p:spPr>
          <a:xfrm>
            <a:off x="1536192" y="5385816"/>
            <a:ext cx="9089136" cy="274320"/>
          </a:xfrm>
          <a:prstGeom prst="rect">
            <a:avLst/>
          </a:prstGeom>
          <a:noFill/>
          <a:ln>
            <a:noFill/>
          </a:ln>
        </p:spPr>
        <p:txBody>
          <a:bodyPr wrap="square" rtlCol="0" anchor="ctr">
            <a:normAutofit fontScale="92500" lnSpcReduction="20000"/>
          </a:bodyPr>
          <a:lstStyle/>
          <a:p>
            <a:pPr marL="0" indent="0">
              <a:buNone/>
            </a:pPr>
            <a:r>
              <a:rPr lang="en-US" sz="1500" b="1" dirty="0">
                <a:solidFill>
                  <a:srgbClr val="263238"/>
                </a:solidFill>
                <a:latin typeface="Aptos" pitchFamily="34" charset="0"/>
                <a:ea typeface="Aptos" pitchFamily="34" charset="-122"/>
                <a:cs typeface="Aptos" pitchFamily="34" charset="-120"/>
              </a:rPr>
              <a:t>Together, these datasets help separate short-term popularity from scalable global demand.</a:t>
            </a:r>
            <a:endParaRPr lang="en-US" sz="1500" dirty="0"/>
          </a:p>
        </p:txBody>
      </p:sp>
      <p:sp>
        <p:nvSpPr>
          <p:cNvPr id="30" name="Text 28"/>
          <p:cNvSpPr/>
          <p:nvPr/>
        </p:nvSpPr>
        <p:spPr>
          <a:xfrm>
            <a:off x="502920" y="6556248"/>
            <a:ext cx="8503920" cy="164592"/>
          </a:xfrm>
          <a:prstGeom prst="rect">
            <a:avLst/>
          </a:prstGeom>
          <a:noFill/>
          <a:ln>
            <a:noFill/>
          </a:ln>
        </p:spPr>
        <p:txBody>
          <a:bodyPr wrap="square" rtlCol="0" anchor="ctr">
            <a:normAutofit fontScale="77500" lnSpcReduction="20000"/>
          </a:bodyPr>
          <a:lstStyle/>
          <a:p>
            <a:pPr marL="0" indent="0">
              <a:buNone/>
            </a:pPr>
            <a:r>
              <a:rPr lang="en-US" sz="650" dirty="0">
                <a:solidFill>
                  <a:srgbClr val="626B72"/>
                </a:solidFill>
                <a:latin typeface="Aptos" pitchFamily="34" charset="0"/>
                <a:ea typeface="Aptos" pitchFamily="34" charset="-122"/>
                <a:cs typeface="Aptos" pitchFamily="34" charset="-120"/>
              </a:rPr>
              <a:t>Source: Netflix Top 10 datasets provided; Netflix Tudum Top 10 page for current-context mention.</a:t>
            </a:r>
            <a:endParaRPr lang="en-US" sz="650" dirty="0"/>
          </a:p>
        </p:txBody>
      </p:sp>
      <p:sp>
        <p:nvSpPr>
          <p:cNvPr id="31" name="Text 29"/>
          <p:cNvSpPr/>
          <p:nvPr/>
        </p:nvSpPr>
        <p:spPr>
          <a:xfrm>
            <a:off x="10789920" y="6510528"/>
            <a:ext cx="868680" cy="182880"/>
          </a:xfrm>
          <a:prstGeom prst="rect">
            <a:avLst/>
          </a:prstGeom>
          <a:noFill/>
          <a:ln>
            <a:noFill/>
          </a:ln>
        </p:spPr>
        <p:txBody>
          <a:bodyPr wrap="square" rtlCol="0" anchor="ctr"/>
          <a:lstStyle/>
          <a:p>
            <a:pPr marL="0" indent="0" algn="r">
              <a:buNone/>
            </a:pPr>
            <a:r>
              <a:rPr lang="en-US" sz="750" dirty="0">
                <a:solidFill>
                  <a:srgbClr val="626B72"/>
                </a:solidFill>
                <a:latin typeface="Aptos" pitchFamily="34" charset="0"/>
                <a:ea typeface="Aptos" pitchFamily="34" charset="-122"/>
                <a:cs typeface="Aptos" pitchFamily="34" charset="-120"/>
              </a:rPr>
              <a:t>DSC640</a:t>
            </a:r>
            <a:endParaRPr lang="en-US" sz="750" dirty="0"/>
          </a:p>
        </p:txBody>
      </p:sp>
      <p:sp>
        <p:nvSpPr>
          <p:cNvPr id="32" name="Rectangle 31"/>
          <p:cNvSpPr/>
          <p:nvPr/>
        </p:nvSpPr>
        <p:spPr>
          <a:xfrm>
            <a:off x="320040" y="6556248"/>
            <a:ext cx="11567160" cy="18288"/>
          </a:xfrm>
          <a:prstGeom prst="rect">
            <a:avLst/>
          </a:prstGeom>
          <a:solidFill>
            <a:srgbClr val="2F6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a:extLst>
              <a:ext uri="{FF2B5EF4-FFF2-40B4-BE49-F238E27FC236}">
                <a16:creationId xmlns:a16="http://schemas.microsoft.com/office/drawing/2014/main" id="{9FAD3249-12C2-8D1A-515D-821ECF96EA5B}"/>
              </a:ext>
            </a:extLst>
          </p:cNvPr>
          <p:cNvPicPr>
            <a:picLocks noChangeAspect="1"/>
          </p:cNvPicPr>
          <p:nvPr/>
        </p:nvPicPr>
        <p:blipFill>
          <a:blip r:embed="rId3"/>
          <a:stretch>
            <a:fillRect/>
          </a:stretch>
        </p:blipFill>
        <p:spPr>
          <a:xfrm>
            <a:off x="3364217" y="2409444"/>
            <a:ext cx="732295" cy="640080"/>
          </a:xfrm>
          <a:prstGeom prst="rect">
            <a:avLst/>
          </a:prstGeom>
        </p:spPr>
      </p:pic>
      <p:pic>
        <p:nvPicPr>
          <p:cNvPr id="38" name="Picture 37">
            <a:extLst>
              <a:ext uri="{FF2B5EF4-FFF2-40B4-BE49-F238E27FC236}">
                <a16:creationId xmlns:a16="http://schemas.microsoft.com/office/drawing/2014/main" id="{70D962F7-6E33-E831-0B90-B9948E60C50B}"/>
              </a:ext>
            </a:extLst>
          </p:cNvPr>
          <p:cNvPicPr>
            <a:picLocks noChangeAspect="1"/>
          </p:cNvPicPr>
          <p:nvPr/>
        </p:nvPicPr>
        <p:blipFill>
          <a:blip r:embed="rId4"/>
          <a:stretch>
            <a:fillRect/>
          </a:stretch>
        </p:blipFill>
        <p:spPr>
          <a:xfrm>
            <a:off x="5146229" y="2861220"/>
            <a:ext cx="1914782" cy="197448"/>
          </a:xfrm>
          <a:prstGeom prst="rect">
            <a:avLst/>
          </a:prstGeom>
        </p:spPr>
      </p:pic>
      <p:pic>
        <p:nvPicPr>
          <p:cNvPr id="42" name="Picture 41">
            <a:extLst>
              <a:ext uri="{FF2B5EF4-FFF2-40B4-BE49-F238E27FC236}">
                <a16:creationId xmlns:a16="http://schemas.microsoft.com/office/drawing/2014/main" id="{571FFF06-33D8-B283-0BBC-3F41D214937F}"/>
              </a:ext>
            </a:extLst>
          </p:cNvPr>
          <p:cNvPicPr>
            <a:picLocks noChangeAspect="1"/>
          </p:cNvPicPr>
          <p:nvPr/>
        </p:nvPicPr>
        <p:blipFill>
          <a:blip r:embed="rId5"/>
          <a:stretch>
            <a:fillRect/>
          </a:stretch>
        </p:blipFill>
        <p:spPr>
          <a:xfrm>
            <a:off x="8969903" y="2794740"/>
            <a:ext cx="2451314" cy="23749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7F3"/>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F6F7E"/>
          </a:solidFill>
          <a:ln w="12700">
            <a:noFill/>
            <a:prstDash val="solid"/>
          </a:ln>
        </p:spPr>
        <p:txBody>
          <a:bodyPr/>
          <a:lstStyle/>
          <a:p>
            <a:endParaRPr/>
          </a:p>
        </p:txBody>
      </p:sp>
      <p:sp>
        <p:nvSpPr>
          <p:cNvPr id="3" name="Text 1"/>
          <p:cNvSpPr/>
          <p:nvPr/>
        </p:nvSpPr>
        <p:spPr>
          <a:xfrm>
            <a:off x="11521440" y="237744"/>
            <a:ext cx="347472" cy="182880"/>
          </a:xfrm>
          <a:prstGeom prst="rect">
            <a:avLst/>
          </a:prstGeom>
          <a:noFill/>
          <a:ln>
            <a:noFill/>
          </a:ln>
        </p:spPr>
        <p:txBody>
          <a:bodyPr wrap="square" rtlCol="0" anchor="ctr"/>
          <a:lstStyle/>
          <a:p>
            <a:pPr marL="0" indent="0" algn="r">
              <a:buNone/>
            </a:pPr>
            <a:r>
              <a:rPr lang="en-US" sz="800" dirty="0">
                <a:solidFill>
                  <a:srgbClr val="626B72"/>
                </a:solidFill>
                <a:latin typeface="Aptos" pitchFamily="34" charset="0"/>
                <a:ea typeface="Aptos" pitchFamily="34" charset="-122"/>
                <a:cs typeface="Aptos" pitchFamily="34" charset="-120"/>
              </a:rPr>
              <a:t>06</a:t>
            </a:r>
            <a:endParaRPr lang="en-US" sz="800" dirty="0"/>
          </a:p>
        </p:txBody>
      </p:sp>
      <p:sp>
        <p:nvSpPr>
          <p:cNvPr id="4" name="Text 2"/>
          <p:cNvSpPr/>
          <p:nvPr/>
        </p:nvSpPr>
        <p:spPr>
          <a:xfrm>
            <a:off x="594360" y="384048"/>
            <a:ext cx="5303520" cy="228600"/>
          </a:xfrm>
          <a:prstGeom prst="rect">
            <a:avLst/>
          </a:prstGeom>
          <a:noFill/>
          <a:ln>
            <a:noFill/>
          </a:ln>
        </p:spPr>
        <p:txBody>
          <a:bodyPr wrap="square" rtlCol="0" anchor="ctr"/>
          <a:lstStyle/>
          <a:p>
            <a:pPr marL="0" indent="0">
              <a:buNone/>
            </a:pPr>
            <a:r>
              <a:rPr lang="en-US" sz="900" b="1" dirty="0">
                <a:solidFill>
                  <a:srgbClr val="2F6F7E"/>
                </a:solidFill>
                <a:latin typeface="Aptos" pitchFamily="34" charset="0"/>
                <a:ea typeface="Aptos" pitchFamily="34" charset="-122"/>
                <a:cs typeface="Aptos" pitchFamily="34" charset="-120"/>
              </a:rPr>
              <a:t>VISUAL INSIGHT 1</a:t>
            </a:r>
            <a:endParaRPr lang="en-US" sz="900" dirty="0"/>
          </a:p>
        </p:txBody>
      </p:sp>
      <p:sp>
        <p:nvSpPr>
          <p:cNvPr id="5" name="Text 3"/>
          <p:cNvSpPr/>
          <p:nvPr/>
        </p:nvSpPr>
        <p:spPr>
          <a:xfrm>
            <a:off x="594360" y="658368"/>
            <a:ext cx="10972800" cy="502920"/>
          </a:xfrm>
          <a:prstGeom prst="rect">
            <a:avLst/>
          </a:prstGeom>
          <a:noFill/>
          <a:ln>
            <a:noFill/>
          </a:ln>
        </p:spPr>
        <p:txBody>
          <a:bodyPr wrap="square" lIns="0" tIns="0" rIns="0" bIns="0" rtlCol="0" anchor="ctr">
            <a:normAutofit/>
          </a:bodyPr>
          <a:lstStyle/>
          <a:p>
            <a:pPr marL="0" indent="0">
              <a:buNone/>
            </a:pPr>
            <a:r>
              <a:rPr lang="en-US" sz="2500" b="1" dirty="0">
                <a:solidFill>
                  <a:srgbClr val="263238"/>
                </a:solidFill>
                <a:latin typeface="Aptos Display" pitchFamily="34" charset="0"/>
                <a:ea typeface="Aptos Display" pitchFamily="34" charset="-122"/>
                <a:cs typeface="Aptos Display" pitchFamily="34" charset="-120"/>
              </a:rPr>
              <a:t>Asian-Led Hits Are Reaching Global Audiences</a:t>
            </a:r>
            <a:endParaRPr lang="en-US" sz="2500" dirty="0"/>
          </a:p>
        </p:txBody>
      </p:sp>
      <p:sp>
        <p:nvSpPr>
          <p:cNvPr id="6" name="Text 4"/>
          <p:cNvSpPr/>
          <p:nvPr/>
        </p:nvSpPr>
        <p:spPr>
          <a:xfrm>
            <a:off x="658368" y="1143000"/>
            <a:ext cx="4892040" cy="658368"/>
          </a:xfrm>
          <a:prstGeom prst="rect">
            <a:avLst/>
          </a:prstGeom>
          <a:noFill/>
          <a:ln>
            <a:noFill/>
          </a:ln>
        </p:spPr>
        <p:txBody>
          <a:bodyPr wrap="square" rtlCol="0" anchor="ctr">
            <a:normAutofit lnSpcReduction="10000"/>
          </a:bodyPr>
          <a:lstStyle/>
          <a:p>
            <a:pPr marL="0" indent="0">
              <a:buNone/>
            </a:pPr>
            <a:r>
              <a:rPr lang="en-US" sz="1350" dirty="0">
                <a:solidFill>
                  <a:srgbClr val="263238"/>
                </a:solidFill>
                <a:latin typeface="Aptos" pitchFamily="34" charset="0"/>
                <a:ea typeface="Aptos" pitchFamily="34" charset="-122"/>
                <a:cs typeface="Aptos" pitchFamily="34" charset="-120"/>
              </a:rPr>
              <a:t>Several Asian-led and Asian-originated titles reached audiences across dozens of countries, showing that this content category is not limited to one region.</a:t>
            </a:r>
            <a:endParaRPr lang="en-US" sz="1350" dirty="0"/>
          </a:p>
        </p:txBody>
      </p:sp>
      <p:sp>
        <p:nvSpPr>
          <p:cNvPr id="7" name="Shape 5"/>
          <p:cNvSpPr/>
          <p:nvPr/>
        </p:nvSpPr>
        <p:spPr>
          <a:xfrm>
            <a:off x="713232" y="2148840"/>
            <a:ext cx="4251960" cy="868680"/>
          </a:xfrm>
          <a:prstGeom prst="roundRect">
            <a:avLst>
              <a:gd name="adj" fmla="val 8421"/>
            </a:avLst>
          </a:prstGeom>
          <a:solidFill>
            <a:srgbClr val="FFFFFF"/>
          </a:solidFill>
          <a:ln w="15240">
            <a:noFill/>
            <a:prstDash val="solid"/>
          </a:ln>
        </p:spPr>
        <p:txBody>
          <a:bodyPr/>
          <a:lstStyle/>
          <a:p>
            <a:endParaRPr/>
          </a:p>
        </p:txBody>
      </p:sp>
      <p:sp>
        <p:nvSpPr>
          <p:cNvPr id="8" name="Text 6"/>
          <p:cNvSpPr/>
          <p:nvPr/>
        </p:nvSpPr>
        <p:spPr>
          <a:xfrm>
            <a:off x="877824" y="2276856"/>
            <a:ext cx="3922776" cy="612648"/>
          </a:xfrm>
          <a:prstGeom prst="rect">
            <a:avLst/>
          </a:prstGeom>
          <a:noFill/>
          <a:ln>
            <a:noFill/>
          </a:ln>
        </p:spPr>
        <p:txBody>
          <a:bodyPr wrap="square" rtlCol="0" anchor="ctr">
            <a:normAutofit fontScale="92500"/>
          </a:bodyPr>
          <a:lstStyle/>
          <a:p>
            <a:pPr marL="0" indent="0">
              <a:buNone/>
            </a:pPr>
            <a:r>
              <a:rPr lang="en-US" sz="1500" b="1" dirty="0">
                <a:solidFill>
                  <a:srgbClr val="263238"/>
                </a:solidFill>
                <a:latin typeface="Aptos" pitchFamily="34" charset="0"/>
                <a:ea typeface="Aptos" pitchFamily="34" charset="-122"/>
                <a:cs typeface="Aptos" pitchFamily="34" charset="-120"/>
              </a:rPr>
              <a:t>Global reach is a signal that Asian-originated content can scale beyond its home market.</a:t>
            </a:r>
            <a:endParaRPr lang="en-US" sz="1500" dirty="0"/>
          </a:p>
        </p:txBody>
      </p:sp>
      <p:graphicFrame>
        <p:nvGraphicFramePr>
          <p:cNvPr id="9" name="Chart 0"/>
          <p:cNvGraphicFramePr/>
          <p:nvPr>
            <p:extLst>
              <p:ext uri="{D42A27DB-BD31-4B8C-83A1-F6EECF244321}">
                <p14:modId xmlns:p14="http://schemas.microsoft.com/office/powerpoint/2010/main" val="77337413"/>
              </p:ext>
            </p:extLst>
          </p:nvPr>
        </p:nvGraphicFramePr>
        <p:xfrm>
          <a:off x="5513832" y="1223195"/>
          <a:ext cx="635508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p:nvPr/>
        </p:nvSpPr>
        <p:spPr>
          <a:xfrm>
            <a:off x="5349240" y="5715000"/>
            <a:ext cx="5303520" cy="164592"/>
          </a:xfrm>
          <a:prstGeom prst="rect">
            <a:avLst/>
          </a:prstGeom>
          <a:noFill/>
          <a:ln>
            <a:noFill/>
          </a:ln>
        </p:spPr>
        <p:txBody>
          <a:bodyPr wrap="square" rtlCol="0" anchor="ctr"/>
          <a:lstStyle/>
          <a:p>
            <a:pPr marL="0" indent="0">
              <a:buNone/>
            </a:pPr>
            <a:r>
              <a:rPr lang="en-US" sz="850" dirty="0">
                <a:solidFill>
                  <a:srgbClr val="626B72"/>
                </a:solidFill>
                <a:latin typeface="Aptos" pitchFamily="34" charset="0"/>
                <a:ea typeface="Aptos" pitchFamily="34" charset="-122"/>
                <a:cs typeface="Aptos" pitchFamily="34" charset="-120"/>
              </a:rPr>
              <a:t>Countries reached from country weekly Top 10 appearances</a:t>
            </a:r>
            <a:endParaRPr lang="en-US" sz="850" dirty="0"/>
          </a:p>
        </p:txBody>
      </p:sp>
      <p:sp>
        <p:nvSpPr>
          <p:cNvPr id="11" name="Text 8"/>
          <p:cNvSpPr/>
          <p:nvPr/>
        </p:nvSpPr>
        <p:spPr>
          <a:xfrm>
            <a:off x="502920" y="6556248"/>
            <a:ext cx="8503920" cy="164592"/>
          </a:xfrm>
          <a:prstGeom prst="rect">
            <a:avLst/>
          </a:prstGeom>
          <a:noFill/>
          <a:ln>
            <a:noFill/>
          </a:ln>
        </p:spPr>
        <p:txBody>
          <a:bodyPr wrap="square" rtlCol="0" anchor="ctr">
            <a:normAutofit fontScale="77500" lnSpcReduction="20000"/>
          </a:bodyPr>
          <a:lstStyle/>
          <a:p>
            <a:pPr marL="0" indent="0">
              <a:buNone/>
            </a:pPr>
            <a:r>
              <a:rPr lang="en-US" sz="650" dirty="0">
                <a:solidFill>
                  <a:srgbClr val="626B72"/>
                </a:solidFill>
                <a:latin typeface="Aptos" pitchFamily="34" charset="0"/>
                <a:ea typeface="Aptos" pitchFamily="34" charset="-122"/>
                <a:cs typeface="Aptos" pitchFamily="34" charset="-120"/>
              </a:rPr>
              <a:t>Data source: All Weeks Countries Netflix. Country reached = appeared at least once in that country’s weekly Top 10.</a:t>
            </a:r>
            <a:endParaRPr lang="en-US" sz="650" dirty="0"/>
          </a:p>
        </p:txBody>
      </p:sp>
      <p:sp>
        <p:nvSpPr>
          <p:cNvPr id="12" name="Text 9"/>
          <p:cNvSpPr/>
          <p:nvPr/>
        </p:nvSpPr>
        <p:spPr>
          <a:xfrm>
            <a:off x="10789920" y="6510528"/>
            <a:ext cx="868680" cy="182880"/>
          </a:xfrm>
          <a:prstGeom prst="rect">
            <a:avLst/>
          </a:prstGeom>
          <a:noFill/>
          <a:ln>
            <a:noFill/>
          </a:ln>
        </p:spPr>
        <p:txBody>
          <a:bodyPr wrap="square" rtlCol="0" anchor="ctr"/>
          <a:lstStyle/>
          <a:p>
            <a:pPr marL="0" indent="0" algn="r">
              <a:buNone/>
            </a:pPr>
            <a:r>
              <a:rPr lang="en-US" sz="750" dirty="0">
                <a:solidFill>
                  <a:srgbClr val="626B72"/>
                </a:solidFill>
                <a:latin typeface="Aptos" pitchFamily="34" charset="0"/>
                <a:ea typeface="Aptos" pitchFamily="34" charset="-122"/>
                <a:cs typeface="Aptos" pitchFamily="34" charset="-120"/>
              </a:rPr>
              <a:t>DSC640</a:t>
            </a:r>
            <a:endParaRPr lang="en-US" sz="750" dirty="0"/>
          </a:p>
        </p:txBody>
      </p:sp>
      <p:sp>
        <p:nvSpPr>
          <p:cNvPr id="13" name="Rectangle 12"/>
          <p:cNvSpPr/>
          <p:nvPr/>
        </p:nvSpPr>
        <p:spPr>
          <a:xfrm>
            <a:off x="320040" y="6556248"/>
            <a:ext cx="11567160" cy="18288"/>
          </a:xfrm>
          <a:prstGeom prst="rect">
            <a:avLst/>
          </a:prstGeom>
          <a:solidFill>
            <a:srgbClr val="2F6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a:extLst>
              <a:ext uri="{FF2B5EF4-FFF2-40B4-BE49-F238E27FC236}">
                <a16:creationId xmlns:a16="http://schemas.microsoft.com/office/drawing/2014/main" id="{7D3E8DA2-17E7-AB26-6F04-0BE2835ED9B9}"/>
              </a:ext>
            </a:extLst>
          </p:cNvPr>
          <p:cNvPicPr>
            <a:picLocks noChangeAspect="1"/>
          </p:cNvPicPr>
          <p:nvPr/>
        </p:nvPicPr>
        <p:blipFill>
          <a:blip r:embed="rId4"/>
          <a:stretch>
            <a:fillRect/>
          </a:stretch>
        </p:blipFill>
        <p:spPr>
          <a:xfrm>
            <a:off x="1437677" y="3296412"/>
            <a:ext cx="2534557" cy="232257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7F3"/>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F6F7E"/>
          </a:solidFill>
          <a:ln w="12700">
            <a:noFill/>
            <a:prstDash val="solid"/>
          </a:ln>
        </p:spPr>
        <p:txBody>
          <a:bodyPr/>
          <a:lstStyle/>
          <a:p>
            <a:endParaRPr/>
          </a:p>
        </p:txBody>
      </p:sp>
      <p:sp>
        <p:nvSpPr>
          <p:cNvPr id="3" name="Text 1"/>
          <p:cNvSpPr/>
          <p:nvPr/>
        </p:nvSpPr>
        <p:spPr>
          <a:xfrm>
            <a:off x="11521440" y="237744"/>
            <a:ext cx="347472" cy="182880"/>
          </a:xfrm>
          <a:prstGeom prst="rect">
            <a:avLst/>
          </a:prstGeom>
          <a:noFill/>
          <a:ln>
            <a:noFill/>
          </a:ln>
        </p:spPr>
        <p:txBody>
          <a:bodyPr wrap="square" rtlCol="0" anchor="ctr"/>
          <a:lstStyle/>
          <a:p>
            <a:pPr marL="0" indent="0" algn="r">
              <a:buNone/>
            </a:pPr>
            <a:r>
              <a:rPr lang="en-US" sz="800" dirty="0">
                <a:solidFill>
                  <a:srgbClr val="626B72"/>
                </a:solidFill>
                <a:latin typeface="Aptos" pitchFamily="34" charset="0"/>
                <a:ea typeface="Aptos" pitchFamily="34" charset="-122"/>
                <a:cs typeface="Aptos" pitchFamily="34" charset="-120"/>
              </a:rPr>
              <a:t>07</a:t>
            </a:r>
            <a:endParaRPr lang="en-US" sz="800" dirty="0"/>
          </a:p>
        </p:txBody>
      </p:sp>
      <p:sp>
        <p:nvSpPr>
          <p:cNvPr id="4" name="Text 2"/>
          <p:cNvSpPr/>
          <p:nvPr/>
        </p:nvSpPr>
        <p:spPr>
          <a:xfrm>
            <a:off x="594360" y="384048"/>
            <a:ext cx="5303520" cy="228600"/>
          </a:xfrm>
          <a:prstGeom prst="rect">
            <a:avLst/>
          </a:prstGeom>
          <a:noFill/>
          <a:ln>
            <a:noFill/>
          </a:ln>
        </p:spPr>
        <p:txBody>
          <a:bodyPr wrap="square" rtlCol="0" anchor="ctr"/>
          <a:lstStyle/>
          <a:p>
            <a:pPr marL="0" indent="0">
              <a:buNone/>
            </a:pPr>
            <a:r>
              <a:rPr lang="en-US" sz="900" b="1" dirty="0">
                <a:solidFill>
                  <a:srgbClr val="2F6F7E"/>
                </a:solidFill>
                <a:latin typeface="Aptos" pitchFamily="34" charset="0"/>
                <a:ea typeface="Aptos" pitchFamily="34" charset="-122"/>
                <a:cs typeface="Aptos" pitchFamily="34" charset="-120"/>
              </a:rPr>
              <a:t>VISUAL INSIGHT 2</a:t>
            </a:r>
            <a:endParaRPr lang="en-US" sz="900" dirty="0"/>
          </a:p>
        </p:txBody>
      </p:sp>
      <p:sp>
        <p:nvSpPr>
          <p:cNvPr id="5" name="Text 3"/>
          <p:cNvSpPr/>
          <p:nvPr/>
        </p:nvSpPr>
        <p:spPr>
          <a:xfrm>
            <a:off x="594360" y="658368"/>
            <a:ext cx="10972800" cy="502920"/>
          </a:xfrm>
          <a:prstGeom prst="rect">
            <a:avLst/>
          </a:prstGeom>
          <a:noFill/>
          <a:ln>
            <a:noFill/>
          </a:ln>
        </p:spPr>
        <p:txBody>
          <a:bodyPr wrap="square" lIns="0" tIns="0" rIns="0" bIns="0" rtlCol="0" anchor="ctr">
            <a:normAutofit/>
          </a:bodyPr>
          <a:lstStyle/>
          <a:p>
            <a:pPr marL="0" indent="0">
              <a:buNone/>
            </a:pPr>
            <a:r>
              <a:rPr lang="en-US" sz="2500" b="1" dirty="0">
                <a:solidFill>
                  <a:srgbClr val="263238"/>
                </a:solidFill>
                <a:latin typeface="Aptos Display" pitchFamily="34" charset="0"/>
                <a:ea typeface="Aptos Display" pitchFamily="34" charset="-122"/>
                <a:cs typeface="Aptos Display" pitchFamily="34" charset="-120"/>
              </a:rPr>
              <a:t>Global Hits Need More Than a Big Opening Week</a:t>
            </a:r>
            <a:endParaRPr lang="en-US" sz="2500" dirty="0"/>
          </a:p>
        </p:txBody>
      </p:sp>
      <p:sp>
        <p:nvSpPr>
          <p:cNvPr id="6" name="Text 4"/>
          <p:cNvSpPr/>
          <p:nvPr/>
        </p:nvSpPr>
        <p:spPr>
          <a:xfrm>
            <a:off x="685800" y="1143000"/>
            <a:ext cx="9875520" cy="411480"/>
          </a:xfrm>
          <a:prstGeom prst="rect">
            <a:avLst/>
          </a:prstGeom>
          <a:noFill/>
          <a:ln>
            <a:noFill/>
          </a:ln>
        </p:spPr>
        <p:txBody>
          <a:bodyPr wrap="square" rtlCol="0" anchor="ctr">
            <a:normAutofit fontScale="92500" lnSpcReduction="20000"/>
          </a:bodyPr>
          <a:lstStyle/>
          <a:p>
            <a:pPr marL="0" indent="0">
              <a:buNone/>
            </a:pPr>
            <a:r>
              <a:rPr lang="en-US" sz="1350" dirty="0">
                <a:solidFill>
                  <a:srgbClr val="263238"/>
                </a:solidFill>
                <a:latin typeface="Aptos" pitchFamily="34" charset="0"/>
                <a:ea typeface="Aptos" pitchFamily="34" charset="-122"/>
                <a:cs typeface="Aptos" pitchFamily="34" charset="-120"/>
              </a:rPr>
              <a:t>The strongest Netflix titles don’t just appear once and disappear. They have staying power through multiple weeks, giving audiences more time to discover, discuss, and recommend them.</a:t>
            </a:r>
            <a:endParaRPr lang="en-US" sz="1350" dirty="0"/>
          </a:p>
        </p:txBody>
      </p:sp>
      <p:graphicFrame>
        <p:nvGraphicFramePr>
          <p:cNvPr id="7" name="Chart 0"/>
          <p:cNvGraphicFramePr/>
          <p:nvPr/>
        </p:nvGraphicFramePr>
        <p:xfrm>
          <a:off x="868680" y="1874520"/>
          <a:ext cx="772668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8915400" y="2157984"/>
            <a:ext cx="2514600" cy="1051560"/>
          </a:xfrm>
          <a:prstGeom prst="roundRect">
            <a:avLst>
              <a:gd name="adj" fmla="val 6957"/>
            </a:avLst>
          </a:prstGeom>
          <a:solidFill>
            <a:srgbClr val="FFFFFF"/>
          </a:solidFill>
          <a:ln w="15240">
            <a:noFill/>
            <a:prstDash val="solid"/>
          </a:ln>
        </p:spPr>
        <p:txBody>
          <a:bodyPr/>
          <a:lstStyle/>
          <a:p>
            <a:endParaRPr/>
          </a:p>
        </p:txBody>
      </p:sp>
      <p:sp>
        <p:nvSpPr>
          <p:cNvPr id="9" name="Text 6"/>
          <p:cNvSpPr/>
          <p:nvPr/>
        </p:nvSpPr>
        <p:spPr>
          <a:xfrm>
            <a:off x="9079992" y="2286000"/>
            <a:ext cx="2185416" cy="795528"/>
          </a:xfrm>
          <a:prstGeom prst="rect">
            <a:avLst/>
          </a:prstGeom>
          <a:noFill/>
          <a:ln>
            <a:noFill/>
          </a:ln>
        </p:spPr>
        <p:txBody>
          <a:bodyPr wrap="square" rtlCol="0" anchor="ctr">
            <a:normAutofit fontScale="85000" lnSpcReduction="10000"/>
          </a:bodyPr>
          <a:lstStyle/>
          <a:p>
            <a:pPr marL="0" indent="0">
              <a:buNone/>
            </a:pPr>
            <a:r>
              <a:rPr lang="en-US" sz="1400" b="1" dirty="0">
                <a:solidFill>
                  <a:srgbClr val="263238"/>
                </a:solidFill>
                <a:latin typeface="Aptos" pitchFamily="34" charset="0"/>
                <a:ea typeface="Aptos" pitchFamily="34" charset="-122"/>
                <a:cs typeface="Aptos" pitchFamily="34" charset="-120"/>
              </a:rPr>
              <a:t>Staying power turns a release into a longer global conversation. Which can lead to more subscribers.</a:t>
            </a:r>
            <a:endParaRPr lang="en-US" sz="1400" dirty="0"/>
          </a:p>
        </p:txBody>
      </p:sp>
      <p:sp>
        <p:nvSpPr>
          <p:cNvPr id="10" name="Text 7"/>
          <p:cNvSpPr/>
          <p:nvPr/>
        </p:nvSpPr>
        <p:spPr>
          <a:xfrm>
            <a:off x="868680" y="5952744"/>
            <a:ext cx="2468880" cy="502920"/>
          </a:xfrm>
          <a:prstGeom prst="rect">
            <a:avLst/>
          </a:prstGeom>
          <a:noFill/>
          <a:ln>
            <a:noFill/>
          </a:ln>
        </p:spPr>
        <p:txBody>
          <a:bodyPr wrap="square" rtlCol="0" anchor="ctr">
            <a:normAutofit/>
          </a:bodyPr>
          <a:lstStyle/>
          <a:p>
            <a:pPr marL="0" indent="0">
              <a:buNone/>
            </a:pPr>
            <a:r>
              <a:rPr lang="en-US" sz="900" dirty="0">
                <a:solidFill>
                  <a:srgbClr val="626B72"/>
                </a:solidFill>
                <a:latin typeface="Aptos" pitchFamily="34" charset="0"/>
                <a:ea typeface="Aptos" pitchFamily="34" charset="-122"/>
                <a:cs typeface="Aptos" pitchFamily="34" charset="-120"/>
              </a:rPr>
              <a:t>Chart uses Top 10 strength: higher value means better rank.</a:t>
            </a:r>
            <a:endParaRPr lang="en-US" sz="900" dirty="0"/>
          </a:p>
          <a:p>
            <a:pPr marL="0" indent="0">
              <a:buNone/>
            </a:pPr>
            <a:r>
              <a:rPr lang="en-US" sz="900" dirty="0">
                <a:solidFill>
                  <a:srgbClr val="626B72"/>
                </a:solidFill>
                <a:latin typeface="Aptos" pitchFamily="34" charset="0"/>
                <a:ea typeface="Aptos" pitchFamily="34" charset="-122"/>
                <a:cs typeface="Aptos" pitchFamily="34" charset="-120"/>
              </a:rPr>
              <a:t>Example: Rank #1 = 10, Rank #10 = 1.</a:t>
            </a:r>
            <a:endParaRPr lang="en-US" sz="900" dirty="0"/>
          </a:p>
        </p:txBody>
      </p:sp>
      <p:sp>
        <p:nvSpPr>
          <p:cNvPr id="11" name="Text 8"/>
          <p:cNvSpPr/>
          <p:nvPr/>
        </p:nvSpPr>
        <p:spPr>
          <a:xfrm>
            <a:off x="8966063" y="3867912"/>
            <a:ext cx="2514600" cy="594360"/>
          </a:xfrm>
          <a:prstGeom prst="rect">
            <a:avLst/>
          </a:prstGeom>
          <a:noFill/>
          <a:ln>
            <a:noFill/>
          </a:ln>
        </p:spPr>
        <p:txBody>
          <a:bodyPr wrap="square" rtlCol="0" anchor="ctr">
            <a:normAutofit/>
          </a:bodyPr>
          <a:lstStyle/>
          <a:p>
            <a:pPr marL="0" indent="0">
              <a:buNone/>
            </a:pPr>
            <a:r>
              <a:rPr lang="en-US" sz="950" dirty="0">
                <a:solidFill>
                  <a:srgbClr val="263238"/>
                </a:solidFill>
                <a:latin typeface="Aptos" pitchFamily="34" charset="0"/>
                <a:ea typeface="Aptos" pitchFamily="34" charset="-122"/>
                <a:cs typeface="Aptos" pitchFamily="34" charset="-120"/>
              </a:rPr>
              <a:t>Weeks in Global Top 10: Squid Game 22; All of Us Are Dead 11; ONE PIECE 8; Alice in Borderland S2 5.</a:t>
            </a:r>
            <a:endParaRPr lang="en-US" sz="950" dirty="0"/>
          </a:p>
        </p:txBody>
      </p:sp>
      <p:sp>
        <p:nvSpPr>
          <p:cNvPr id="12" name="Text 9"/>
          <p:cNvSpPr/>
          <p:nvPr/>
        </p:nvSpPr>
        <p:spPr>
          <a:xfrm>
            <a:off x="502920" y="6556248"/>
            <a:ext cx="8503920" cy="164592"/>
          </a:xfrm>
          <a:prstGeom prst="rect">
            <a:avLst/>
          </a:prstGeom>
          <a:noFill/>
          <a:ln>
            <a:noFill/>
          </a:ln>
        </p:spPr>
        <p:txBody>
          <a:bodyPr wrap="square" rtlCol="0" anchor="ctr">
            <a:normAutofit fontScale="77500" lnSpcReduction="20000"/>
          </a:bodyPr>
          <a:lstStyle/>
          <a:p>
            <a:pPr marL="0" indent="0">
              <a:buNone/>
            </a:pPr>
            <a:r>
              <a:rPr lang="en-US" sz="650" dirty="0">
                <a:solidFill>
                  <a:srgbClr val="626B72"/>
                </a:solidFill>
                <a:latin typeface="Aptos" pitchFamily="34" charset="0"/>
                <a:ea typeface="Aptos" pitchFamily="34" charset="-122"/>
                <a:cs typeface="Aptos" pitchFamily="34" charset="-120"/>
              </a:rPr>
              <a:t>Data source: All Weeks Global Netflix. Top 10 strength = 11 - weekly rank.</a:t>
            </a:r>
            <a:endParaRPr lang="en-US" sz="650" dirty="0"/>
          </a:p>
        </p:txBody>
      </p:sp>
      <p:sp>
        <p:nvSpPr>
          <p:cNvPr id="13" name="Text 10"/>
          <p:cNvSpPr/>
          <p:nvPr/>
        </p:nvSpPr>
        <p:spPr>
          <a:xfrm>
            <a:off x="10789920" y="6510528"/>
            <a:ext cx="868680" cy="182880"/>
          </a:xfrm>
          <a:prstGeom prst="rect">
            <a:avLst/>
          </a:prstGeom>
          <a:noFill/>
          <a:ln>
            <a:noFill/>
          </a:ln>
        </p:spPr>
        <p:txBody>
          <a:bodyPr wrap="square" rtlCol="0" anchor="ctr"/>
          <a:lstStyle/>
          <a:p>
            <a:pPr marL="0" indent="0" algn="r">
              <a:buNone/>
            </a:pPr>
            <a:r>
              <a:rPr lang="en-US" sz="750" dirty="0">
                <a:solidFill>
                  <a:srgbClr val="626B72"/>
                </a:solidFill>
                <a:latin typeface="Aptos" pitchFamily="34" charset="0"/>
                <a:ea typeface="Aptos" pitchFamily="34" charset="-122"/>
                <a:cs typeface="Aptos" pitchFamily="34" charset="-120"/>
              </a:rPr>
              <a:t>DSC640</a:t>
            </a:r>
            <a:endParaRPr lang="en-US" sz="750" dirty="0"/>
          </a:p>
        </p:txBody>
      </p:sp>
      <p:sp>
        <p:nvSpPr>
          <p:cNvPr id="14" name="Rectangle 13"/>
          <p:cNvSpPr/>
          <p:nvPr/>
        </p:nvSpPr>
        <p:spPr>
          <a:xfrm>
            <a:off x="320040" y="6556248"/>
            <a:ext cx="11567160" cy="18288"/>
          </a:xfrm>
          <a:prstGeom prst="rect">
            <a:avLst/>
          </a:prstGeom>
          <a:solidFill>
            <a:srgbClr val="2F6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7F3"/>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F6F7E"/>
          </a:solidFill>
          <a:ln w="12700">
            <a:noFill/>
            <a:prstDash val="solid"/>
          </a:ln>
        </p:spPr>
        <p:txBody>
          <a:bodyPr/>
          <a:lstStyle/>
          <a:p>
            <a:endParaRPr/>
          </a:p>
        </p:txBody>
      </p:sp>
      <p:sp>
        <p:nvSpPr>
          <p:cNvPr id="3" name="Text 1"/>
          <p:cNvSpPr/>
          <p:nvPr/>
        </p:nvSpPr>
        <p:spPr>
          <a:xfrm>
            <a:off x="11521440" y="237744"/>
            <a:ext cx="347472" cy="182880"/>
          </a:xfrm>
          <a:prstGeom prst="rect">
            <a:avLst/>
          </a:prstGeom>
          <a:noFill/>
          <a:ln>
            <a:noFill/>
          </a:ln>
        </p:spPr>
        <p:txBody>
          <a:bodyPr wrap="square" rtlCol="0" anchor="ctr"/>
          <a:lstStyle/>
          <a:p>
            <a:pPr marL="0" indent="0" algn="r">
              <a:buNone/>
            </a:pPr>
            <a:r>
              <a:rPr lang="en-US" sz="800" dirty="0">
                <a:solidFill>
                  <a:srgbClr val="626B72"/>
                </a:solidFill>
                <a:latin typeface="Aptos" pitchFamily="34" charset="0"/>
                <a:ea typeface="Aptos" pitchFamily="34" charset="-122"/>
                <a:cs typeface="Aptos" pitchFamily="34" charset="-120"/>
              </a:rPr>
              <a:t>08</a:t>
            </a:r>
            <a:endParaRPr lang="en-US" sz="800" dirty="0"/>
          </a:p>
        </p:txBody>
      </p:sp>
      <p:sp>
        <p:nvSpPr>
          <p:cNvPr id="4" name="Text 2"/>
          <p:cNvSpPr/>
          <p:nvPr/>
        </p:nvSpPr>
        <p:spPr>
          <a:xfrm>
            <a:off x="594360" y="384048"/>
            <a:ext cx="5303520" cy="228600"/>
          </a:xfrm>
          <a:prstGeom prst="rect">
            <a:avLst/>
          </a:prstGeom>
          <a:noFill/>
          <a:ln>
            <a:noFill/>
          </a:ln>
        </p:spPr>
        <p:txBody>
          <a:bodyPr wrap="square" rtlCol="0" anchor="ctr"/>
          <a:lstStyle/>
          <a:p>
            <a:pPr marL="0" indent="0">
              <a:buNone/>
            </a:pPr>
            <a:r>
              <a:rPr lang="en-US" sz="900" b="1" dirty="0">
                <a:solidFill>
                  <a:srgbClr val="2F6F7E"/>
                </a:solidFill>
                <a:latin typeface="Aptos" pitchFamily="34" charset="0"/>
                <a:ea typeface="Aptos" pitchFamily="34" charset="-122"/>
                <a:cs typeface="Aptos" pitchFamily="34" charset="-120"/>
              </a:rPr>
              <a:t>VISUAL INSIGHT 3</a:t>
            </a:r>
            <a:endParaRPr lang="en-US" sz="900" dirty="0"/>
          </a:p>
        </p:txBody>
      </p:sp>
      <p:sp>
        <p:nvSpPr>
          <p:cNvPr id="5" name="Text 3"/>
          <p:cNvSpPr/>
          <p:nvPr/>
        </p:nvSpPr>
        <p:spPr>
          <a:xfrm>
            <a:off x="594360" y="658368"/>
            <a:ext cx="10972800" cy="502920"/>
          </a:xfrm>
          <a:prstGeom prst="rect">
            <a:avLst/>
          </a:prstGeom>
          <a:noFill/>
          <a:ln>
            <a:noFill/>
          </a:ln>
        </p:spPr>
        <p:txBody>
          <a:bodyPr wrap="square" lIns="0" tIns="0" rIns="0" bIns="0" rtlCol="0" anchor="ctr">
            <a:normAutofit/>
          </a:bodyPr>
          <a:lstStyle/>
          <a:p>
            <a:pPr marL="0" indent="0">
              <a:buNone/>
            </a:pPr>
            <a:r>
              <a:rPr lang="en-US" sz="2500" b="1" dirty="0">
                <a:solidFill>
                  <a:srgbClr val="263238"/>
                </a:solidFill>
                <a:latin typeface="Aptos Display" pitchFamily="34" charset="0"/>
                <a:ea typeface="Aptos Display" pitchFamily="34" charset="-122"/>
                <a:cs typeface="Aptos Display" pitchFamily="34" charset="-120"/>
              </a:rPr>
              <a:t>Non-English Hits Are Competing at a Global Scale</a:t>
            </a:r>
            <a:endParaRPr lang="en-US" sz="2500" dirty="0"/>
          </a:p>
        </p:txBody>
      </p:sp>
      <p:sp>
        <p:nvSpPr>
          <p:cNvPr id="6" name="Text 4"/>
          <p:cNvSpPr/>
          <p:nvPr/>
        </p:nvSpPr>
        <p:spPr>
          <a:xfrm>
            <a:off x="685800" y="1143000"/>
            <a:ext cx="8869680" cy="502920"/>
          </a:xfrm>
          <a:prstGeom prst="rect">
            <a:avLst/>
          </a:prstGeom>
          <a:noFill/>
          <a:ln>
            <a:noFill/>
          </a:ln>
        </p:spPr>
        <p:txBody>
          <a:bodyPr wrap="square" rtlCol="0" anchor="ctr">
            <a:normAutofit/>
          </a:bodyPr>
          <a:lstStyle/>
          <a:p>
            <a:pPr marL="0" indent="0">
              <a:buNone/>
            </a:pPr>
            <a:r>
              <a:rPr lang="en-US" sz="1320" dirty="0">
                <a:solidFill>
                  <a:srgbClr val="263238"/>
                </a:solidFill>
                <a:latin typeface="Aptos" pitchFamily="34" charset="0"/>
                <a:ea typeface="Aptos" pitchFamily="34" charset="-122"/>
                <a:cs typeface="Aptos" pitchFamily="34" charset="-120"/>
              </a:rPr>
              <a:t>Netflix’s Most Popular data shows that non-English titles are not just one-off successes. Non-English TV and films have produced hundreds of millions of views among Netflix’s biggest titles.</a:t>
            </a:r>
            <a:endParaRPr lang="en-US" sz="1320" dirty="0"/>
          </a:p>
        </p:txBody>
      </p:sp>
      <p:graphicFrame>
        <p:nvGraphicFramePr>
          <p:cNvPr id="7" name="Chart 0"/>
          <p:cNvGraphicFramePr/>
          <p:nvPr/>
        </p:nvGraphicFramePr>
        <p:xfrm>
          <a:off x="868680" y="1901952"/>
          <a:ext cx="6720840" cy="388620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914400" y="5760720"/>
            <a:ext cx="6217920" cy="182880"/>
          </a:xfrm>
          <a:prstGeom prst="rect">
            <a:avLst/>
          </a:prstGeom>
          <a:noFill/>
          <a:ln>
            <a:noFill/>
          </a:ln>
        </p:spPr>
        <p:txBody>
          <a:bodyPr wrap="square" rtlCol="0" anchor="ctr"/>
          <a:lstStyle/>
          <a:p>
            <a:pPr marL="0" indent="0">
              <a:buNone/>
            </a:pPr>
            <a:r>
              <a:rPr lang="en-US" sz="850" dirty="0">
                <a:solidFill>
                  <a:srgbClr val="626B72"/>
                </a:solidFill>
                <a:latin typeface="Aptos" pitchFamily="34" charset="0"/>
                <a:ea typeface="Aptos" pitchFamily="34" charset="-122"/>
                <a:cs typeface="Aptos" pitchFamily="34" charset="-120"/>
              </a:rPr>
              <a:t>Views in millions, summed across the Top 10 titles in each Most Popular category.</a:t>
            </a:r>
            <a:endParaRPr lang="en-US" sz="850" dirty="0"/>
          </a:p>
        </p:txBody>
      </p:sp>
      <p:sp>
        <p:nvSpPr>
          <p:cNvPr id="9" name="Shape 6"/>
          <p:cNvSpPr/>
          <p:nvPr/>
        </p:nvSpPr>
        <p:spPr>
          <a:xfrm>
            <a:off x="7955280" y="1920240"/>
            <a:ext cx="3246120" cy="1051560"/>
          </a:xfrm>
          <a:prstGeom prst="roundRect">
            <a:avLst>
              <a:gd name="adj" fmla="val 6957"/>
            </a:avLst>
          </a:prstGeom>
          <a:solidFill>
            <a:srgbClr val="FFFFFF"/>
          </a:solidFill>
          <a:ln w="15240">
            <a:noFill/>
            <a:prstDash val="solid"/>
          </a:ln>
        </p:spPr>
        <p:txBody>
          <a:bodyPr/>
          <a:lstStyle/>
          <a:p>
            <a:endParaRPr/>
          </a:p>
        </p:txBody>
      </p:sp>
      <p:sp>
        <p:nvSpPr>
          <p:cNvPr id="10" name="Text 7"/>
          <p:cNvSpPr/>
          <p:nvPr/>
        </p:nvSpPr>
        <p:spPr>
          <a:xfrm>
            <a:off x="8119872" y="2048256"/>
            <a:ext cx="2916936" cy="795528"/>
          </a:xfrm>
          <a:prstGeom prst="rect">
            <a:avLst/>
          </a:prstGeom>
          <a:noFill/>
          <a:ln>
            <a:noFill/>
          </a:ln>
        </p:spPr>
        <p:txBody>
          <a:bodyPr wrap="square" rtlCol="0" anchor="ctr">
            <a:normAutofit lnSpcReduction="10000"/>
          </a:bodyPr>
          <a:lstStyle/>
          <a:p>
            <a:pPr marL="0" indent="0">
              <a:buNone/>
            </a:pPr>
            <a:r>
              <a:rPr lang="en-US" sz="1550" b="1" dirty="0">
                <a:solidFill>
                  <a:srgbClr val="263238"/>
                </a:solidFill>
                <a:latin typeface="Aptos" pitchFamily="34" charset="0"/>
                <a:ea typeface="Aptos" pitchFamily="34" charset="-122"/>
                <a:cs typeface="Aptos" pitchFamily="34" charset="-120"/>
              </a:rPr>
              <a:t>A hit does not have to start in English to become globally mainstream.</a:t>
            </a:r>
            <a:endParaRPr lang="en-US" sz="1550" dirty="0"/>
          </a:p>
        </p:txBody>
      </p:sp>
      <p:sp>
        <p:nvSpPr>
          <p:cNvPr id="12" name="Text 9"/>
          <p:cNvSpPr/>
          <p:nvPr/>
        </p:nvSpPr>
        <p:spPr>
          <a:xfrm>
            <a:off x="8119872" y="5047488"/>
            <a:ext cx="2834640" cy="685800"/>
          </a:xfrm>
          <a:prstGeom prst="rect">
            <a:avLst/>
          </a:prstGeom>
          <a:noFill/>
          <a:ln>
            <a:noFill/>
          </a:ln>
        </p:spPr>
        <p:txBody>
          <a:bodyPr wrap="square" rtlCol="0" anchor="ctr">
            <a:normAutofit/>
          </a:bodyPr>
          <a:lstStyle/>
          <a:p>
            <a:pPr marL="0" indent="0">
              <a:buNone/>
            </a:pPr>
            <a:r>
              <a:rPr lang="en-US" sz="1200" dirty="0">
                <a:solidFill>
                  <a:srgbClr val="263238"/>
                </a:solidFill>
                <a:latin typeface="Aptos" pitchFamily="34" charset="0"/>
                <a:ea typeface="Aptos" pitchFamily="34" charset="-122"/>
                <a:cs typeface="Aptos" pitchFamily="34" charset="-120"/>
              </a:rPr>
              <a:t>Squid Game: Season 1 recorded 265.2M views in its first 91 days, the largest title in the TV (Non-English) category. </a:t>
            </a:r>
            <a:endParaRPr lang="en-US" sz="1200" dirty="0"/>
          </a:p>
        </p:txBody>
      </p:sp>
      <p:sp>
        <p:nvSpPr>
          <p:cNvPr id="13" name="Text 10"/>
          <p:cNvSpPr/>
          <p:nvPr/>
        </p:nvSpPr>
        <p:spPr>
          <a:xfrm>
            <a:off x="502920" y="6556248"/>
            <a:ext cx="8503920" cy="164592"/>
          </a:xfrm>
          <a:prstGeom prst="rect">
            <a:avLst/>
          </a:prstGeom>
          <a:noFill/>
          <a:ln>
            <a:noFill/>
          </a:ln>
        </p:spPr>
        <p:txBody>
          <a:bodyPr wrap="square" rtlCol="0" anchor="ctr">
            <a:normAutofit fontScale="77500" lnSpcReduction="20000"/>
          </a:bodyPr>
          <a:lstStyle/>
          <a:p>
            <a:pPr marL="0" indent="0">
              <a:buNone/>
            </a:pPr>
            <a:r>
              <a:rPr lang="en-US" sz="650" dirty="0">
                <a:solidFill>
                  <a:srgbClr val="626B72"/>
                </a:solidFill>
                <a:latin typeface="Aptos" pitchFamily="34" charset="0"/>
                <a:ea typeface="Aptos" pitchFamily="34" charset="-122"/>
                <a:cs typeface="Aptos" pitchFamily="34" charset="-120"/>
              </a:rPr>
              <a:t>Data source: Most Popular Netflix. Views are first 91 days by Netflix category.</a:t>
            </a:r>
            <a:endParaRPr lang="en-US" sz="650" dirty="0"/>
          </a:p>
        </p:txBody>
      </p:sp>
      <p:sp>
        <p:nvSpPr>
          <p:cNvPr id="14" name="Text 11"/>
          <p:cNvSpPr/>
          <p:nvPr/>
        </p:nvSpPr>
        <p:spPr>
          <a:xfrm>
            <a:off x="10789920" y="6510528"/>
            <a:ext cx="868680" cy="182880"/>
          </a:xfrm>
          <a:prstGeom prst="rect">
            <a:avLst/>
          </a:prstGeom>
          <a:noFill/>
          <a:ln>
            <a:noFill/>
          </a:ln>
        </p:spPr>
        <p:txBody>
          <a:bodyPr wrap="square" rtlCol="0" anchor="ctr"/>
          <a:lstStyle/>
          <a:p>
            <a:pPr marL="0" indent="0" algn="r">
              <a:buNone/>
            </a:pPr>
            <a:r>
              <a:rPr lang="en-US" sz="750" dirty="0">
                <a:solidFill>
                  <a:srgbClr val="626B72"/>
                </a:solidFill>
                <a:latin typeface="Aptos" pitchFamily="34" charset="0"/>
                <a:ea typeface="Aptos" pitchFamily="34" charset="-122"/>
                <a:cs typeface="Aptos" pitchFamily="34" charset="-120"/>
              </a:rPr>
              <a:t>DSC640</a:t>
            </a:r>
            <a:endParaRPr lang="en-US" sz="750" dirty="0"/>
          </a:p>
        </p:txBody>
      </p:sp>
      <p:sp>
        <p:nvSpPr>
          <p:cNvPr id="15" name="Rectangle 14"/>
          <p:cNvSpPr/>
          <p:nvPr/>
        </p:nvSpPr>
        <p:spPr>
          <a:xfrm>
            <a:off x="320040" y="6556248"/>
            <a:ext cx="11567160" cy="18288"/>
          </a:xfrm>
          <a:prstGeom prst="rect">
            <a:avLst/>
          </a:prstGeom>
          <a:solidFill>
            <a:srgbClr val="2F6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a:extLst>
              <a:ext uri="{FF2B5EF4-FFF2-40B4-BE49-F238E27FC236}">
                <a16:creationId xmlns:a16="http://schemas.microsoft.com/office/drawing/2014/main" id="{7AD62C54-50F4-D88F-1ABB-B3F44E33FC92}"/>
              </a:ext>
            </a:extLst>
          </p:cNvPr>
          <p:cNvPicPr>
            <a:picLocks noChangeAspect="1"/>
          </p:cNvPicPr>
          <p:nvPr/>
        </p:nvPicPr>
        <p:blipFill>
          <a:blip r:embed="rId4"/>
          <a:stretch>
            <a:fillRect/>
          </a:stretch>
        </p:blipFill>
        <p:spPr>
          <a:xfrm>
            <a:off x="8241128" y="3671223"/>
            <a:ext cx="2548792" cy="12391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7F3"/>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F6F7E"/>
          </a:solidFill>
          <a:ln w="12700">
            <a:noFill/>
            <a:prstDash val="solid"/>
          </a:ln>
        </p:spPr>
        <p:txBody>
          <a:bodyPr/>
          <a:lstStyle/>
          <a:p>
            <a:endParaRPr/>
          </a:p>
        </p:txBody>
      </p:sp>
      <p:sp>
        <p:nvSpPr>
          <p:cNvPr id="3" name="Text 1"/>
          <p:cNvSpPr/>
          <p:nvPr/>
        </p:nvSpPr>
        <p:spPr>
          <a:xfrm>
            <a:off x="11521440" y="237744"/>
            <a:ext cx="347472" cy="182880"/>
          </a:xfrm>
          <a:prstGeom prst="rect">
            <a:avLst/>
          </a:prstGeom>
          <a:noFill/>
          <a:ln>
            <a:noFill/>
          </a:ln>
        </p:spPr>
        <p:txBody>
          <a:bodyPr wrap="square" rtlCol="0" anchor="ctr"/>
          <a:lstStyle/>
          <a:p>
            <a:pPr marL="0" indent="0" algn="r">
              <a:buNone/>
            </a:pPr>
            <a:r>
              <a:rPr lang="en-US" sz="800" dirty="0">
                <a:solidFill>
                  <a:srgbClr val="626B72"/>
                </a:solidFill>
                <a:latin typeface="Aptos" pitchFamily="34" charset="0"/>
                <a:ea typeface="Aptos" pitchFamily="34" charset="-122"/>
                <a:cs typeface="Aptos" pitchFamily="34" charset="-120"/>
              </a:rPr>
              <a:t>09</a:t>
            </a:r>
            <a:endParaRPr lang="en-US" sz="800" dirty="0"/>
          </a:p>
        </p:txBody>
      </p:sp>
      <p:sp>
        <p:nvSpPr>
          <p:cNvPr id="4" name="Text 2"/>
          <p:cNvSpPr/>
          <p:nvPr/>
        </p:nvSpPr>
        <p:spPr>
          <a:xfrm>
            <a:off x="594360" y="384048"/>
            <a:ext cx="5303520" cy="228600"/>
          </a:xfrm>
          <a:prstGeom prst="rect">
            <a:avLst/>
          </a:prstGeom>
          <a:noFill/>
          <a:ln>
            <a:noFill/>
          </a:ln>
        </p:spPr>
        <p:txBody>
          <a:bodyPr wrap="square" rtlCol="0" anchor="ctr"/>
          <a:lstStyle/>
          <a:p>
            <a:pPr marL="0" indent="0">
              <a:buNone/>
            </a:pPr>
            <a:r>
              <a:rPr lang="en-US" sz="900" b="1" dirty="0">
                <a:solidFill>
                  <a:srgbClr val="2F6F7E"/>
                </a:solidFill>
                <a:latin typeface="Aptos" pitchFamily="34" charset="0"/>
                <a:ea typeface="Aptos" pitchFamily="34" charset="-122"/>
                <a:cs typeface="Aptos" pitchFamily="34" charset="-120"/>
              </a:rPr>
              <a:t>VISUAL INSIGHT 4</a:t>
            </a:r>
            <a:endParaRPr lang="en-US" sz="900" dirty="0"/>
          </a:p>
        </p:txBody>
      </p:sp>
      <p:sp>
        <p:nvSpPr>
          <p:cNvPr id="5" name="Text 3"/>
          <p:cNvSpPr/>
          <p:nvPr/>
        </p:nvSpPr>
        <p:spPr>
          <a:xfrm>
            <a:off x="594360" y="658368"/>
            <a:ext cx="10972800" cy="502920"/>
          </a:xfrm>
          <a:prstGeom prst="rect">
            <a:avLst/>
          </a:prstGeom>
          <a:noFill/>
          <a:ln>
            <a:noFill/>
          </a:ln>
        </p:spPr>
        <p:txBody>
          <a:bodyPr wrap="square" lIns="0" tIns="0" rIns="0" bIns="0" rtlCol="0" anchor="ctr">
            <a:normAutofit/>
          </a:bodyPr>
          <a:lstStyle/>
          <a:p>
            <a:pPr marL="0" indent="0">
              <a:buNone/>
            </a:pPr>
            <a:r>
              <a:rPr lang="en-US" sz="2500" b="1" dirty="0">
                <a:solidFill>
                  <a:srgbClr val="263238"/>
                </a:solidFill>
                <a:latin typeface="Aptos Display" pitchFamily="34" charset="0"/>
                <a:ea typeface="Aptos Display" pitchFamily="34" charset="-122"/>
                <a:cs typeface="Aptos Display" pitchFamily="34" charset="-120"/>
              </a:rPr>
              <a:t>The Strongest Titles Travel Across Markets</a:t>
            </a:r>
            <a:endParaRPr lang="en-US" sz="2500" dirty="0"/>
          </a:p>
        </p:txBody>
      </p:sp>
      <p:sp>
        <p:nvSpPr>
          <p:cNvPr id="6" name="Text 4"/>
          <p:cNvSpPr/>
          <p:nvPr/>
        </p:nvSpPr>
        <p:spPr>
          <a:xfrm>
            <a:off x="713232" y="1078992"/>
            <a:ext cx="10241280" cy="411480"/>
          </a:xfrm>
          <a:prstGeom prst="rect">
            <a:avLst/>
          </a:prstGeom>
          <a:noFill/>
          <a:ln>
            <a:noFill/>
          </a:ln>
        </p:spPr>
        <p:txBody>
          <a:bodyPr wrap="square" rtlCol="0" anchor="ctr">
            <a:normAutofit fontScale="92500" lnSpcReduction="20000"/>
          </a:bodyPr>
          <a:lstStyle/>
          <a:p>
            <a:pPr marL="0" indent="0">
              <a:buNone/>
            </a:pPr>
            <a:r>
              <a:rPr lang="en-US" sz="1300" dirty="0">
                <a:solidFill>
                  <a:srgbClr val="263238"/>
                </a:solidFill>
                <a:latin typeface="Aptos" pitchFamily="34" charset="0"/>
                <a:ea typeface="Aptos" pitchFamily="34" charset="-122"/>
                <a:cs typeface="Aptos" pitchFamily="34" charset="-120"/>
              </a:rPr>
              <a:t>Country-level Top 10 data helps show whether a title stayed local or traveled globally. The strongest Asian-led titles appeared across many different country rankings.</a:t>
            </a:r>
            <a:endParaRPr lang="en-US" sz="1300" dirty="0"/>
          </a:p>
        </p:txBody>
      </p:sp>
      <p:sp>
        <p:nvSpPr>
          <p:cNvPr id="7" name="Text 5"/>
          <p:cNvSpPr/>
          <p:nvPr/>
        </p:nvSpPr>
        <p:spPr>
          <a:xfrm>
            <a:off x="594360" y="1508760"/>
            <a:ext cx="1920240" cy="201168"/>
          </a:xfrm>
          <a:prstGeom prst="rect">
            <a:avLst/>
          </a:prstGeom>
          <a:noFill/>
          <a:ln>
            <a:noFill/>
          </a:ln>
        </p:spPr>
        <p:txBody>
          <a:bodyPr wrap="square" rtlCol="0" anchor="ctr"/>
          <a:lstStyle/>
          <a:p>
            <a:pPr marL="0" indent="0">
              <a:buNone/>
            </a:pPr>
            <a:r>
              <a:rPr lang="en-US" sz="900" b="1" dirty="0">
                <a:solidFill>
                  <a:srgbClr val="626B72"/>
                </a:solidFill>
                <a:latin typeface="Aptos" pitchFamily="34" charset="0"/>
                <a:ea typeface="Aptos" pitchFamily="34" charset="-122"/>
                <a:cs typeface="Aptos" pitchFamily="34" charset="-120"/>
              </a:rPr>
              <a:t>Title</a:t>
            </a:r>
            <a:endParaRPr lang="en-US" sz="900" dirty="0"/>
          </a:p>
        </p:txBody>
      </p:sp>
      <p:sp>
        <p:nvSpPr>
          <p:cNvPr id="8" name="Text 6"/>
          <p:cNvSpPr/>
          <p:nvPr/>
        </p:nvSpPr>
        <p:spPr>
          <a:xfrm rot="18900000">
            <a:off x="2532888" y="1325880"/>
            <a:ext cx="612648" cy="320040"/>
          </a:xfrm>
          <a:prstGeom prst="rect">
            <a:avLst/>
          </a:prstGeom>
          <a:noFill/>
          <a:ln>
            <a:noFill/>
          </a:ln>
        </p:spPr>
        <p:txBody>
          <a:bodyPr wrap="square" rtlCol="0" anchor="ctr">
            <a:normAutofit/>
          </a:bodyPr>
          <a:lstStyle/>
          <a:p>
            <a:pPr marL="0" indent="0" algn="ctr">
              <a:buNone/>
            </a:pPr>
            <a:r>
              <a:rPr lang="en-US" sz="710" dirty="0">
                <a:solidFill>
                  <a:srgbClr val="626B72"/>
                </a:solidFill>
                <a:latin typeface="Aptos" pitchFamily="34" charset="0"/>
                <a:ea typeface="Aptos" pitchFamily="34" charset="-122"/>
                <a:cs typeface="Aptos" pitchFamily="34" charset="-120"/>
              </a:rPr>
              <a:t>US</a:t>
            </a:r>
            <a:endParaRPr lang="en-US" sz="710" dirty="0"/>
          </a:p>
        </p:txBody>
      </p:sp>
      <p:sp>
        <p:nvSpPr>
          <p:cNvPr id="9" name="Text 7"/>
          <p:cNvSpPr/>
          <p:nvPr/>
        </p:nvSpPr>
        <p:spPr>
          <a:xfrm rot="18900000">
            <a:off x="3099816" y="1325880"/>
            <a:ext cx="612648" cy="320040"/>
          </a:xfrm>
          <a:prstGeom prst="rect">
            <a:avLst/>
          </a:prstGeom>
          <a:noFill/>
          <a:ln>
            <a:noFill/>
          </a:ln>
        </p:spPr>
        <p:txBody>
          <a:bodyPr wrap="square" rtlCol="0" anchor="ctr">
            <a:normAutofit/>
          </a:bodyPr>
          <a:lstStyle/>
          <a:p>
            <a:pPr marL="0" indent="0" algn="ctr">
              <a:buNone/>
            </a:pPr>
            <a:r>
              <a:rPr lang="en-US" sz="710" dirty="0">
                <a:solidFill>
                  <a:srgbClr val="626B72"/>
                </a:solidFill>
                <a:latin typeface="Aptos" pitchFamily="34" charset="0"/>
                <a:ea typeface="Aptos" pitchFamily="34" charset="-122"/>
                <a:cs typeface="Aptos" pitchFamily="34" charset="-120"/>
              </a:rPr>
              <a:t>Mexico</a:t>
            </a:r>
            <a:endParaRPr lang="en-US" sz="710" dirty="0"/>
          </a:p>
        </p:txBody>
      </p:sp>
      <p:sp>
        <p:nvSpPr>
          <p:cNvPr id="10" name="Text 8"/>
          <p:cNvSpPr/>
          <p:nvPr/>
        </p:nvSpPr>
        <p:spPr>
          <a:xfrm rot="18900000">
            <a:off x="3666744" y="1325880"/>
            <a:ext cx="612648" cy="320040"/>
          </a:xfrm>
          <a:prstGeom prst="rect">
            <a:avLst/>
          </a:prstGeom>
          <a:noFill/>
          <a:ln>
            <a:noFill/>
          </a:ln>
        </p:spPr>
        <p:txBody>
          <a:bodyPr wrap="square" rtlCol="0" anchor="ctr">
            <a:normAutofit/>
          </a:bodyPr>
          <a:lstStyle/>
          <a:p>
            <a:pPr marL="0" indent="0" algn="ctr">
              <a:buNone/>
            </a:pPr>
            <a:r>
              <a:rPr lang="en-US" sz="710" dirty="0">
                <a:solidFill>
                  <a:srgbClr val="626B72"/>
                </a:solidFill>
                <a:latin typeface="Aptos" pitchFamily="34" charset="0"/>
                <a:ea typeface="Aptos" pitchFamily="34" charset="-122"/>
                <a:cs typeface="Aptos" pitchFamily="34" charset="-120"/>
              </a:rPr>
              <a:t>Brazil</a:t>
            </a:r>
            <a:endParaRPr lang="en-US" sz="710" dirty="0"/>
          </a:p>
        </p:txBody>
      </p:sp>
      <p:sp>
        <p:nvSpPr>
          <p:cNvPr id="11" name="Text 9"/>
          <p:cNvSpPr/>
          <p:nvPr/>
        </p:nvSpPr>
        <p:spPr>
          <a:xfrm rot="18900000">
            <a:off x="4233672" y="1325880"/>
            <a:ext cx="612648" cy="320040"/>
          </a:xfrm>
          <a:prstGeom prst="rect">
            <a:avLst/>
          </a:prstGeom>
          <a:noFill/>
          <a:ln>
            <a:noFill/>
          </a:ln>
        </p:spPr>
        <p:txBody>
          <a:bodyPr wrap="square" rtlCol="0" anchor="ctr">
            <a:normAutofit/>
          </a:bodyPr>
          <a:lstStyle/>
          <a:p>
            <a:pPr marL="0" indent="0" algn="ctr">
              <a:buNone/>
            </a:pPr>
            <a:r>
              <a:rPr lang="en-US" sz="710" dirty="0">
                <a:solidFill>
                  <a:srgbClr val="626B72"/>
                </a:solidFill>
                <a:latin typeface="Aptos" pitchFamily="34" charset="0"/>
                <a:ea typeface="Aptos" pitchFamily="34" charset="-122"/>
                <a:cs typeface="Aptos" pitchFamily="34" charset="-120"/>
              </a:rPr>
              <a:t>UK</a:t>
            </a:r>
            <a:endParaRPr lang="en-US" sz="710" dirty="0"/>
          </a:p>
        </p:txBody>
      </p:sp>
      <p:sp>
        <p:nvSpPr>
          <p:cNvPr id="12" name="Text 10"/>
          <p:cNvSpPr/>
          <p:nvPr/>
        </p:nvSpPr>
        <p:spPr>
          <a:xfrm rot="18900000">
            <a:off x="4800600" y="1325880"/>
            <a:ext cx="612648" cy="320040"/>
          </a:xfrm>
          <a:prstGeom prst="rect">
            <a:avLst/>
          </a:prstGeom>
          <a:noFill/>
          <a:ln>
            <a:noFill/>
          </a:ln>
        </p:spPr>
        <p:txBody>
          <a:bodyPr wrap="square" rtlCol="0" anchor="ctr">
            <a:normAutofit/>
          </a:bodyPr>
          <a:lstStyle/>
          <a:p>
            <a:pPr marL="0" indent="0" algn="ctr">
              <a:buNone/>
            </a:pPr>
            <a:r>
              <a:rPr lang="en-US" sz="710" dirty="0">
                <a:solidFill>
                  <a:srgbClr val="626B72"/>
                </a:solidFill>
                <a:latin typeface="Aptos" pitchFamily="34" charset="0"/>
                <a:ea typeface="Aptos" pitchFamily="34" charset="-122"/>
                <a:cs typeface="Aptos" pitchFamily="34" charset="-120"/>
              </a:rPr>
              <a:t>France</a:t>
            </a:r>
            <a:endParaRPr lang="en-US" sz="710" dirty="0"/>
          </a:p>
        </p:txBody>
      </p:sp>
      <p:sp>
        <p:nvSpPr>
          <p:cNvPr id="13" name="Text 11"/>
          <p:cNvSpPr/>
          <p:nvPr/>
        </p:nvSpPr>
        <p:spPr>
          <a:xfrm rot="18900000">
            <a:off x="5367528" y="1325880"/>
            <a:ext cx="612648" cy="320040"/>
          </a:xfrm>
          <a:prstGeom prst="rect">
            <a:avLst/>
          </a:prstGeom>
          <a:noFill/>
          <a:ln>
            <a:noFill/>
          </a:ln>
        </p:spPr>
        <p:txBody>
          <a:bodyPr wrap="square" rtlCol="0" anchor="ctr">
            <a:normAutofit/>
          </a:bodyPr>
          <a:lstStyle/>
          <a:p>
            <a:pPr marL="0" indent="0" algn="ctr">
              <a:buNone/>
            </a:pPr>
            <a:r>
              <a:rPr lang="en-US" sz="710" dirty="0">
                <a:solidFill>
                  <a:srgbClr val="626B72"/>
                </a:solidFill>
                <a:latin typeface="Aptos" pitchFamily="34" charset="0"/>
                <a:ea typeface="Aptos" pitchFamily="34" charset="-122"/>
                <a:cs typeface="Aptos" pitchFamily="34" charset="-120"/>
              </a:rPr>
              <a:t>Germany</a:t>
            </a:r>
            <a:endParaRPr lang="en-US" sz="710" dirty="0"/>
          </a:p>
        </p:txBody>
      </p:sp>
      <p:sp>
        <p:nvSpPr>
          <p:cNvPr id="14" name="Text 12"/>
          <p:cNvSpPr/>
          <p:nvPr/>
        </p:nvSpPr>
        <p:spPr>
          <a:xfrm rot="18900000">
            <a:off x="5934456" y="1325880"/>
            <a:ext cx="612648" cy="320040"/>
          </a:xfrm>
          <a:prstGeom prst="rect">
            <a:avLst/>
          </a:prstGeom>
          <a:noFill/>
          <a:ln>
            <a:noFill/>
          </a:ln>
        </p:spPr>
        <p:txBody>
          <a:bodyPr wrap="square" rtlCol="0" anchor="ctr">
            <a:normAutofit/>
          </a:bodyPr>
          <a:lstStyle/>
          <a:p>
            <a:pPr marL="0" indent="0" algn="ctr">
              <a:buNone/>
            </a:pPr>
            <a:r>
              <a:rPr lang="en-US" sz="710" dirty="0">
                <a:solidFill>
                  <a:srgbClr val="626B72"/>
                </a:solidFill>
                <a:latin typeface="Aptos" pitchFamily="34" charset="0"/>
                <a:ea typeface="Aptos" pitchFamily="34" charset="-122"/>
                <a:cs typeface="Aptos" pitchFamily="34" charset="-120"/>
              </a:rPr>
              <a:t>Spain</a:t>
            </a:r>
            <a:endParaRPr lang="en-US" sz="710" dirty="0"/>
          </a:p>
        </p:txBody>
      </p:sp>
      <p:sp>
        <p:nvSpPr>
          <p:cNvPr id="15" name="Text 13"/>
          <p:cNvSpPr/>
          <p:nvPr/>
        </p:nvSpPr>
        <p:spPr>
          <a:xfrm rot="18900000">
            <a:off x="6501384" y="1325880"/>
            <a:ext cx="612648" cy="320040"/>
          </a:xfrm>
          <a:prstGeom prst="rect">
            <a:avLst/>
          </a:prstGeom>
          <a:noFill/>
          <a:ln>
            <a:noFill/>
          </a:ln>
        </p:spPr>
        <p:txBody>
          <a:bodyPr wrap="square" rtlCol="0" anchor="ctr">
            <a:normAutofit/>
          </a:bodyPr>
          <a:lstStyle/>
          <a:p>
            <a:pPr marL="0" indent="0" algn="ctr">
              <a:buNone/>
            </a:pPr>
            <a:r>
              <a:rPr lang="en-US" sz="710" dirty="0">
                <a:solidFill>
                  <a:srgbClr val="626B72"/>
                </a:solidFill>
                <a:latin typeface="Aptos" pitchFamily="34" charset="0"/>
                <a:ea typeface="Aptos" pitchFamily="34" charset="-122"/>
                <a:cs typeface="Aptos" pitchFamily="34" charset="-120"/>
              </a:rPr>
              <a:t>India</a:t>
            </a:r>
            <a:endParaRPr lang="en-US" sz="710" dirty="0"/>
          </a:p>
        </p:txBody>
      </p:sp>
      <p:sp>
        <p:nvSpPr>
          <p:cNvPr id="16" name="Text 14"/>
          <p:cNvSpPr/>
          <p:nvPr/>
        </p:nvSpPr>
        <p:spPr>
          <a:xfrm rot="18900000">
            <a:off x="7068312" y="1325880"/>
            <a:ext cx="612648" cy="320040"/>
          </a:xfrm>
          <a:prstGeom prst="rect">
            <a:avLst/>
          </a:prstGeom>
          <a:noFill/>
          <a:ln>
            <a:noFill/>
          </a:ln>
        </p:spPr>
        <p:txBody>
          <a:bodyPr wrap="square" rtlCol="0" anchor="ctr">
            <a:normAutofit/>
          </a:bodyPr>
          <a:lstStyle/>
          <a:p>
            <a:pPr marL="0" indent="0" algn="ctr">
              <a:buNone/>
            </a:pPr>
            <a:r>
              <a:rPr lang="en-US" sz="710" dirty="0">
                <a:solidFill>
                  <a:srgbClr val="626B72"/>
                </a:solidFill>
                <a:latin typeface="Aptos" pitchFamily="34" charset="0"/>
                <a:ea typeface="Aptos" pitchFamily="34" charset="-122"/>
                <a:cs typeface="Aptos" pitchFamily="34" charset="-120"/>
              </a:rPr>
              <a:t>Japan</a:t>
            </a:r>
            <a:endParaRPr lang="en-US" sz="710" dirty="0"/>
          </a:p>
        </p:txBody>
      </p:sp>
      <p:sp>
        <p:nvSpPr>
          <p:cNvPr id="17" name="Text 15"/>
          <p:cNvSpPr/>
          <p:nvPr/>
        </p:nvSpPr>
        <p:spPr>
          <a:xfrm rot="18900000">
            <a:off x="7635240" y="1325880"/>
            <a:ext cx="612648" cy="320040"/>
          </a:xfrm>
          <a:prstGeom prst="rect">
            <a:avLst/>
          </a:prstGeom>
          <a:noFill/>
          <a:ln>
            <a:noFill/>
          </a:ln>
        </p:spPr>
        <p:txBody>
          <a:bodyPr wrap="square" rtlCol="0" anchor="ctr">
            <a:normAutofit/>
          </a:bodyPr>
          <a:lstStyle/>
          <a:p>
            <a:pPr marL="0" indent="0" algn="ctr">
              <a:buNone/>
            </a:pPr>
            <a:r>
              <a:rPr lang="en-US" sz="710" dirty="0">
                <a:solidFill>
                  <a:srgbClr val="626B72"/>
                </a:solidFill>
                <a:latin typeface="Aptos" pitchFamily="34" charset="0"/>
                <a:ea typeface="Aptos" pitchFamily="34" charset="-122"/>
                <a:cs typeface="Aptos" pitchFamily="34" charset="-120"/>
              </a:rPr>
              <a:t>S. Korea</a:t>
            </a:r>
            <a:endParaRPr lang="en-US" sz="710" dirty="0"/>
          </a:p>
        </p:txBody>
      </p:sp>
      <p:sp>
        <p:nvSpPr>
          <p:cNvPr id="18" name="Text 16"/>
          <p:cNvSpPr/>
          <p:nvPr/>
        </p:nvSpPr>
        <p:spPr>
          <a:xfrm rot="18900000">
            <a:off x="8202168" y="1325880"/>
            <a:ext cx="612648" cy="320040"/>
          </a:xfrm>
          <a:prstGeom prst="rect">
            <a:avLst/>
          </a:prstGeom>
          <a:noFill/>
          <a:ln>
            <a:noFill/>
          </a:ln>
        </p:spPr>
        <p:txBody>
          <a:bodyPr wrap="square" rtlCol="0" anchor="ctr">
            <a:normAutofit/>
          </a:bodyPr>
          <a:lstStyle/>
          <a:p>
            <a:pPr marL="0" indent="0" algn="ctr">
              <a:buNone/>
            </a:pPr>
            <a:r>
              <a:rPr lang="en-US" sz="710" dirty="0">
                <a:solidFill>
                  <a:srgbClr val="626B72"/>
                </a:solidFill>
                <a:latin typeface="Aptos" pitchFamily="34" charset="0"/>
                <a:ea typeface="Aptos" pitchFamily="34" charset="-122"/>
                <a:cs typeface="Aptos" pitchFamily="34" charset="-120"/>
              </a:rPr>
              <a:t>Thailand</a:t>
            </a:r>
            <a:endParaRPr lang="en-US" sz="710" dirty="0"/>
          </a:p>
        </p:txBody>
      </p:sp>
      <p:sp>
        <p:nvSpPr>
          <p:cNvPr id="19" name="Text 17"/>
          <p:cNvSpPr/>
          <p:nvPr/>
        </p:nvSpPr>
        <p:spPr>
          <a:xfrm rot="18900000">
            <a:off x="8769096" y="1325880"/>
            <a:ext cx="612648" cy="320040"/>
          </a:xfrm>
          <a:prstGeom prst="rect">
            <a:avLst/>
          </a:prstGeom>
          <a:noFill/>
          <a:ln>
            <a:noFill/>
          </a:ln>
        </p:spPr>
        <p:txBody>
          <a:bodyPr wrap="square" rtlCol="0" anchor="ctr">
            <a:normAutofit/>
          </a:bodyPr>
          <a:lstStyle/>
          <a:p>
            <a:pPr marL="0" indent="0" algn="ctr">
              <a:buNone/>
            </a:pPr>
            <a:r>
              <a:rPr lang="en-US" sz="710" dirty="0">
                <a:solidFill>
                  <a:srgbClr val="626B72"/>
                </a:solidFill>
                <a:latin typeface="Aptos" pitchFamily="34" charset="0"/>
                <a:ea typeface="Aptos" pitchFamily="34" charset="-122"/>
                <a:cs typeface="Aptos" pitchFamily="34" charset="-120"/>
              </a:rPr>
              <a:t>Australia</a:t>
            </a:r>
            <a:endParaRPr lang="en-US" sz="710" dirty="0"/>
          </a:p>
        </p:txBody>
      </p:sp>
      <p:sp>
        <p:nvSpPr>
          <p:cNvPr id="20" name="Text 18"/>
          <p:cNvSpPr/>
          <p:nvPr/>
        </p:nvSpPr>
        <p:spPr>
          <a:xfrm>
            <a:off x="594360" y="1865376"/>
            <a:ext cx="1828800" cy="201168"/>
          </a:xfrm>
          <a:prstGeom prst="rect">
            <a:avLst/>
          </a:prstGeom>
          <a:noFill/>
          <a:ln>
            <a:noFill/>
          </a:ln>
        </p:spPr>
        <p:txBody>
          <a:bodyPr wrap="square" rtlCol="0" anchor="ctr">
            <a:normAutofit fontScale="92500"/>
          </a:bodyPr>
          <a:lstStyle/>
          <a:p>
            <a:pPr marL="0" indent="0">
              <a:buNone/>
            </a:pPr>
            <a:r>
              <a:rPr lang="en-US" sz="810" dirty="0">
                <a:solidFill>
                  <a:srgbClr val="263238"/>
                </a:solidFill>
                <a:latin typeface="Aptos" pitchFamily="34" charset="0"/>
                <a:ea typeface="Aptos" pitchFamily="34" charset="-122"/>
                <a:cs typeface="Aptos" pitchFamily="34" charset="-120"/>
              </a:rPr>
              <a:t>Squid Game: S1</a:t>
            </a:r>
            <a:endParaRPr lang="en-US" sz="810" dirty="0"/>
          </a:p>
        </p:txBody>
      </p:sp>
      <p:sp>
        <p:nvSpPr>
          <p:cNvPr id="21" name="Shape 19"/>
          <p:cNvSpPr/>
          <p:nvPr/>
        </p:nvSpPr>
        <p:spPr>
          <a:xfrm>
            <a:off x="2560320" y="1828800"/>
            <a:ext cx="530352" cy="310896"/>
          </a:xfrm>
          <a:prstGeom prst="rect">
            <a:avLst/>
          </a:prstGeom>
          <a:solidFill>
            <a:srgbClr val="2F6F7E"/>
          </a:solidFill>
          <a:ln w="6350">
            <a:noFill/>
            <a:prstDash val="solid"/>
          </a:ln>
        </p:spPr>
        <p:txBody>
          <a:bodyPr/>
          <a:lstStyle/>
          <a:p>
            <a:endParaRPr/>
          </a:p>
        </p:txBody>
      </p:sp>
      <p:sp>
        <p:nvSpPr>
          <p:cNvPr id="22" name="Shape 20"/>
          <p:cNvSpPr/>
          <p:nvPr/>
        </p:nvSpPr>
        <p:spPr>
          <a:xfrm>
            <a:off x="3127248" y="1828800"/>
            <a:ext cx="530352" cy="310896"/>
          </a:xfrm>
          <a:prstGeom prst="rect">
            <a:avLst/>
          </a:prstGeom>
          <a:solidFill>
            <a:srgbClr val="2F6F7E"/>
          </a:solidFill>
          <a:ln w="6350">
            <a:noFill/>
            <a:prstDash val="solid"/>
          </a:ln>
        </p:spPr>
        <p:txBody>
          <a:bodyPr/>
          <a:lstStyle/>
          <a:p>
            <a:endParaRPr/>
          </a:p>
        </p:txBody>
      </p:sp>
      <p:sp>
        <p:nvSpPr>
          <p:cNvPr id="23" name="Shape 21"/>
          <p:cNvSpPr/>
          <p:nvPr/>
        </p:nvSpPr>
        <p:spPr>
          <a:xfrm>
            <a:off x="3694176" y="1828800"/>
            <a:ext cx="530352" cy="310896"/>
          </a:xfrm>
          <a:prstGeom prst="rect">
            <a:avLst/>
          </a:prstGeom>
          <a:solidFill>
            <a:srgbClr val="2F6F7E"/>
          </a:solidFill>
          <a:ln w="6350">
            <a:noFill/>
            <a:prstDash val="solid"/>
          </a:ln>
        </p:spPr>
        <p:txBody>
          <a:bodyPr/>
          <a:lstStyle/>
          <a:p>
            <a:endParaRPr/>
          </a:p>
        </p:txBody>
      </p:sp>
      <p:sp>
        <p:nvSpPr>
          <p:cNvPr id="24" name="Shape 22"/>
          <p:cNvSpPr/>
          <p:nvPr/>
        </p:nvSpPr>
        <p:spPr>
          <a:xfrm>
            <a:off x="4261104" y="1828800"/>
            <a:ext cx="530352" cy="310896"/>
          </a:xfrm>
          <a:prstGeom prst="rect">
            <a:avLst/>
          </a:prstGeom>
          <a:solidFill>
            <a:srgbClr val="2F6F7E"/>
          </a:solidFill>
          <a:ln w="6350">
            <a:noFill/>
            <a:prstDash val="solid"/>
          </a:ln>
        </p:spPr>
        <p:txBody>
          <a:bodyPr/>
          <a:lstStyle/>
          <a:p>
            <a:endParaRPr/>
          </a:p>
        </p:txBody>
      </p:sp>
      <p:sp>
        <p:nvSpPr>
          <p:cNvPr id="25" name="Shape 23"/>
          <p:cNvSpPr/>
          <p:nvPr/>
        </p:nvSpPr>
        <p:spPr>
          <a:xfrm>
            <a:off x="4828032" y="1828800"/>
            <a:ext cx="530352" cy="310896"/>
          </a:xfrm>
          <a:prstGeom prst="rect">
            <a:avLst/>
          </a:prstGeom>
          <a:solidFill>
            <a:srgbClr val="2F6F7E"/>
          </a:solidFill>
          <a:ln w="6350">
            <a:noFill/>
            <a:prstDash val="solid"/>
          </a:ln>
        </p:spPr>
        <p:txBody>
          <a:bodyPr/>
          <a:lstStyle/>
          <a:p>
            <a:endParaRPr/>
          </a:p>
        </p:txBody>
      </p:sp>
      <p:sp>
        <p:nvSpPr>
          <p:cNvPr id="26" name="Shape 24"/>
          <p:cNvSpPr/>
          <p:nvPr/>
        </p:nvSpPr>
        <p:spPr>
          <a:xfrm>
            <a:off x="5394960" y="1828800"/>
            <a:ext cx="530352" cy="310896"/>
          </a:xfrm>
          <a:prstGeom prst="rect">
            <a:avLst/>
          </a:prstGeom>
          <a:solidFill>
            <a:srgbClr val="2F6F7E"/>
          </a:solidFill>
          <a:ln w="6350">
            <a:noFill/>
            <a:prstDash val="solid"/>
          </a:ln>
        </p:spPr>
        <p:txBody>
          <a:bodyPr/>
          <a:lstStyle/>
          <a:p>
            <a:endParaRPr/>
          </a:p>
        </p:txBody>
      </p:sp>
      <p:sp>
        <p:nvSpPr>
          <p:cNvPr id="27" name="Shape 25"/>
          <p:cNvSpPr/>
          <p:nvPr/>
        </p:nvSpPr>
        <p:spPr>
          <a:xfrm>
            <a:off x="5961888" y="1828800"/>
            <a:ext cx="530352" cy="310896"/>
          </a:xfrm>
          <a:prstGeom prst="rect">
            <a:avLst/>
          </a:prstGeom>
          <a:solidFill>
            <a:srgbClr val="2F6F7E"/>
          </a:solidFill>
          <a:ln w="6350">
            <a:noFill/>
            <a:prstDash val="solid"/>
          </a:ln>
        </p:spPr>
        <p:txBody>
          <a:bodyPr/>
          <a:lstStyle/>
          <a:p>
            <a:endParaRPr/>
          </a:p>
        </p:txBody>
      </p:sp>
      <p:sp>
        <p:nvSpPr>
          <p:cNvPr id="28" name="Shape 26"/>
          <p:cNvSpPr/>
          <p:nvPr/>
        </p:nvSpPr>
        <p:spPr>
          <a:xfrm>
            <a:off x="6528816" y="1828800"/>
            <a:ext cx="530352" cy="310896"/>
          </a:xfrm>
          <a:prstGeom prst="rect">
            <a:avLst/>
          </a:prstGeom>
          <a:solidFill>
            <a:srgbClr val="2F6F7E"/>
          </a:solidFill>
          <a:ln w="6350">
            <a:noFill/>
            <a:prstDash val="solid"/>
          </a:ln>
        </p:spPr>
        <p:txBody>
          <a:bodyPr/>
          <a:lstStyle/>
          <a:p>
            <a:endParaRPr/>
          </a:p>
        </p:txBody>
      </p:sp>
      <p:sp>
        <p:nvSpPr>
          <p:cNvPr id="29" name="Shape 27"/>
          <p:cNvSpPr/>
          <p:nvPr/>
        </p:nvSpPr>
        <p:spPr>
          <a:xfrm>
            <a:off x="7095744" y="1828800"/>
            <a:ext cx="530352" cy="310896"/>
          </a:xfrm>
          <a:prstGeom prst="rect">
            <a:avLst/>
          </a:prstGeom>
          <a:solidFill>
            <a:srgbClr val="2F6F7E"/>
          </a:solidFill>
          <a:ln w="6350">
            <a:noFill/>
            <a:prstDash val="solid"/>
          </a:ln>
        </p:spPr>
        <p:txBody>
          <a:bodyPr/>
          <a:lstStyle/>
          <a:p>
            <a:endParaRPr/>
          </a:p>
        </p:txBody>
      </p:sp>
      <p:sp>
        <p:nvSpPr>
          <p:cNvPr id="30" name="Shape 28"/>
          <p:cNvSpPr/>
          <p:nvPr/>
        </p:nvSpPr>
        <p:spPr>
          <a:xfrm>
            <a:off x="7662672" y="1828800"/>
            <a:ext cx="530352" cy="310896"/>
          </a:xfrm>
          <a:prstGeom prst="rect">
            <a:avLst/>
          </a:prstGeom>
          <a:solidFill>
            <a:srgbClr val="2F6F7E"/>
          </a:solidFill>
          <a:ln w="6350">
            <a:noFill/>
            <a:prstDash val="solid"/>
          </a:ln>
        </p:spPr>
        <p:txBody>
          <a:bodyPr/>
          <a:lstStyle/>
          <a:p>
            <a:endParaRPr/>
          </a:p>
        </p:txBody>
      </p:sp>
      <p:sp>
        <p:nvSpPr>
          <p:cNvPr id="31" name="Shape 29"/>
          <p:cNvSpPr/>
          <p:nvPr/>
        </p:nvSpPr>
        <p:spPr>
          <a:xfrm>
            <a:off x="8229600" y="1828800"/>
            <a:ext cx="530352" cy="310896"/>
          </a:xfrm>
          <a:prstGeom prst="rect">
            <a:avLst/>
          </a:prstGeom>
          <a:solidFill>
            <a:srgbClr val="2F6F7E"/>
          </a:solidFill>
          <a:ln w="6350">
            <a:noFill/>
            <a:prstDash val="solid"/>
          </a:ln>
        </p:spPr>
        <p:txBody>
          <a:bodyPr/>
          <a:lstStyle/>
          <a:p>
            <a:endParaRPr/>
          </a:p>
        </p:txBody>
      </p:sp>
      <p:sp>
        <p:nvSpPr>
          <p:cNvPr id="32" name="Shape 30"/>
          <p:cNvSpPr/>
          <p:nvPr/>
        </p:nvSpPr>
        <p:spPr>
          <a:xfrm>
            <a:off x="8796528" y="1828800"/>
            <a:ext cx="530352" cy="310896"/>
          </a:xfrm>
          <a:prstGeom prst="rect">
            <a:avLst/>
          </a:prstGeom>
          <a:solidFill>
            <a:srgbClr val="2F6F7E"/>
          </a:solidFill>
          <a:ln w="6350">
            <a:noFill/>
            <a:prstDash val="solid"/>
          </a:ln>
        </p:spPr>
        <p:txBody>
          <a:bodyPr/>
          <a:lstStyle/>
          <a:p>
            <a:endParaRPr/>
          </a:p>
        </p:txBody>
      </p:sp>
      <p:sp>
        <p:nvSpPr>
          <p:cNvPr id="33" name="Text 31"/>
          <p:cNvSpPr/>
          <p:nvPr/>
        </p:nvSpPr>
        <p:spPr>
          <a:xfrm>
            <a:off x="594360" y="2212848"/>
            <a:ext cx="1828800" cy="201168"/>
          </a:xfrm>
          <a:prstGeom prst="rect">
            <a:avLst/>
          </a:prstGeom>
          <a:noFill/>
          <a:ln>
            <a:noFill/>
          </a:ln>
        </p:spPr>
        <p:txBody>
          <a:bodyPr wrap="square" rtlCol="0" anchor="ctr">
            <a:normAutofit fontScale="92500"/>
          </a:bodyPr>
          <a:lstStyle/>
          <a:p>
            <a:pPr marL="0" indent="0">
              <a:buNone/>
            </a:pPr>
            <a:r>
              <a:rPr lang="en-US" sz="810" dirty="0">
                <a:solidFill>
                  <a:srgbClr val="263238"/>
                </a:solidFill>
                <a:latin typeface="Aptos" pitchFamily="34" charset="0"/>
                <a:ea typeface="Aptos" pitchFamily="34" charset="-122"/>
                <a:cs typeface="Aptos" pitchFamily="34" charset="-120"/>
              </a:rPr>
              <a:t>All of Us Are Dead: S1</a:t>
            </a:r>
            <a:endParaRPr lang="en-US" sz="810" dirty="0"/>
          </a:p>
        </p:txBody>
      </p:sp>
      <p:sp>
        <p:nvSpPr>
          <p:cNvPr id="34" name="Shape 32"/>
          <p:cNvSpPr/>
          <p:nvPr/>
        </p:nvSpPr>
        <p:spPr>
          <a:xfrm>
            <a:off x="2560320" y="2176272"/>
            <a:ext cx="530352" cy="310896"/>
          </a:xfrm>
          <a:prstGeom prst="rect">
            <a:avLst/>
          </a:prstGeom>
          <a:solidFill>
            <a:srgbClr val="2F6F7E"/>
          </a:solidFill>
          <a:ln w="6350">
            <a:noFill/>
            <a:prstDash val="solid"/>
          </a:ln>
        </p:spPr>
        <p:txBody>
          <a:bodyPr/>
          <a:lstStyle/>
          <a:p>
            <a:endParaRPr/>
          </a:p>
        </p:txBody>
      </p:sp>
      <p:sp>
        <p:nvSpPr>
          <p:cNvPr id="35" name="Shape 33"/>
          <p:cNvSpPr/>
          <p:nvPr/>
        </p:nvSpPr>
        <p:spPr>
          <a:xfrm>
            <a:off x="3127248" y="2176272"/>
            <a:ext cx="530352" cy="310896"/>
          </a:xfrm>
          <a:prstGeom prst="rect">
            <a:avLst/>
          </a:prstGeom>
          <a:solidFill>
            <a:srgbClr val="2F6F7E"/>
          </a:solidFill>
          <a:ln w="6350">
            <a:noFill/>
            <a:prstDash val="solid"/>
          </a:ln>
        </p:spPr>
        <p:txBody>
          <a:bodyPr/>
          <a:lstStyle/>
          <a:p>
            <a:endParaRPr/>
          </a:p>
        </p:txBody>
      </p:sp>
      <p:sp>
        <p:nvSpPr>
          <p:cNvPr id="36" name="Shape 34"/>
          <p:cNvSpPr/>
          <p:nvPr/>
        </p:nvSpPr>
        <p:spPr>
          <a:xfrm>
            <a:off x="3694176" y="2176272"/>
            <a:ext cx="530352" cy="310896"/>
          </a:xfrm>
          <a:prstGeom prst="rect">
            <a:avLst/>
          </a:prstGeom>
          <a:solidFill>
            <a:srgbClr val="2F6F7E"/>
          </a:solidFill>
          <a:ln w="6350">
            <a:noFill/>
            <a:prstDash val="solid"/>
          </a:ln>
        </p:spPr>
        <p:txBody>
          <a:bodyPr/>
          <a:lstStyle/>
          <a:p>
            <a:endParaRPr/>
          </a:p>
        </p:txBody>
      </p:sp>
      <p:sp>
        <p:nvSpPr>
          <p:cNvPr id="37" name="Shape 35"/>
          <p:cNvSpPr/>
          <p:nvPr/>
        </p:nvSpPr>
        <p:spPr>
          <a:xfrm>
            <a:off x="4261104" y="2176272"/>
            <a:ext cx="530352" cy="310896"/>
          </a:xfrm>
          <a:prstGeom prst="rect">
            <a:avLst/>
          </a:prstGeom>
          <a:solidFill>
            <a:srgbClr val="2F6F7E"/>
          </a:solidFill>
          <a:ln w="6350">
            <a:noFill/>
            <a:prstDash val="solid"/>
          </a:ln>
        </p:spPr>
        <p:txBody>
          <a:bodyPr/>
          <a:lstStyle/>
          <a:p>
            <a:endParaRPr/>
          </a:p>
        </p:txBody>
      </p:sp>
      <p:sp>
        <p:nvSpPr>
          <p:cNvPr id="38" name="Shape 36"/>
          <p:cNvSpPr/>
          <p:nvPr/>
        </p:nvSpPr>
        <p:spPr>
          <a:xfrm>
            <a:off x="4828032" y="2176272"/>
            <a:ext cx="530352" cy="310896"/>
          </a:xfrm>
          <a:prstGeom prst="rect">
            <a:avLst/>
          </a:prstGeom>
          <a:solidFill>
            <a:srgbClr val="2F6F7E"/>
          </a:solidFill>
          <a:ln w="6350">
            <a:noFill/>
            <a:prstDash val="solid"/>
          </a:ln>
        </p:spPr>
        <p:txBody>
          <a:bodyPr/>
          <a:lstStyle/>
          <a:p>
            <a:endParaRPr/>
          </a:p>
        </p:txBody>
      </p:sp>
      <p:sp>
        <p:nvSpPr>
          <p:cNvPr id="39" name="Shape 37"/>
          <p:cNvSpPr/>
          <p:nvPr/>
        </p:nvSpPr>
        <p:spPr>
          <a:xfrm>
            <a:off x="5394960" y="2176272"/>
            <a:ext cx="530352" cy="310896"/>
          </a:xfrm>
          <a:prstGeom prst="rect">
            <a:avLst/>
          </a:prstGeom>
          <a:solidFill>
            <a:srgbClr val="2F6F7E"/>
          </a:solidFill>
          <a:ln w="6350">
            <a:noFill/>
            <a:prstDash val="solid"/>
          </a:ln>
        </p:spPr>
        <p:txBody>
          <a:bodyPr/>
          <a:lstStyle/>
          <a:p>
            <a:endParaRPr/>
          </a:p>
        </p:txBody>
      </p:sp>
      <p:sp>
        <p:nvSpPr>
          <p:cNvPr id="40" name="Shape 38"/>
          <p:cNvSpPr/>
          <p:nvPr/>
        </p:nvSpPr>
        <p:spPr>
          <a:xfrm>
            <a:off x="5961888" y="2176272"/>
            <a:ext cx="530352" cy="310896"/>
          </a:xfrm>
          <a:prstGeom prst="rect">
            <a:avLst/>
          </a:prstGeom>
          <a:solidFill>
            <a:srgbClr val="2F6F7E"/>
          </a:solidFill>
          <a:ln w="6350">
            <a:noFill/>
            <a:prstDash val="solid"/>
          </a:ln>
        </p:spPr>
        <p:txBody>
          <a:bodyPr/>
          <a:lstStyle/>
          <a:p>
            <a:endParaRPr/>
          </a:p>
        </p:txBody>
      </p:sp>
      <p:sp>
        <p:nvSpPr>
          <p:cNvPr id="41" name="Shape 39"/>
          <p:cNvSpPr/>
          <p:nvPr/>
        </p:nvSpPr>
        <p:spPr>
          <a:xfrm>
            <a:off x="6528816" y="2176272"/>
            <a:ext cx="530352" cy="310896"/>
          </a:xfrm>
          <a:prstGeom prst="rect">
            <a:avLst/>
          </a:prstGeom>
          <a:solidFill>
            <a:srgbClr val="2F6F7E"/>
          </a:solidFill>
          <a:ln w="6350">
            <a:noFill/>
            <a:prstDash val="solid"/>
          </a:ln>
        </p:spPr>
        <p:txBody>
          <a:bodyPr/>
          <a:lstStyle/>
          <a:p>
            <a:endParaRPr/>
          </a:p>
        </p:txBody>
      </p:sp>
      <p:sp>
        <p:nvSpPr>
          <p:cNvPr id="42" name="Shape 40"/>
          <p:cNvSpPr/>
          <p:nvPr/>
        </p:nvSpPr>
        <p:spPr>
          <a:xfrm>
            <a:off x="7095744" y="2176272"/>
            <a:ext cx="530352" cy="310896"/>
          </a:xfrm>
          <a:prstGeom prst="rect">
            <a:avLst/>
          </a:prstGeom>
          <a:solidFill>
            <a:srgbClr val="2F6F7E"/>
          </a:solidFill>
          <a:ln w="6350">
            <a:noFill/>
            <a:prstDash val="solid"/>
          </a:ln>
        </p:spPr>
        <p:txBody>
          <a:bodyPr/>
          <a:lstStyle/>
          <a:p>
            <a:endParaRPr/>
          </a:p>
        </p:txBody>
      </p:sp>
      <p:sp>
        <p:nvSpPr>
          <p:cNvPr id="43" name="Shape 41"/>
          <p:cNvSpPr/>
          <p:nvPr/>
        </p:nvSpPr>
        <p:spPr>
          <a:xfrm>
            <a:off x="7662672" y="2176272"/>
            <a:ext cx="530352" cy="310896"/>
          </a:xfrm>
          <a:prstGeom prst="rect">
            <a:avLst/>
          </a:prstGeom>
          <a:solidFill>
            <a:srgbClr val="2F6F7E"/>
          </a:solidFill>
          <a:ln w="6350">
            <a:noFill/>
            <a:prstDash val="solid"/>
          </a:ln>
        </p:spPr>
        <p:txBody>
          <a:bodyPr/>
          <a:lstStyle/>
          <a:p>
            <a:endParaRPr/>
          </a:p>
        </p:txBody>
      </p:sp>
      <p:sp>
        <p:nvSpPr>
          <p:cNvPr id="44" name="Shape 42"/>
          <p:cNvSpPr/>
          <p:nvPr/>
        </p:nvSpPr>
        <p:spPr>
          <a:xfrm>
            <a:off x="8229600" y="2176272"/>
            <a:ext cx="530352" cy="310896"/>
          </a:xfrm>
          <a:prstGeom prst="rect">
            <a:avLst/>
          </a:prstGeom>
          <a:solidFill>
            <a:srgbClr val="2F6F7E"/>
          </a:solidFill>
          <a:ln w="6350">
            <a:noFill/>
            <a:prstDash val="solid"/>
          </a:ln>
        </p:spPr>
        <p:txBody>
          <a:bodyPr/>
          <a:lstStyle/>
          <a:p>
            <a:endParaRPr/>
          </a:p>
        </p:txBody>
      </p:sp>
      <p:sp>
        <p:nvSpPr>
          <p:cNvPr id="45" name="Shape 43"/>
          <p:cNvSpPr/>
          <p:nvPr/>
        </p:nvSpPr>
        <p:spPr>
          <a:xfrm>
            <a:off x="8796528" y="2176272"/>
            <a:ext cx="530352" cy="310896"/>
          </a:xfrm>
          <a:prstGeom prst="rect">
            <a:avLst/>
          </a:prstGeom>
          <a:solidFill>
            <a:srgbClr val="2F6F7E"/>
          </a:solidFill>
          <a:ln w="6350">
            <a:noFill/>
            <a:prstDash val="solid"/>
          </a:ln>
        </p:spPr>
        <p:txBody>
          <a:bodyPr/>
          <a:lstStyle/>
          <a:p>
            <a:endParaRPr/>
          </a:p>
        </p:txBody>
      </p:sp>
      <p:sp>
        <p:nvSpPr>
          <p:cNvPr id="46" name="Text 44"/>
          <p:cNvSpPr/>
          <p:nvPr/>
        </p:nvSpPr>
        <p:spPr>
          <a:xfrm>
            <a:off x="594360" y="2560320"/>
            <a:ext cx="1828800" cy="201168"/>
          </a:xfrm>
          <a:prstGeom prst="rect">
            <a:avLst/>
          </a:prstGeom>
          <a:noFill/>
          <a:ln>
            <a:noFill/>
          </a:ln>
        </p:spPr>
        <p:txBody>
          <a:bodyPr wrap="square" rtlCol="0" anchor="ctr">
            <a:normAutofit fontScale="92500"/>
          </a:bodyPr>
          <a:lstStyle/>
          <a:p>
            <a:pPr marL="0" indent="0">
              <a:buNone/>
            </a:pPr>
            <a:r>
              <a:rPr lang="en-US" sz="810" dirty="0">
                <a:solidFill>
                  <a:srgbClr val="263238"/>
                </a:solidFill>
                <a:latin typeface="Aptos" pitchFamily="34" charset="0"/>
                <a:ea typeface="Aptos" pitchFamily="34" charset="-122"/>
                <a:cs typeface="Aptos" pitchFamily="34" charset="-120"/>
              </a:rPr>
              <a:t>Alice in Borderland: S2</a:t>
            </a:r>
            <a:endParaRPr lang="en-US" sz="810" dirty="0"/>
          </a:p>
        </p:txBody>
      </p:sp>
      <p:sp>
        <p:nvSpPr>
          <p:cNvPr id="47" name="Shape 45"/>
          <p:cNvSpPr/>
          <p:nvPr/>
        </p:nvSpPr>
        <p:spPr>
          <a:xfrm>
            <a:off x="2560320" y="2523744"/>
            <a:ext cx="530352" cy="310896"/>
          </a:xfrm>
          <a:prstGeom prst="rect">
            <a:avLst/>
          </a:prstGeom>
          <a:solidFill>
            <a:srgbClr val="2F6F7E"/>
          </a:solidFill>
          <a:ln w="6350">
            <a:noFill/>
            <a:prstDash val="solid"/>
          </a:ln>
        </p:spPr>
        <p:txBody>
          <a:bodyPr/>
          <a:lstStyle/>
          <a:p>
            <a:endParaRPr/>
          </a:p>
        </p:txBody>
      </p:sp>
      <p:sp>
        <p:nvSpPr>
          <p:cNvPr id="48" name="Shape 46"/>
          <p:cNvSpPr/>
          <p:nvPr/>
        </p:nvSpPr>
        <p:spPr>
          <a:xfrm>
            <a:off x="3127248" y="2523744"/>
            <a:ext cx="530352" cy="310896"/>
          </a:xfrm>
          <a:prstGeom prst="rect">
            <a:avLst/>
          </a:prstGeom>
          <a:solidFill>
            <a:srgbClr val="2F6F7E"/>
          </a:solidFill>
          <a:ln w="6350">
            <a:noFill/>
            <a:prstDash val="solid"/>
          </a:ln>
        </p:spPr>
        <p:txBody>
          <a:bodyPr/>
          <a:lstStyle/>
          <a:p>
            <a:endParaRPr/>
          </a:p>
        </p:txBody>
      </p:sp>
      <p:sp>
        <p:nvSpPr>
          <p:cNvPr id="49" name="Shape 47"/>
          <p:cNvSpPr/>
          <p:nvPr/>
        </p:nvSpPr>
        <p:spPr>
          <a:xfrm>
            <a:off x="3694176" y="2523744"/>
            <a:ext cx="530352" cy="310896"/>
          </a:xfrm>
          <a:prstGeom prst="rect">
            <a:avLst/>
          </a:prstGeom>
          <a:solidFill>
            <a:srgbClr val="2F6F7E"/>
          </a:solidFill>
          <a:ln w="6350">
            <a:noFill/>
            <a:prstDash val="solid"/>
          </a:ln>
        </p:spPr>
        <p:txBody>
          <a:bodyPr/>
          <a:lstStyle/>
          <a:p>
            <a:endParaRPr/>
          </a:p>
        </p:txBody>
      </p:sp>
      <p:sp>
        <p:nvSpPr>
          <p:cNvPr id="50" name="Shape 48"/>
          <p:cNvSpPr/>
          <p:nvPr/>
        </p:nvSpPr>
        <p:spPr>
          <a:xfrm>
            <a:off x="4261104" y="2523744"/>
            <a:ext cx="530352" cy="310896"/>
          </a:xfrm>
          <a:prstGeom prst="rect">
            <a:avLst/>
          </a:prstGeom>
          <a:solidFill>
            <a:srgbClr val="2F6F7E"/>
          </a:solidFill>
          <a:ln w="6350">
            <a:noFill/>
            <a:prstDash val="solid"/>
          </a:ln>
        </p:spPr>
        <p:txBody>
          <a:bodyPr/>
          <a:lstStyle/>
          <a:p>
            <a:endParaRPr/>
          </a:p>
        </p:txBody>
      </p:sp>
      <p:sp>
        <p:nvSpPr>
          <p:cNvPr id="51" name="Shape 49"/>
          <p:cNvSpPr/>
          <p:nvPr/>
        </p:nvSpPr>
        <p:spPr>
          <a:xfrm>
            <a:off x="4828032" y="2523744"/>
            <a:ext cx="530352" cy="310896"/>
          </a:xfrm>
          <a:prstGeom prst="rect">
            <a:avLst/>
          </a:prstGeom>
          <a:solidFill>
            <a:srgbClr val="2F6F7E"/>
          </a:solidFill>
          <a:ln w="6350">
            <a:noFill/>
            <a:prstDash val="solid"/>
          </a:ln>
        </p:spPr>
        <p:txBody>
          <a:bodyPr/>
          <a:lstStyle/>
          <a:p>
            <a:endParaRPr/>
          </a:p>
        </p:txBody>
      </p:sp>
      <p:sp>
        <p:nvSpPr>
          <p:cNvPr id="52" name="Shape 50"/>
          <p:cNvSpPr/>
          <p:nvPr/>
        </p:nvSpPr>
        <p:spPr>
          <a:xfrm>
            <a:off x="5394960" y="2523744"/>
            <a:ext cx="530352" cy="310896"/>
          </a:xfrm>
          <a:prstGeom prst="rect">
            <a:avLst/>
          </a:prstGeom>
          <a:solidFill>
            <a:srgbClr val="2F6F7E"/>
          </a:solidFill>
          <a:ln w="6350">
            <a:noFill/>
            <a:prstDash val="solid"/>
          </a:ln>
        </p:spPr>
        <p:txBody>
          <a:bodyPr/>
          <a:lstStyle/>
          <a:p>
            <a:endParaRPr/>
          </a:p>
        </p:txBody>
      </p:sp>
      <p:sp>
        <p:nvSpPr>
          <p:cNvPr id="53" name="Shape 51"/>
          <p:cNvSpPr/>
          <p:nvPr/>
        </p:nvSpPr>
        <p:spPr>
          <a:xfrm>
            <a:off x="5961888" y="2523744"/>
            <a:ext cx="530352" cy="310896"/>
          </a:xfrm>
          <a:prstGeom prst="rect">
            <a:avLst/>
          </a:prstGeom>
          <a:solidFill>
            <a:srgbClr val="2F6F7E"/>
          </a:solidFill>
          <a:ln w="6350">
            <a:noFill/>
            <a:prstDash val="solid"/>
          </a:ln>
        </p:spPr>
        <p:txBody>
          <a:bodyPr/>
          <a:lstStyle/>
          <a:p>
            <a:endParaRPr/>
          </a:p>
        </p:txBody>
      </p:sp>
      <p:sp>
        <p:nvSpPr>
          <p:cNvPr id="54" name="Shape 52"/>
          <p:cNvSpPr/>
          <p:nvPr/>
        </p:nvSpPr>
        <p:spPr>
          <a:xfrm>
            <a:off x="6528816" y="2523744"/>
            <a:ext cx="530352" cy="310896"/>
          </a:xfrm>
          <a:prstGeom prst="rect">
            <a:avLst/>
          </a:prstGeom>
          <a:solidFill>
            <a:srgbClr val="2F6F7E"/>
          </a:solidFill>
          <a:ln w="6350">
            <a:noFill/>
            <a:prstDash val="solid"/>
          </a:ln>
        </p:spPr>
        <p:txBody>
          <a:bodyPr/>
          <a:lstStyle/>
          <a:p>
            <a:endParaRPr/>
          </a:p>
        </p:txBody>
      </p:sp>
      <p:sp>
        <p:nvSpPr>
          <p:cNvPr id="55" name="Shape 53"/>
          <p:cNvSpPr/>
          <p:nvPr/>
        </p:nvSpPr>
        <p:spPr>
          <a:xfrm>
            <a:off x="7095744" y="2523744"/>
            <a:ext cx="530352" cy="310896"/>
          </a:xfrm>
          <a:prstGeom prst="rect">
            <a:avLst/>
          </a:prstGeom>
          <a:solidFill>
            <a:srgbClr val="2F6F7E"/>
          </a:solidFill>
          <a:ln w="6350">
            <a:noFill/>
            <a:prstDash val="solid"/>
          </a:ln>
        </p:spPr>
        <p:txBody>
          <a:bodyPr/>
          <a:lstStyle/>
          <a:p>
            <a:endParaRPr/>
          </a:p>
        </p:txBody>
      </p:sp>
      <p:sp>
        <p:nvSpPr>
          <p:cNvPr id="56" name="Shape 54"/>
          <p:cNvSpPr/>
          <p:nvPr/>
        </p:nvSpPr>
        <p:spPr>
          <a:xfrm>
            <a:off x="7662672" y="2523744"/>
            <a:ext cx="530352" cy="310896"/>
          </a:xfrm>
          <a:prstGeom prst="rect">
            <a:avLst/>
          </a:prstGeom>
          <a:solidFill>
            <a:srgbClr val="2F6F7E"/>
          </a:solidFill>
          <a:ln w="6350">
            <a:noFill/>
            <a:prstDash val="solid"/>
          </a:ln>
        </p:spPr>
        <p:txBody>
          <a:bodyPr/>
          <a:lstStyle/>
          <a:p>
            <a:endParaRPr/>
          </a:p>
        </p:txBody>
      </p:sp>
      <p:sp>
        <p:nvSpPr>
          <p:cNvPr id="57" name="Shape 55"/>
          <p:cNvSpPr/>
          <p:nvPr/>
        </p:nvSpPr>
        <p:spPr>
          <a:xfrm>
            <a:off x="8229600" y="2523744"/>
            <a:ext cx="530352" cy="310896"/>
          </a:xfrm>
          <a:prstGeom prst="rect">
            <a:avLst/>
          </a:prstGeom>
          <a:solidFill>
            <a:srgbClr val="2F6F7E"/>
          </a:solidFill>
          <a:ln w="6350">
            <a:noFill/>
            <a:prstDash val="solid"/>
          </a:ln>
        </p:spPr>
        <p:txBody>
          <a:bodyPr/>
          <a:lstStyle/>
          <a:p>
            <a:endParaRPr/>
          </a:p>
        </p:txBody>
      </p:sp>
      <p:sp>
        <p:nvSpPr>
          <p:cNvPr id="58" name="Shape 56"/>
          <p:cNvSpPr/>
          <p:nvPr/>
        </p:nvSpPr>
        <p:spPr>
          <a:xfrm>
            <a:off x="8796528" y="2523744"/>
            <a:ext cx="530352" cy="310896"/>
          </a:xfrm>
          <a:prstGeom prst="rect">
            <a:avLst/>
          </a:prstGeom>
          <a:solidFill>
            <a:srgbClr val="2F6F7E"/>
          </a:solidFill>
          <a:ln w="6350">
            <a:noFill/>
            <a:prstDash val="solid"/>
          </a:ln>
        </p:spPr>
        <p:txBody>
          <a:bodyPr/>
          <a:lstStyle/>
          <a:p>
            <a:endParaRPr/>
          </a:p>
        </p:txBody>
      </p:sp>
      <p:sp>
        <p:nvSpPr>
          <p:cNvPr id="59" name="Text 57"/>
          <p:cNvSpPr/>
          <p:nvPr/>
        </p:nvSpPr>
        <p:spPr>
          <a:xfrm>
            <a:off x="594360" y="2907792"/>
            <a:ext cx="1828800" cy="201168"/>
          </a:xfrm>
          <a:prstGeom prst="rect">
            <a:avLst/>
          </a:prstGeom>
          <a:noFill/>
          <a:ln>
            <a:noFill/>
          </a:ln>
        </p:spPr>
        <p:txBody>
          <a:bodyPr wrap="square" rtlCol="0" anchor="ctr">
            <a:normAutofit fontScale="92500"/>
          </a:bodyPr>
          <a:lstStyle/>
          <a:p>
            <a:pPr marL="0" indent="0">
              <a:buNone/>
            </a:pPr>
            <a:r>
              <a:rPr lang="en-US" sz="810" dirty="0">
                <a:solidFill>
                  <a:srgbClr val="263238"/>
                </a:solidFill>
                <a:latin typeface="Aptos" pitchFamily="34" charset="0"/>
                <a:ea typeface="Aptos" pitchFamily="34" charset="-122"/>
                <a:cs typeface="Aptos" pitchFamily="34" charset="-120"/>
              </a:rPr>
              <a:t>ONE PIECE: S1</a:t>
            </a:r>
            <a:endParaRPr lang="en-US" sz="810" dirty="0"/>
          </a:p>
        </p:txBody>
      </p:sp>
      <p:sp>
        <p:nvSpPr>
          <p:cNvPr id="60" name="Shape 58"/>
          <p:cNvSpPr/>
          <p:nvPr/>
        </p:nvSpPr>
        <p:spPr>
          <a:xfrm>
            <a:off x="2560320" y="2871216"/>
            <a:ext cx="530352" cy="310896"/>
          </a:xfrm>
          <a:prstGeom prst="rect">
            <a:avLst/>
          </a:prstGeom>
          <a:solidFill>
            <a:srgbClr val="2F6F7E"/>
          </a:solidFill>
          <a:ln w="6350">
            <a:noFill/>
            <a:prstDash val="solid"/>
          </a:ln>
        </p:spPr>
        <p:txBody>
          <a:bodyPr/>
          <a:lstStyle/>
          <a:p>
            <a:endParaRPr/>
          </a:p>
        </p:txBody>
      </p:sp>
      <p:sp>
        <p:nvSpPr>
          <p:cNvPr id="61" name="Shape 59"/>
          <p:cNvSpPr/>
          <p:nvPr/>
        </p:nvSpPr>
        <p:spPr>
          <a:xfrm>
            <a:off x="3127248" y="2871216"/>
            <a:ext cx="530352" cy="310896"/>
          </a:xfrm>
          <a:prstGeom prst="rect">
            <a:avLst/>
          </a:prstGeom>
          <a:solidFill>
            <a:srgbClr val="2F6F7E"/>
          </a:solidFill>
          <a:ln w="6350">
            <a:noFill/>
            <a:prstDash val="solid"/>
          </a:ln>
        </p:spPr>
        <p:txBody>
          <a:bodyPr/>
          <a:lstStyle/>
          <a:p>
            <a:endParaRPr/>
          </a:p>
        </p:txBody>
      </p:sp>
      <p:sp>
        <p:nvSpPr>
          <p:cNvPr id="62" name="Shape 60"/>
          <p:cNvSpPr/>
          <p:nvPr/>
        </p:nvSpPr>
        <p:spPr>
          <a:xfrm>
            <a:off x="3694176" y="2871216"/>
            <a:ext cx="530352" cy="310896"/>
          </a:xfrm>
          <a:prstGeom prst="rect">
            <a:avLst/>
          </a:prstGeom>
          <a:solidFill>
            <a:srgbClr val="2F6F7E"/>
          </a:solidFill>
          <a:ln w="6350">
            <a:noFill/>
            <a:prstDash val="solid"/>
          </a:ln>
        </p:spPr>
        <p:txBody>
          <a:bodyPr/>
          <a:lstStyle/>
          <a:p>
            <a:endParaRPr/>
          </a:p>
        </p:txBody>
      </p:sp>
      <p:sp>
        <p:nvSpPr>
          <p:cNvPr id="63" name="Shape 61"/>
          <p:cNvSpPr/>
          <p:nvPr/>
        </p:nvSpPr>
        <p:spPr>
          <a:xfrm>
            <a:off x="4261104" y="2871216"/>
            <a:ext cx="530352" cy="310896"/>
          </a:xfrm>
          <a:prstGeom prst="rect">
            <a:avLst/>
          </a:prstGeom>
          <a:solidFill>
            <a:srgbClr val="2F6F7E"/>
          </a:solidFill>
          <a:ln w="6350">
            <a:noFill/>
            <a:prstDash val="solid"/>
          </a:ln>
        </p:spPr>
        <p:txBody>
          <a:bodyPr/>
          <a:lstStyle/>
          <a:p>
            <a:endParaRPr/>
          </a:p>
        </p:txBody>
      </p:sp>
      <p:sp>
        <p:nvSpPr>
          <p:cNvPr id="64" name="Shape 62"/>
          <p:cNvSpPr/>
          <p:nvPr/>
        </p:nvSpPr>
        <p:spPr>
          <a:xfrm>
            <a:off x="4828032" y="2871216"/>
            <a:ext cx="530352" cy="310896"/>
          </a:xfrm>
          <a:prstGeom prst="rect">
            <a:avLst/>
          </a:prstGeom>
          <a:solidFill>
            <a:srgbClr val="2F6F7E"/>
          </a:solidFill>
          <a:ln w="6350">
            <a:noFill/>
            <a:prstDash val="solid"/>
          </a:ln>
        </p:spPr>
        <p:txBody>
          <a:bodyPr/>
          <a:lstStyle/>
          <a:p>
            <a:endParaRPr/>
          </a:p>
        </p:txBody>
      </p:sp>
      <p:sp>
        <p:nvSpPr>
          <p:cNvPr id="65" name="Shape 63"/>
          <p:cNvSpPr/>
          <p:nvPr/>
        </p:nvSpPr>
        <p:spPr>
          <a:xfrm>
            <a:off x="5394960" y="2871216"/>
            <a:ext cx="530352" cy="310896"/>
          </a:xfrm>
          <a:prstGeom prst="rect">
            <a:avLst/>
          </a:prstGeom>
          <a:solidFill>
            <a:srgbClr val="2F6F7E"/>
          </a:solidFill>
          <a:ln w="6350">
            <a:noFill/>
            <a:prstDash val="solid"/>
          </a:ln>
        </p:spPr>
        <p:txBody>
          <a:bodyPr/>
          <a:lstStyle/>
          <a:p>
            <a:endParaRPr/>
          </a:p>
        </p:txBody>
      </p:sp>
      <p:sp>
        <p:nvSpPr>
          <p:cNvPr id="66" name="Shape 64"/>
          <p:cNvSpPr/>
          <p:nvPr/>
        </p:nvSpPr>
        <p:spPr>
          <a:xfrm>
            <a:off x="5961888" y="2871216"/>
            <a:ext cx="530352" cy="310896"/>
          </a:xfrm>
          <a:prstGeom prst="rect">
            <a:avLst/>
          </a:prstGeom>
          <a:solidFill>
            <a:srgbClr val="2F6F7E"/>
          </a:solidFill>
          <a:ln w="6350">
            <a:noFill/>
            <a:prstDash val="solid"/>
          </a:ln>
        </p:spPr>
        <p:txBody>
          <a:bodyPr/>
          <a:lstStyle/>
          <a:p>
            <a:endParaRPr/>
          </a:p>
        </p:txBody>
      </p:sp>
      <p:sp>
        <p:nvSpPr>
          <p:cNvPr id="67" name="Shape 65"/>
          <p:cNvSpPr/>
          <p:nvPr/>
        </p:nvSpPr>
        <p:spPr>
          <a:xfrm>
            <a:off x="6528816" y="2871216"/>
            <a:ext cx="530352" cy="310896"/>
          </a:xfrm>
          <a:prstGeom prst="rect">
            <a:avLst/>
          </a:prstGeom>
          <a:solidFill>
            <a:srgbClr val="2F6F7E"/>
          </a:solidFill>
          <a:ln w="6350">
            <a:noFill/>
            <a:prstDash val="solid"/>
          </a:ln>
        </p:spPr>
        <p:txBody>
          <a:bodyPr/>
          <a:lstStyle/>
          <a:p>
            <a:endParaRPr/>
          </a:p>
        </p:txBody>
      </p:sp>
      <p:sp>
        <p:nvSpPr>
          <p:cNvPr id="68" name="Shape 66"/>
          <p:cNvSpPr/>
          <p:nvPr/>
        </p:nvSpPr>
        <p:spPr>
          <a:xfrm>
            <a:off x="7095744" y="2871216"/>
            <a:ext cx="530352" cy="310896"/>
          </a:xfrm>
          <a:prstGeom prst="rect">
            <a:avLst/>
          </a:prstGeom>
          <a:solidFill>
            <a:srgbClr val="2F6F7E"/>
          </a:solidFill>
          <a:ln w="6350">
            <a:noFill/>
            <a:prstDash val="solid"/>
          </a:ln>
        </p:spPr>
        <p:txBody>
          <a:bodyPr/>
          <a:lstStyle/>
          <a:p>
            <a:endParaRPr/>
          </a:p>
        </p:txBody>
      </p:sp>
      <p:sp>
        <p:nvSpPr>
          <p:cNvPr id="69" name="Shape 67"/>
          <p:cNvSpPr/>
          <p:nvPr/>
        </p:nvSpPr>
        <p:spPr>
          <a:xfrm>
            <a:off x="7662672" y="2871216"/>
            <a:ext cx="530352" cy="310896"/>
          </a:xfrm>
          <a:prstGeom prst="rect">
            <a:avLst/>
          </a:prstGeom>
          <a:solidFill>
            <a:srgbClr val="2F6F7E"/>
          </a:solidFill>
          <a:ln w="6350">
            <a:noFill/>
            <a:prstDash val="solid"/>
          </a:ln>
        </p:spPr>
        <p:txBody>
          <a:bodyPr/>
          <a:lstStyle/>
          <a:p>
            <a:endParaRPr/>
          </a:p>
        </p:txBody>
      </p:sp>
      <p:sp>
        <p:nvSpPr>
          <p:cNvPr id="70" name="Shape 68"/>
          <p:cNvSpPr/>
          <p:nvPr/>
        </p:nvSpPr>
        <p:spPr>
          <a:xfrm>
            <a:off x="8229600" y="2871216"/>
            <a:ext cx="530352" cy="310896"/>
          </a:xfrm>
          <a:prstGeom prst="rect">
            <a:avLst/>
          </a:prstGeom>
          <a:solidFill>
            <a:srgbClr val="2F6F7E"/>
          </a:solidFill>
          <a:ln w="6350">
            <a:noFill/>
            <a:prstDash val="solid"/>
          </a:ln>
        </p:spPr>
        <p:txBody>
          <a:bodyPr/>
          <a:lstStyle/>
          <a:p>
            <a:endParaRPr/>
          </a:p>
        </p:txBody>
      </p:sp>
      <p:sp>
        <p:nvSpPr>
          <p:cNvPr id="71" name="Shape 69"/>
          <p:cNvSpPr/>
          <p:nvPr/>
        </p:nvSpPr>
        <p:spPr>
          <a:xfrm>
            <a:off x="8796528" y="2871216"/>
            <a:ext cx="530352" cy="310896"/>
          </a:xfrm>
          <a:prstGeom prst="rect">
            <a:avLst/>
          </a:prstGeom>
          <a:solidFill>
            <a:srgbClr val="2F6F7E"/>
          </a:solidFill>
          <a:ln w="6350">
            <a:noFill/>
            <a:prstDash val="solid"/>
          </a:ln>
        </p:spPr>
        <p:txBody>
          <a:bodyPr/>
          <a:lstStyle/>
          <a:p>
            <a:endParaRPr/>
          </a:p>
        </p:txBody>
      </p:sp>
      <p:sp>
        <p:nvSpPr>
          <p:cNvPr id="72" name="Text 70"/>
          <p:cNvSpPr/>
          <p:nvPr/>
        </p:nvSpPr>
        <p:spPr>
          <a:xfrm>
            <a:off x="594360" y="3255264"/>
            <a:ext cx="1828800" cy="201168"/>
          </a:xfrm>
          <a:prstGeom prst="rect">
            <a:avLst/>
          </a:prstGeom>
          <a:noFill/>
          <a:ln>
            <a:noFill/>
          </a:ln>
        </p:spPr>
        <p:txBody>
          <a:bodyPr wrap="square" rtlCol="0" anchor="ctr">
            <a:normAutofit fontScale="92500"/>
          </a:bodyPr>
          <a:lstStyle/>
          <a:p>
            <a:pPr marL="0" indent="0">
              <a:buNone/>
            </a:pPr>
            <a:r>
              <a:rPr lang="en-US" sz="810" dirty="0">
                <a:solidFill>
                  <a:srgbClr val="263238"/>
                </a:solidFill>
                <a:latin typeface="Aptos" pitchFamily="34" charset="0"/>
                <a:ea typeface="Aptos" pitchFamily="34" charset="-122"/>
                <a:cs typeface="Aptos" pitchFamily="34" charset="-120"/>
              </a:rPr>
              <a:t>Physical: 100: S1</a:t>
            </a:r>
            <a:endParaRPr lang="en-US" sz="810" dirty="0"/>
          </a:p>
        </p:txBody>
      </p:sp>
      <p:sp>
        <p:nvSpPr>
          <p:cNvPr id="73" name="Shape 71"/>
          <p:cNvSpPr/>
          <p:nvPr/>
        </p:nvSpPr>
        <p:spPr>
          <a:xfrm>
            <a:off x="2560320" y="3218688"/>
            <a:ext cx="530352" cy="310896"/>
          </a:xfrm>
          <a:prstGeom prst="rect">
            <a:avLst/>
          </a:prstGeom>
          <a:solidFill>
            <a:srgbClr val="2F6F7E"/>
          </a:solidFill>
          <a:ln w="6350">
            <a:noFill/>
            <a:prstDash val="solid"/>
          </a:ln>
        </p:spPr>
        <p:txBody>
          <a:bodyPr/>
          <a:lstStyle/>
          <a:p>
            <a:endParaRPr/>
          </a:p>
        </p:txBody>
      </p:sp>
      <p:sp>
        <p:nvSpPr>
          <p:cNvPr id="74" name="Shape 72"/>
          <p:cNvSpPr/>
          <p:nvPr/>
        </p:nvSpPr>
        <p:spPr>
          <a:xfrm>
            <a:off x="3127248" y="3218688"/>
            <a:ext cx="530352" cy="310896"/>
          </a:xfrm>
          <a:prstGeom prst="rect">
            <a:avLst/>
          </a:prstGeom>
          <a:solidFill>
            <a:srgbClr val="2F6F7E"/>
          </a:solidFill>
          <a:ln w="6350">
            <a:noFill/>
            <a:prstDash val="solid"/>
          </a:ln>
        </p:spPr>
        <p:txBody>
          <a:bodyPr/>
          <a:lstStyle/>
          <a:p>
            <a:endParaRPr/>
          </a:p>
        </p:txBody>
      </p:sp>
      <p:sp>
        <p:nvSpPr>
          <p:cNvPr id="75" name="Shape 73"/>
          <p:cNvSpPr/>
          <p:nvPr/>
        </p:nvSpPr>
        <p:spPr>
          <a:xfrm>
            <a:off x="3694176" y="3218688"/>
            <a:ext cx="530352" cy="310896"/>
          </a:xfrm>
          <a:prstGeom prst="rect">
            <a:avLst/>
          </a:prstGeom>
          <a:solidFill>
            <a:srgbClr val="2F6F7E"/>
          </a:solidFill>
          <a:ln w="6350">
            <a:noFill/>
            <a:prstDash val="solid"/>
          </a:ln>
        </p:spPr>
        <p:txBody>
          <a:bodyPr/>
          <a:lstStyle/>
          <a:p>
            <a:endParaRPr/>
          </a:p>
        </p:txBody>
      </p:sp>
      <p:sp>
        <p:nvSpPr>
          <p:cNvPr id="76" name="Shape 74"/>
          <p:cNvSpPr/>
          <p:nvPr/>
        </p:nvSpPr>
        <p:spPr>
          <a:xfrm>
            <a:off x="4261104" y="3218688"/>
            <a:ext cx="530352" cy="310896"/>
          </a:xfrm>
          <a:prstGeom prst="rect">
            <a:avLst/>
          </a:prstGeom>
          <a:solidFill>
            <a:srgbClr val="2F6F7E"/>
          </a:solidFill>
          <a:ln w="6350">
            <a:noFill/>
            <a:prstDash val="solid"/>
          </a:ln>
        </p:spPr>
        <p:txBody>
          <a:bodyPr/>
          <a:lstStyle/>
          <a:p>
            <a:endParaRPr/>
          </a:p>
        </p:txBody>
      </p:sp>
      <p:sp>
        <p:nvSpPr>
          <p:cNvPr id="77" name="Shape 75"/>
          <p:cNvSpPr/>
          <p:nvPr/>
        </p:nvSpPr>
        <p:spPr>
          <a:xfrm>
            <a:off x="4828032" y="3218688"/>
            <a:ext cx="530352" cy="310896"/>
          </a:xfrm>
          <a:prstGeom prst="rect">
            <a:avLst/>
          </a:prstGeom>
          <a:solidFill>
            <a:srgbClr val="2F6F7E"/>
          </a:solidFill>
          <a:ln w="6350">
            <a:noFill/>
            <a:prstDash val="solid"/>
          </a:ln>
        </p:spPr>
        <p:txBody>
          <a:bodyPr/>
          <a:lstStyle/>
          <a:p>
            <a:endParaRPr/>
          </a:p>
        </p:txBody>
      </p:sp>
      <p:sp>
        <p:nvSpPr>
          <p:cNvPr id="78" name="Shape 76"/>
          <p:cNvSpPr/>
          <p:nvPr/>
        </p:nvSpPr>
        <p:spPr>
          <a:xfrm>
            <a:off x="5394960" y="3218688"/>
            <a:ext cx="530352" cy="310896"/>
          </a:xfrm>
          <a:prstGeom prst="rect">
            <a:avLst/>
          </a:prstGeom>
          <a:solidFill>
            <a:srgbClr val="2F6F7E"/>
          </a:solidFill>
          <a:ln w="6350">
            <a:noFill/>
            <a:prstDash val="solid"/>
          </a:ln>
        </p:spPr>
        <p:txBody>
          <a:bodyPr/>
          <a:lstStyle/>
          <a:p>
            <a:endParaRPr/>
          </a:p>
        </p:txBody>
      </p:sp>
      <p:sp>
        <p:nvSpPr>
          <p:cNvPr id="79" name="Shape 77"/>
          <p:cNvSpPr/>
          <p:nvPr/>
        </p:nvSpPr>
        <p:spPr>
          <a:xfrm>
            <a:off x="5961888" y="3218688"/>
            <a:ext cx="530352" cy="310896"/>
          </a:xfrm>
          <a:prstGeom prst="rect">
            <a:avLst/>
          </a:prstGeom>
          <a:solidFill>
            <a:srgbClr val="2F6F7E"/>
          </a:solidFill>
          <a:ln w="6350">
            <a:noFill/>
            <a:prstDash val="solid"/>
          </a:ln>
        </p:spPr>
        <p:txBody>
          <a:bodyPr/>
          <a:lstStyle/>
          <a:p>
            <a:endParaRPr/>
          </a:p>
        </p:txBody>
      </p:sp>
      <p:sp>
        <p:nvSpPr>
          <p:cNvPr id="80" name="Shape 78"/>
          <p:cNvSpPr/>
          <p:nvPr/>
        </p:nvSpPr>
        <p:spPr>
          <a:xfrm>
            <a:off x="6528816" y="3218688"/>
            <a:ext cx="530352" cy="310896"/>
          </a:xfrm>
          <a:prstGeom prst="rect">
            <a:avLst/>
          </a:prstGeom>
          <a:solidFill>
            <a:srgbClr val="2F6F7E"/>
          </a:solidFill>
          <a:ln w="6350">
            <a:noFill/>
            <a:prstDash val="solid"/>
          </a:ln>
        </p:spPr>
        <p:txBody>
          <a:bodyPr/>
          <a:lstStyle/>
          <a:p>
            <a:endParaRPr/>
          </a:p>
        </p:txBody>
      </p:sp>
      <p:sp>
        <p:nvSpPr>
          <p:cNvPr id="81" name="Shape 79"/>
          <p:cNvSpPr/>
          <p:nvPr/>
        </p:nvSpPr>
        <p:spPr>
          <a:xfrm>
            <a:off x="7095744" y="3218688"/>
            <a:ext cx="530352" cy="310896"/>
          </a:xfrm>
          <a:prstGeom prst="rect">
            <a:avLst/>
          </a:prstGeom>
          <a:solidFill>
            <a:srgbClr val="FFFFFF"/>
          </a:solidFill>
          <a:ln w="6350">
            <a:noFill/>
            <a:prstDash val="solid"/>
          </a:ln>
        </p:spPr>
        <p:txBody>
          <a:bodyPr/>
          <a:lstStyle/>
          <a:p>
            <a:endParaRPr/>
          </a:p>
        </p:txBody>
      </p:sp>
      <p:sp>
        <p:nvSpPr>
          <p:cNvPr id="82" name="Shape 80"/>
          <p:cNvSpPr/>
          <p:nvPr/>
        </p:nvSpPr>
        <p:spPr>
          <a:xfrm>
            <a:off x="7662672" y="3218688"/>
            <a:ext cx="530352" cy="310896"/>
          </a:xfrm>
          <a:prstGeom prst="rect">
            <a:avLst/>
          </a:prstGeom>
          <a:solidFill>
            <a:srgbClr val="2F6F7E"/>
          </a:solidFill>
          <a:ln w="6350">
            <a:noFill/>
            <a:prstDash val="solid"/>
          </a:ln>
        </p:spPr>
        <p:txBody>
          <a:bodyPr/>
          <a:lstStyle/>
          <a:p>
            <a:endParaRPr/>
          </a:p>
        </p:txBody>
      </p:sp>
      <p:sp>
        <p:nvSpPr>
          <p:cNvPr id="83" name="Shape 81"/>
          <p:cNvSpPr/>
          <p:nvPr/>
        </p:nvSpPr>
        <p:spPr>
          <a:xfrm>
            <a:off x="8229600" y="3218688"/>
            <a:ext cx="530352" cy="310896"/>
          </a:xfrm>
          <a:prstGeom prst="rect">
            <a:avLst/>
          </a:prstGeom>
          <a:solidFill>
            <a:srgbClr val="2F6F7E"/>
          </a:solidFill>
          <a:ln w="6350">
            <a:noFill/>
            <a:prstDash val="solid"/>
          </a:ln>
        </p:spPr>
        <p:txBody>
          <a:bodyPr/>
          <a:lstStyle/>
          <a:p>
            <a:endParaRPr/>
          </a:p>
        </p:txBody>
      </p:sp>
      <p:sp>
        <p:nvSpPr>
          <p:cNvPr id="84" name="Shape 82"/>
          <p:cNvSpPr/>
          <p:nvPr/>
        </p:nvSpPr>
        <p:spPr>
          <a:xfrm>
            <a:off x="8796528" y="3218688"/>
            <a:ext cx="530352" cy="310896"/>
          </a:xfrm>
          <a:prstGeom prst="rect">
            <a:avLst/>
          </a:prstGeom>
          <a:solidFill>
            <a:srgbClr val="2F6F7E"/>
          </a:solidFill>
          <a:ln w="6350">
            <a:noFill/>
            <a:prstDash val="solid"/>
          </a:ln>
        </p:spPr>
        <p:txBody>
          <a:bodyPr/>
          <a:lstStyle/>
          <a:p>
            <a:endParaRPr/>
          </a:p>
        </p:txBody>
      </p:sp>
      <p:sp>
        <p:nvSpPr>
          <p:cNvPr id="85" name="Text 83"/>
          <p:cNvSpPr/>
          <p:nvPr/>
        </p:nvSpPr>
        <p:spPr>
          <a:xfrm>
            <a:off x="594360" y="3602736"/>
            <a:ext cx="1828800" cy="201168"/>
          </a:xfrm>
          <a:prstGeom prst="rect">
            <a:avLst/>
          </a:prstGeom>
          <a:noFill/>
          <a:ln>
            <a:noFill/>
          </a:ln>
        </p:spPr>
        <p:txBody>
          <a:bodyPr wrap="square" rtlCol="0" anchor="ctr">
            <a:normAutofit fontScale="92500"/>
          </a:bodyPr>
          <a:lstStyle/>
          <a:p>
            <a:pPr marL="0" indent="0">
              <a:buNone/>
            </a:pPr>
            <a:r>
              <a:rPr lang="en-US" sz="810" dirty="0">
                <a:solidFill>
                  <a:srgbClr val="263238"/>
                </a:solidFill>
                <a:latin typeface="Aptos" pitchFamily="34" charset="0"/>
                <a:ea typeface="Aptos" pitchFamily="34" charset="-122"/>
                <a:cs typeface="Aptos" pitchFamily="34" charset="-120"/>
              </a:rPr>
              <a:t>Physical: 100: S2</a:t>
            </a:r>
            <a:endParaRPr lang="en-US" sz="810" dirty="0"/>
          </a:p>
        </p:txBody>
      </p:sp>
      <p:sp>
        <p:nvSpPr>
          <p:cNvPr id="86" name="Shape 84"/>
          <p:cNvSpPr/>
          <p:nvPr/>
        </p:nvSpPr>
        <p:spPr>
          <a:xfrm>
            <a:off x="2560320" y="3566160"/>
            <a:ext cx="530352" cy="310896"/>
          </a:xfrm>
          <a:prstGeom prst="rect">
            <a:avLst/>
          </a:prstGeom>
          <a:solidFill>
            <a:srgbClr val="2F6F7E"/>
          </a:solidFill>
          <a:ln w="6350">
            <a:noFill/>
            <a:prstDash val="solid"/>
          </a:ln>
        </p:spPr>
        <p:txBody>
          <a:bodyPr/>
          <a:lstStyle/>
          <a:p>
            <a:endParaRPr/>
          </a:p>
        </p:txBody>
      </p:sp>
      <p:sp>
        <p:nvSpPr>
          <p:cNvPr id="87" name="Shape 85"/>
          <p:cNvSpPr/>
          <p:nvPr/>
        </p:nvSpPr>
        <p:spPr>
          <a:xfrm>
            <a:off x="3127248" y="3566160"/>
            <a:ext cx="530352" cy="310896"/>
          </a:xfrm>
          <a:prstGeom prst="rect">
            <a:avLst/>
          </a:prstGeom>
          <a:solidFill>
            <a:srgbClr val="2F6F7E"/>
          </a:solidFill>
          <a:ln w="6350">
            <a:noFill/>
            <a:prstDash val="solid"/>
          </a:ln>
        </p:spPr>
        <p:txBody>
          <a:bodyPr/>
          <a:lstStyle/>
          <a:p>
            <a:endParaRPr/>
          </a:p>
        </p:txBody>
      </p:sp>
      <p:sp>
        <p:nvSpPr>
          <p:cNvPr id="88" name="Shape 86"/>
          <p:cNvSpPr/>
          <p:nvPr/>
        </p:nvSpPr>
        <p:spPr>
          <a:xfrm>
            <a:off x="3694176" y="3566160"/>
            <a:ext cx="530352" cy="310896"/>
          </a:xfrm>
          <a:prstGeom prst="rect">
            <a:avLst/>
          </a:prstGeom>
          <a:solidFill>
            <a:srgbClr val="2F6F7E"/>
          </a:solidFill>
          <a:ln w="6350">
            <a:noFill/>
            <a:prstDash val="solid"/>
          </a:ln>
        </p:spPr>
        <p:txBody>
          <a:bodyPr/>
          <a:lstStyle/>
          <a:p>
            <a:endParaRPr/>
          </a:p>
        </p:txBody>
      </p:sp>
      <p:sp>
        <p:nvSpPr>
          <p:cNvPr id="89" name="Shape 87"/>
          <p:cNvSpPr/>
          <p:nvPr/>
        </p:nvSpPr>
        <p:spPr>
          <a:xfrm>
            <a:off x="4261104" y="3566160"/>
            <a:ext cx="530352" cy="310896"/>
          </a:xfrm>
          <a:prstGeom prst="rect">
            <a:avLst/>
          </a:prstGeom>
          <a:solidFill>
            <a:srgbClr val="2F6F7E"/>
          </a:solidFill>
          <a:ln w="6350">
            <a:noFill/>
            <a:prstDash val="solid"/>
          </a:ln>
        </p:spPr>
        <p:txBody>
          <a:bodyPr/>
          <a:lstStyle/>
          <a:p>
            <a:endParaRPr/>
          </a:p>
        </p:txBody>
      </p:sp>
      <p:sp>
        <p:nvSpPr>
          <p:cNvPr id="90" name="Shape 88"/>
          <p:cNvSpPr/>
          <p:nvPr/>
        </p:nvSpPr>
        <p:spPr>
          <a:xfrm>
            <a:off x="4828032" y="3566160"/>
            <a:ext cx="530352" cy="310896"/>
          </a:xfrm>
          <a:prstGeom prst="rect">
            <a:avLst/>
          </a:prstGeom>
          <a:solidFill>
            <a:srgbClr val="2F6F7E"/>
          </a:solidFill>
          <a:ln w="6350">
            <a:noFill/>
            <a:prstDash val="solid"/>
          </a:ln>
        </p:spPr>
        <p:txBody>
          <a:bodyPr/>
          <a:lstStyle/>
          <a:p>
            <a:endParaRPr/>
          </a:p>
        </p:txBody>
      </p:sp>
      <p:sp>
        <p:nvSpPr>
          <p:cNvPr id="91" name="Shape 89"/>
          <p:cNvSpPr/>
          <p:nvPr/>
        </p:nvSpPr>
        <p:spPr>
          <a:xfrm>
            <a:off x="5394960" y="3566160"/>
            <a:ext cx="530352" cy="310896"/>
          </a:xfrm>
          <a:prstGeom prst="rect">
            <a:avLst/>
          </a:prstGeom>
          <a:solidFill>
            <a:srgbClr val="2F6F7E"/>
          </a:solidFill>
          <a:ln w="6350">
            <a:noFill/>
            <a:prstDash val="solid"/>
          </a:ln>
        </p:spPr>
        <p:txBody>
          <a:bodyPr/>
          <a:lstStyle/>
          <a:p>
            <a:endParaRPr/>
          </a:p>
        </p:txBody>
      </p:sp>
      <p:sp>
        <p:nvSpPr>
          <p:cNvPr id="92" name="Shape 90"/>
          <p:cNvSpPr/>
          <p:nvPr/>
        </p:nvSpPr>
        <p:spPr>
          <a:xfrm>
            <a:off x="5961888" y="3566160"/>
            <a:ext cx="530352" cy="310896"/>
          </a:xfrm>
          <a:prstGeom prst="rect">
            <a:avLst/>
          </a:prstGeom>
          <a:solidFill>
            <a:srgbClr val="2F6F7E"/>
          </a:solidFill>
          <a:ln w="6350">
            <a:noFill/>
            <a:prstDash val="solid"/>
          </a:ln>
        </p:spPr>
        <p:txBody>
          <a:bodyPr/>
          <a:lstStyle/>
          <a:p>
            <a:endParaRPr/>
          </a:p>
        </p:txBody>
      </p:sp>
      <p:sp>
        <p:nvSpPr>
          <p:cNvPr id="93" name="Shape 91"/>
          <p:cNvSpPr/>
          <p:nvPr/>
        </p:nvSpPr>
        <p:spPr>
          <a:xfrm>
            <a:off x="6528816" y="3566160"/>
            <a:ext cx="530352" cy="310896"/>
          </a:xfrm>
          <a:prstGeom prst="rect">
            <a:avLst/>
          </a:prstGeom>
          <a:solidFill>
            <a:srgbClr val="2F6F7E"/>
          </a:solidFill>
          <a:ln w="6350">
            <a:noFill/>
            <a:prstDash val="solid"/>
          </a:ln>
        </p:spPr>
        <p:txBody>
          <a:bodyPr/>
          <a:lstStyle/>
          <a:p>
            <a:endParaRPr/>
          </a:p>
        </p:txBody>
      </p:sp>
      <p:sp>
        <p:nvSpPr>
          <p:cNvPr id="94" name="Shape 92"/>
          <p:cNvSpPr/>
          <p:nvPr/>
        </p:nvSpPr>
        <p:spPr>
          <a:xfrm>
            <a:off x="7095744" y="3566160"/>
            <a:ext cx="530352" cy="310896"/>
          </a:xfrm>
          <a:prstGeom prst="rect">
            <a:avLst/>
          </a:prstGeom>
          <a:solidFill>
            <a:srgbClr val="FFFFFF"/>
          </a:solidFill>
          <a:ln w="6350">
            <a:noFill/>
            <a:prstDash val="solid"/>
          </a:ln>
        </p:spPr>
        <p:txBody>
          <a:bodyPr/>
          <a:lstStyle/>
          <a:p>
            <a:endParaRPr/>
          </a:p>
        </p:txBody>
      </p:sp>
      <p:sp>
        <p:nvSpPr>
          <p:cNvPr id="95" name="Shape 93"/>
          <p:cNvSpPr/>
          <p:nvPr/>
        </p:nvSpPr>
        <p:spPr>
          <a:xfrm>
            <a:off x="7662672" y="3566160"/>
            <a:ext cx="530352" cy="310896"/>
          </a:xfrm>
          <a:prstGeom prst="rect">
            <a:avLst/>
          </a:prstGeom>
          <a:solidFill>
            <a:srgbClr val="2F6F7E"/>
          </a:solidFill>
          <a:ln w="6350">
            <a:noFill/>
            <a:prstDash val="solid"/>
          </a:ln>
        </p:spPr>
        <p:txBody>
          <a:bodyPr/>
          <a:lstStyle/>
          <a:p>
            <a:endParaRPr/>
          </a:p>
        </p:txBody>
      </p:sp>
      <p:sp>
        <p:nvSpPr>
          <p:cNvPr id="96" name="Shape 94"/>
          <p:cNvSpPr/>
          <p:nvPr/>
        </p:nvSpPr>
        <p:spPr>
          <a:xfrm>
            <a:off x="8229600" y="3566160"/>
            <a:ext cx="530352" cy="310896"/>
          </a:xfrm>
          <a:prstGeom prst="rect">
            <a:avLst/>
          </a:prstGeom>
          <a:solidFill>
            <a:srgbClr val="2F6F7E"/>
          </a:solidFill>
          <a:ln w="6350">
            <a:noFill/>
            <a:prstDash val="solid"/>
          </a:ln>
        </p:spPr>
        <p:txBody>
          <a:bodyPr/>
          <a:lstStyle/>
          <a:p>
            <a:endParaRPr/>
          </a:p>
        </p:txBody>
      </p:sp>
      <p:sp>
        <p:nvSpPr>
          <p:cNvPr id="97" name="Shape 95"/>
          <p:cNvSpPr/>
          <p:nvPr/>
        </p:nvSpPr>
        <p:spPr>
          <a:xfrm>
            <a:off x="8796528" y="3566160"/>
            <a:ext cx="530352" cy="310896"/>
          </a:xfrm>
          <a:prstGeom prst="rect">
            <a:avLst/>
          </a:prstGeom>
          <a:solidFill>
            <a:srgbClr val="2F6F7E"/>
          </a:solidFill>
          <a:ln w="6350">
            <a:noFill/>
            <a:prstDash val="solid"/>
          </a:ln>
        </p:spPr>
        <p:txBody>
          <a:bodyPr/>
          <a:lstStyle/>
          <a:p>
            <a:endParaRPr/>
          </a:p>
        </p:txBody>
      </p:sp>
      <p:sp>
        <p:nvSpPr>
          <p:cNvPr id="98" name="Text 96"/>
          <p:cNvSpPr/>
          <p:nvPr/>
        </p:nvSpPr>
        <p:spPr>
          <a:xfrm>
            <a:off x="594360" y="3950208"/>
            <a:ext cx="1828800" cy="201168"/>
          </a:xfrm>
          <a:prstGeom prst="rect">
            <a:avLst/>
          </a:prstGeom>
          <a:noFill/>
          <a:ln>
            <a:noFill/>
          </a:ln>
        </p:spPr>
        <p:txBody>
          <a:bodyPr wrap="square" rtlCol="0" anchor="ctr">
            <a:normAutofit fontScale="92500"/>
          </a:bodyPr>
          <a:lstStyle/>
          <a:p>
            <a:pPr marL="0" indent="0">
              <a:buNone/>
            </a:pPr>
            <a:r>
              <a:rPr lang="en-US" sz="810" dirty="0">
                <a:solidFill>
                  <a:srgbClr val="263238"/>
                </a:solidFill>
                <a:latin typeface="Aptos" pitchFamily="34" charset="0"/>
                <a:ea typeface="Aptos" pitchFamily="34" charset="-122"/>
                <a:cs typeface="Aptos" pitchFamily="34" charset="-120"/>
              </a:rPr>
              <a:t>My Demon: Limited Series</a:t>
            </a:r>
            <a:endParaRPr lang="en-US" sz="810" dirty="0"/>
          </a:p>
        </p:txBody>
      </p:sp>
      <p:sp>
        <p:nvSpPr>
          <p:cNvPr id="99" name="Shape 97"/>
          <p:cNvSpPr/>
          <p:nvPr/>
        </p:nvSpPr>
        <p:spPr>
          <a:xfrm>
            <a:off x="2560320" y="3913632"/>
            <a:ext cx="530352" cy="310896"/>
          </a:xfrm>
          <a:prstGeom prst="rect">
            <a:avLst/>
          </a:prstGeom>
          <a:solidFill>
            <a:srgbClr val="FFFFFF"/>
          </a:solidFill>
          <a:ln w="6350">
            <a:noFill/>
            <a:prstDash val="solid"/>
          </a:ln>
        </p:spPr>
        <p:txBody>
          <a:bodyPr/>
          <a:lstStyle/>
          <a:p>
            <a:endParaRPr/>
          </a:p>
        </p:txBody>
      </p:sp>
      <p:sp>
        <p:nvSpPr>
          <p:cNvPr id="100" name="Shape 98"/>
          <p:cNvSpPr/>
          <p:nvPr/>
        </p:nvSpPr>
        <p:spPr>
          <a:xfrm>
            <a:off x="3127248" y="3913632"/>
            <a:ext cx="530352" cy="310896"/>
          </a:xfrm>
          <a:prstGeom prst="rect">
            <a:avLst/>
          </a:prstGeom>
          <a:solidFill>
            <a:srgbClr val="2F6F7E"/>
          </a:solidFill>
          <a:ln w="6350">
            <a:noFill/>
            <a:prstDash val="solid"/>
          </a:ln>
        </p:spPr>
        <p:txBody>
          <a:bodyPr/>
          <a:lstStyle/>
          <a:p>
            <a:endParaRPr/>
          </a:p>
        </p:txBody>
      </p:sp>
      <p:sp>
        <p:nvSpPr>
          <p:cNvPr id="101" name="Shape 99"/>
          <p:cNvSpPr/>
          <p:nvPr/>
        </p:nvSpPr>
        <p:spPr>
          <a:xfrm>
            <a:off x="3694176" y="3913632"/>
            <a:ext cx="530352" cy="310896"/>
          </a:xfrm>
          <a:prstGeom prst="rect">
            <a:avLst/>
          </a:prstGeom>
          <a:solidFill>
            <a:srgbClr val="2F6F7E"/>
          </a:solidFill>
          <a:ln w="6350">
            <a:noFill/>
            <a:prstDash val="solid"/>
          </a:ln>
        </p:spPr>
        <p:txBody>
          <a:bodyPr/>
          <a:lstStyle/>
          <a:p>
            <a:endParaRPr/>
          </a:p>
        </p:txBody>
      </p:sp>
      <p:sp>
        <p:nvSpPr>
          <p:cNvPr id="102" name="Shape 100"/>
          <p:cNvSpPr/>
          <p:nvPr/>
        </p:nvSpPr>
        <p:spPr>
          <a:xfrm>
            <a:off x="4261104" y="3913632"/>
            <a:ext cx="530352" cy="310896"/>
          </a:xfrm>
          <a:prstGeom prst="rect">
            <a:avLst/>
          </a:prstGeom>
          <a:solidFill>
            <a:srgbClr val="FFFFFF"/>
          </a:solidFill>
          <a:ln w="6350">
            <a:noFill/>
            <a:prstDash val="solid"/>
          </a:ln>
        </p:spPr>
        <p:txBody>
          <a:bodyPr/>
          <a:lstStyle/>
          <a:p>
            <a:endParaRPr/>
          </a:p>
        </p:txBody>
      </p:sp>
      <p:sp>
        <p:nvSpPr>
          <p:cNvPr id="103" name="Shape 101"/>
          <p:cNvSpPr/>
          <p:nvPr/>
        </p:nvSpPr>
        <p:spPr>
          <a:xfrm>
            <a:off x="4828032" y="3913632"/>
            <a:ext cx="530352" cy="310896"/>
          </a:xfrm>
          <a:prstGeom prst="rect">
            <a:avLst/>
          </a:prstGeom>
          <a:solidFill>
            <a:srgbClr val="FFFFFF"/>
          </a:solidFill>
          <a:ln w="6350">
            <a:noFill/>
            <a:prstDash val="solid"/>
          </a:ln>
        </p:spPr>
        <p:txBody>
          <a:bodyPr/>
          <a:lstStyle/>
          <a:p>
            <a:endParaRPr/>
          </a:p>
        </p:txBody>
      </p:sp>
      <p:sp>
        <p:nvSpPr>
          <p:cNvPr id="104" name="Shape 102"/>
          <p:cNvSpPr/>
          <p:nvPr/>
        </p:nvSpPr>
        <p:spPr>
          <a:xfrm>
            <a:off x="5394960" y="3913632"/>
            <a:ext cx="530352" cy="310896"/>
          </a:xfrm>
          <a:prstGeom prst="rect">
            <a:avLst/>
          </a:prstGeom>
          <a:solidFill>
            <a:srgbClr val="FFFFFF"/>
          </a:solidFill>
          <a:ln w="6350">
            <a:noFill/>
            <a:prstDash val="solid"/>
          </a:ln>
        </p:spPr>
        <p:txBody>
          <a:bodyPr/>
          <a:lstStyle/>
          <a:p>
            <a:endParaRPr/>
          </a:p>
        </p:txBody>
      </p:sp>
      <p:sp>
        <p:nvSpPr>
          <p:cNvPr id="105" name="Shape 103"/>
          <p:cNvSpPr/>
          <p:nvPr/>
        </p:nvSpPr>
        <p:spPr>
          <a:xfrm>
            <a:off x="5961888" y="3913632"/>
            <a:ext cx="530352" cy="310896"/>
          </a:xfrm>
          <a:prstGeom prst="rect">
            <a:avLst/>
          </a:prstGeom>
          <a:solidFill>
            <a:srgbClr val="FFFFFF"/>
          </a:solidFill>
          <a:ln w="6350">
            <a:noFill/>
            <a:prstDash val="solid"/>
          </a:ln>
        </p:spPr>
        <p:txBody>
          <a:bodyPr/>
          <a:lstStyle/>
          <a:p>
            <a:endParaRPr/>
          </a:p>
        </p:txBody>
      </p:sp>
      <p:sp>
        <p:nvSpPr>
          <p:cNvPr id="106" name="Shape 104"/>
          <p:cNvSpPr/>
          <p:nvPr/>
        </p:nvSpPr>
        <p:spPr>
          <a:xfrm>
            <a:off x="6528816" y="3913632"/>
            <a:ext cx="530352" cy="310896"/>
          </a:xfrm>
          <a:prstGeom prst="rect">
            <a:avLst/>
          </a:prstGeom>
          <a:solidFill>
            <a:srgbClr val="2F6F7E"/>
          </a:solidFill>
          <a:ln w="6350">
            <a:noFill/>
            <a:prstDash val="solid"/>
          </a:ln>
        </p:spPr>
        <p:txBody>
          <a:bodyPr/>
          <a:lstStyle/>
          <a:p>
            <a:endParaRPr/>
          </a:p>
        </p:txBody>
      </p:sp>
      <p:sp>
        <p:nvSpPr>
          <p:cNvPr id="107" name="Shape 105"/>
          <p:cNvSpPr/>
          <p:nvPr/>
        </p:nvSpPr>
        <p:spPr>
          <a:xfrm>
            <a:off x="7095744" y="3913632"/>
            <a:ext cx="530352" cy="310896"/>
          </a:xfrm>
          <a:prstGeom prst="rect">
            <a:avLst/>
          </a:prstGeom>
          <a:solidFill>
            <a:srgbClr val="2F6F7E"/>
          </a:solidFill>
          <a:ln w="6350">
            <a:noFill/>
            <a:prstDash val="solid"/>
          </a:ln>
        </p:spPr>
        <p:txBody>
          <a:bodyPr/>
          <a:lstStyle/>
          <a:p>
            <a:endParaRPr/>
          </a:p>
        </p:txBody>
      </p:sp>
      <p:sp>
        <p:nvSpPr>
          <p:cNvPr id="108" name="Shape 106"/>
          <p:cNvSpPr/>
          <p:nvPr/>
        </p:nvSpPr>
        <p:spPr>
          <a:xfrm>
            <a:off x="7662672" y="3913632"/>
            <a:ext cx="530352" cy="310896"/>
          </a:xfrm>
          <a:prstGeom prst="rect">
            <a:avLst/>
          </a:prstGeom>
          <a:solidFill>
            <a:srgbClr val="2F6F7E"/>
          </a:solidFill>
          <a:ln w="6350">
            <a:noFill/>
            <a:prstDash val="solid"/>
          </a:ln>
        </p:spPr>
        <p:txBody>
          <a:bodyPr/>
          <a:lstStyle/>
          <a:p>
            <a:endParaRPr/>
          </a:p>
        </p:txBody>
      </p:sp>
      <p:sp>
        <p:nvSpPr>
          <p:cNvPr id="109" name="Shape 107"/>
          <p:cNvSpPr/>
          <p:nvPr/>
        </p:nvSpPr>
        <p:spPr>
          <a:xfrm>
            <a:off x="8229600" y="3913632"/>
            <a:ext cx="530352" cy="310896"/>
          </a:xfrm>
          <a:prstGeom prst="rect">
            <a:avLst/>
          </a:prstGeom>
          <a:solidFill>
            <a:srgbClr val="2F6F7E"/>
          </a:solidFill>
          <a:ln w="6350">
            <a:noFill/>
            <a:prstDash val="solid"/>
          </a:ln>
        </p:spPr>
        <p:txBody>
          <a:bodyPr/>
          <a:lstStyle/>
          <a:p>
            <a:endParaRPr/>
          </a:p>
        </p:txBody>
      </p:sp>
      <p:sp>
        <p:nvSpPr>
          <p:cNvPr id="110" name="Shape 108"/>
          <p:cNvSpPr/>
          <p:nvPr/>
        </p:nvSpPr>
        <p:spPr>
          <a:xfrm>
            <a:off x="8796528" y="3913632"/>
            <a:ext cx="530352" cy="310896"/>
          </a:xfrm>
          <a:prstGeom prst="rect">
            <a:avLst/>
          </a:prstGeom>
          <a:solidFill>
            <a:srgbClr val="FFFFFF"/>
          </a:solidFill>
          <a:ln w="6350">
            <a:noFill/>
            <a:prstDash val="solid"/>
          </a:ln>
        </p:spPr>
        <p:txBody>
          <a:bodyPr/>
          <a:lstStyle/>
          <a:p>
            <a:endParaRPr/>
          </a:p>
        </p:txBody>
      </p:sp>
      <p:sp>
        <p:nvSpPr>
          <p:cNvPr id="111" name="Text 109"/>
          <p:cNvSpPr/>
          <p:nvPr/>
        </p:nvSpPr>
        <p:spPr>
          <a:xfrm>
            <a:off x="594360" y="4297680"/>
            <a:ext cx="1828800" cy="201168"/>
          </a:xfrm>
          <a:prstGeom prst="rect">
            <a:avLst/>
          </a:prstGeom>
          <a:noFill/>
          <a:ln>
            <a:noFill/>
          </a:ln>
        </p:spPr>
        <p:txBody>
          <a:bodyPr wrap="square" rtlCol="0" anchor="ctr">
            <a:normAutofit fontScale="92500"/>
          </a:bodyPr>
          <a:lstStyle/>
          <a:p>
            <a:pPr marL="0" indent="0">
              <a:buNone/>
            </a:pPr>
            <a:r>
              <a:rPr lang="en-US" sz="810" dirty="0">
                <a:solidFill>
                  <a:srgbClr val="263238"/>
                </a:solidFill>
                <a:latin typeface="Aptos" pitchFamily="34" charset="0"/>
                <a:ea typeface="Aptos" pitchFamily="34" charset="-122"/>
                <a:cs typeface="Aptos" pitchFamily="34" charset="-120"/>
              </a:rPr>
              <a:t>Demon Slayer: Swordsmith</a:t>
            </a:r>
            <a:endParaRPr lang="en-US" sz="810" dirty="0"/>
          </a:p>
        </p:txBody>
      </p:sp>
      <p:sp>
        <p:nvSpPr>
          <p:cNvPr id="112" name="Shape 110"/>
          <p:cNvSpPr/>
          <p:nvPr/>
        </p:nvSpPr>
        <p:spPr>
          <a:xfrm>
            <a:off x="2560320" y="4261104"/>
            <a:ext cx="530352" cy="310896"/>
          </a:xfrm>
          <a:prstGeom prst="rect">
            <a:avLst/>
          </a:prstGeom>
          <a:solidFill>
            <a:srgbClr val="2F6F7E"/>
          </a:solidFill>
          <a:ln w="6350">
            <a:noFill/>
            <a:prstDash val="solid"/>
          </a:ln>
        </p:spPr>
        <p:txBody>
          <a:bodyPr/>
          <a:lstStyle/>
          <a:p>
            <a:endParaRPr/>
          </a:p>
        </p:txBody>
      </p:sp>
      <p:sp>
        <p:nvSpPr>
          <p:cNvPr id="113" name="Shape 111"/>
          <p:cNvSpPr/>
          <p:nvPr/>
        </p:nvSpPr>
        <p:spPr>
          <a:xfrm>
            <a:off x="3127248" y="4261104"/>
            <a:ext cx="530352" cy="310896"/>
          </a:xfrm>
          <a:prstGeom prst="rect">
            <a:avLst/>
          </a:prstGeom>
          <a:solidFill>
            <a:srgbClr val="2F6F7E"/>
          </a:solidFill>
          <a:ln w="6350">
            <a:noFill/>
            <a:prstDash val="solid"/>
          </a:ln>
        </p:spPr>
        <p:txBody>
          <a:bodyPr/>
          <a:lstStyle/>
          <a:p>
            <a:endParaRPr/>
          </a:p>
        </p:txBody>
      </p:sp>
      <p:sp>
        <p:nvSpPr>
          <p:cNvPr id="114" name="Shape 112"/>
          <p:cNvSpPr/>
          <p:nvPr/>
        </p:nvSpPr>
        <p:spPr>
          <a:xfrm>
            <a:off x="3694176" y="4261104"/>
            <a:ext cx="530352" cy="310896"/>
          </a:xfrm>
          <a:prstGeom prst="rect">
            <a:avLst/>
          </a:prstGeom>
          <a:solidFill>
            <a:srgbClr val="2F6F7E"/>
          </a:solidFill>
          <a:ln w="6350">
            <a:noFill/>
            <a:prstDash val="solid"/>
          </a:ln>
        </p:spPr>
        <p:txBody>
          <a:bodyPr/>
          <a:lstStyle/>
          <a:p>
            <a:endParaRPr/>
          </a:p>
        </p:txBody>
      </p:sp>
      <p:sp>
        <p:nvSpPr>
          <p:cNvPr id="115" name="Shape 113"/>
          <p:cNvSpPr/>
          <p:nvPr/>
        </p:nvSpPr>
        <p:spPr>
          <a:xfrm>
            <a:off x="4261104" y="4261104"/>
            <a:ext cx="530352" cy="310896"/>
          </a:xfrm>
          <a:prstGeom prst="rect">
            <a:avLst/>
          </a:prstGeom>
          <a:solidFill>
            <a:srgbClr val="FFFFFF"/>
          </a:solidFill>
          <a:ln w="6350">
            <a:noFill/>
            <a:prstDash val="solid"/>
          </a:ln>
        </p:spPr>
        <p:txBody>
          <a:bodyPr/>
          <a:lstStyle/>
          <a:p>
            <a:endParaRPr/>
          </a:p>
        </p:txBody>
      </p:sp>
      <p:sp>
        <p:nvSpPr>
          <p:cNvPr id="116" name="Shape 114"/>
          <p:cNvSpPr/>
          <p:nvPr/>
        </p:nvSpPr>
        <p:spPr>
          <a:xfrm>
            <a:off x="4828032" y="4261104"/>
            <a:ext cx="530352" cy="310896"/>
          </a:xfrm>
          <a:prstGeom prst="rect">
            <a:avLst/>
          </a:prstGeom>
          <a:solidFill>
            <a:srgbClr val="FFFFFF"/>
          </a:solidFill>
          <a:ln w="6350">
            <a:noFill/>
            <a:prstDash val="solid"/>
          </a:ln>
        </p:spPr>
        <p:txBody>
          <a:bodyPr/>
          <a:lstStyle/>
          <a:p>
            <a:endParaRPr/>
          </a:p>
        </p:txBody>
      </p:sp>
      <p:sp>
        <p:nvSpPr>
          <p:cNvPr id="117" name="Shape 115"/>
          <p:cNvSpPr/>
          <p:nvPr/>
        </p:nvSpPr>
        <p:spPr>
          <a:xfrm>
            <a:off x="5394960" y="4261104"/>
            <a:ext cx="530352" cy="310896"/>
          </a:xfrm>
          <a:prstGeom prst="rect">
            <a:avLst/>
          </a:prstGeom>
          <a:solidFill>
            <a:srgbClr val="FFFFFF"/>
          </a:solidFill>
          <a:ln w="6350">
            <a:noFill/>
            <a:prstDash val="solid"/>
          </a:ln>
        </p:spPr>
        <p:txBody>
          <a:bodyPr/>
          <a:lstStyle/>
          <a:p>
            <a:endParaRPr/>
          </a:p>
        </p:txBody>
      </p:sp>
      <p:sp>
        <p:nvSpPr>
          <p:cNvPr id="118" name="Shape 116"/>
          <p:cNvSpPr/>
          <p:nvPr/>
        </p:nvSpPr>
        <p:spPr>
          <a:xfrm>
            <a:off x="5961888" y="4261104"/>
            <a:ext cx="530352" cy="310896"/>
          </a:xfrm>
          <a:prstGeom prst="rect">
            <a:avLst/>
          </a:prstGeom>
          <a:solidFill>
            <a:srgbClr val="FFFFFF"/>
          </a:solidFill>
          <a:ln w="6350">
            <a:noFill/>
            <a:prstDash val="solid"/>
          </a:ln>
        </p:spPr>
        <p:txBody>
          <a:bodyPr/>
          <a:lstStyle/>
          <a:p>
            <a:endParaRPr/>
          </a:p>
        </p:txBody>
      </p:sp>
      <p:sp>
        <p:nvSpPr>
          <p:cNvPr id="119" name="Shape 117"/>
          <p:cNvSpPr/>
          <p:nvPr/>
        </p:nvSpPr>
        <p:spPr>
          <a:xfrm>
            <a:off x="6528816" y="4261104"/>
            <a:ext cx="530352" cy="310896"/>
          </a:xfrm>
          <a:prstGeom prst="rect">
            <a:avLst/>
          </a:prstGeom>
          <a:solidFill>
            <a:srgbClr val="2F6F7E"/>
          </a:solidFill>
          <a:ln w="6350">
            <a:noFill/>
            <a:prstDash val="solid"/>
          </a:ln>
        </p:spPr>
        <p:txBody>
          <a:bodyPr/>
          <a:lstStyle/>
          <a:p>
            <a:endParaRPr/>
          </a:p>
        </p:txBody>
      </p:sp>
      <p:sp>
        <p:nvSpPr>
          <p:cNvPr id="120" name="Shape 118"/>
          <p:cNvSpPr/>
          <p:nvPr/>
        </p:nvSpPr>
        <p:spPr>
          <a:xfrm>
            <a:off x="7095744" y="4261104"/>
            <a:ext cx="530352" cy="310896"/>
          </a:xfrm>
          <a:prstGeom prst="rect">
            <a:avLst/>
          </a:prstGeom>
          <a:solidFill>
            <a:srgbClr val="2F6F7E"/>
          </a:solidFill>
          <a:ln w="6350">
            <a:noFill/>
            <a:prstDash val="solid"/>
          </a:ln>
        </p:spPr>
        <p:txBody>
          <a:bodyPr/>
          <a:lstStyle/>
          <a:p>
            <a:endParaRPr/>
          </a:p>
        </p:txBody>
      </p:sp>
      <p:sp>
        <p:nvSpPr>
          <p:cNvPr id="121" name="Shape 119"/>
          <p:cNvSpPr/>
          <p:nvPr/>
        </p:nvSpPr>
        <p:spPr>
          <a:xfrm>
            <a:off x="7662672" y="4261104"/>
            <a:ext cx="530352" cy="310896"/>
          </a:xfrm>
          <a:prstGeom prst="rect">
            <a:avLst/>
          </a:prstGeom>
          <a:solidFill>
            <a:srgbClr val="2F6F7E"/>
          </a:solidFill>
          <a:ln w="6350">
            <a:noFill/>
            <a:prstDash val="solid"/>
          </a:ln>
        </p:spPr>
        <p:txBody>
          <a:bodyPr/>
          <a:lstStyle/>
          <a:p>
            <a:endParaRPr/>
          </a:p>
        </p:txBody>
      </p:sp>
      <p:sp>
        <p:nvSpPr>
          <p:cNvPr id="122" name="Shape 120"/>
          <p:cNvSpPr/>
          <p:nvPr/>
        </p:nvSpPr>
        <p:spPr>
          <a:xfrm>
            <a:off x="8229600" y="4261104"/>
            <a:ext cx="530352" cy="310896"/>
          </a:xfrm>
          <a:prstGeom prst="rect">
            <a:avLst/>
          </a:prstGeom>
          <a:solidFill>
            <a:srgbClr val="2F6F7E"/>
          </a:solidFill>
          <a:ln w="6350">
            <a:noFill/>
            <a:prstDash val="solid"/>
          </a:ln>
        </p:spPr>
        <p:txBody>
          <a:bodyPr/>
          <a:lstStyle/>
          <a:p>
            <a:endParaRPr/>
          </a:p>
        </p:txBody>
      </p:sp>
      <p:sp>
        <p:nvSpPr>
          <p:cNvPr id="123" name="Shape 121"/>
          <p:cNvSpPr/>
          <p:nvPr/>
        </p:nvSpPr>
        <p:spPr>
          <a:xfrm>
            <a:off x="8796528" y="4261104"/>
            <a:ext cx="530352" cy="310896"/>
          </a:xfrm>
          <a:prstGeom prst="rect">
            <a:avLst/>
          </a:prstGeom>
          <a:solidFill>
            <a:srgbClr val="FFFFFF"/>
          </a:solidFill>
          <a:ln w="6350">
            <a:noFill/>
            <a:prstDash val="solid"/>
          </a:ln>
        </p:spPr>
        <p:txBody>
          <a:bodyPr/>
          <a:lstStyle/>
          <a:p>
            <a:endParaRPr/>
          </a:p>
        </p:txBody>
      </p:sp>
      <p:sp>
        <p:nvSpPr>
          <p:cNvPr id="124" name="Shape 122"/>
          <p:cNvSpPr/>
          <p:nvPr/>
        </p:nvSpPr>
        <p:spPr>
          <a:xfrm>
            <a:off x="9738360" y="4846320"/>
            <a:ext cx="228600" cy="228600"/>
          </a:xfrm>
          <a:prstGeom prst="rect">
            <a:avLst/>
          </a:prstGeom>
          <a:solidFill>
            <a:srgbClr val="2F6F7E"/>
          </a:solidFill>
          <a:ln w="12700">
            <a:noFill/>
            <a:prstDash val="solid"/>
          </a:ln>
        </p:spPr>
        <p:txBody>
          <a:bodyPr/>
          <a:lstStyle/>
          <a:p>
            <a:endParaRPr/>
          </a:p>
        </p:txBody>
      </p:sp>
      <p:sp>
        <p:nvSpPr>
          <p:cNvPr id="125" name="Text 123"/>
          <p:cNvSpPr/>
          <p:nvPr/>
        </p:nvSpPr>
        <p:spPr>
          <a:xfrm>
            <a:off x="10058400" y="4846320"/>
            <a:ext cx="1005840" cy="201168"/>
          </a:xfrm>
          <a:prstGeom prst="rect">
            <a:avLst/>
          </a:prstGeom>
          <a:noFill/>
          <a:ln>
            <a:noFill/>
          </a:ln>
        </p:spPr>
        <p:txBody>
          <a:bodyPr wrap="square" rtlCol="0" anchor="ctr"/>
          <a:lstStyle/>
          <a:p>
            <a:pPr marL="0" indent="0">
              <a:buNone/>
            </a:pPr>
            <a:r>
              <a:rPr lang="en-US" sz="850" dirty="0">
                <a:solidFill>
                  <a:srgbClr val="626B72"/>
                </a:solidFill>
                <a:latin typeface="Aptos" pitchFamily="34" charset="0"/>
                <a:ea typeface="Aptos" pitchFamily="34" charset="-122"/>
                <a:cs typeface="Aptos" pitchFamily="34" charset="-120"/>
              </a:rPr>
              <a:t>Appeared</a:t>
            </a:r>
            <a:endParaRPr lang="en-US" sz="850" dirty="0"/>
          </a:p>
        </p:txBody>
      </p:sp>
      <p:sp>
        <p:nvSpPr>
          <p:cNvPr id="126" name="Shape 124"/>
          <p:cNvSpPr/>
          <p:nvPr/>
        </p:nvSpPr>
        <p:spPr>
          <a:xfrm>
            <a:off x="9738360" y="5212080"/>
            <a:ext cx="228600" cy="228600"/>
          </a:xfrm>
          <a:prstGeom prst="rect">
            <a:avLst/>
          </a:prstGeom>
          <a:solidFill>
            <a:srgbClr val="FFFFFF"/>
          </a:solidFill>
          <a:ln w="12700">
            <a:noFill/>
            <a:prstDash val="solid"/>
          </a:ln>
        </p:spPr>
        <p:txBody>
          <a:bodyPr/>
          <a:lstStyle/>
          <a:p>
            <a:endParaRPr/>
          </a:p>
        </p:txBody>
      </p:sp>
      <p:sp>
        <p:nvSpPr>
          <p:cNvPr id="127" name="Text 125"/>
          <p:cNvSpPr/>
          <p:nvPr/>
        </p:nvSpPr>
        <p:spPr>
          <a:xfrm>
            <a:off x="10058400" y="5212080"/>
            <a:ext cx="1188720" cy="201168"/>
          </a:xfrm>
          <a:prstGeom prst="rect">
            <a:avLst/>
          </a:prstGeom>
          <a:noFill/>
          <a:ln>
            <a:noFill/>
          </a:ln>
        </p:spPr>
        <p:txBody>
          <a:bodyPr wrap="square" rtlCol="0" anchor="ctr"/>
          <a:lstStyle/>
          <a:p>
            <a:pPr marL="0" indent="0">
              <a:buNone/>
            </a:pPr>
            <a:r>
              <a:rPr lang="en-US" sz="850" dirty="0">
                <a:solidFill>
                  <a:srgbClr val="626B72"/>
                </a:solidFill>
                <a:latin typeface="Aptos" pitchFamily="34" charset="0"/>
                <a:ea typeface="Aptos" pitchFamily="34" charset="-122"/>
                <a:cs typeface="Aptos" pitchFamily="34" charset="-120"/>
              </a:rPr>
              <a:t>Did not appear</a:t>
            </a:r>
            <a:endParaRPr lang="en-US" sz="850" dirty="0"/>
          </a:p>
        </p:txBody>
      </p:sp>
      <p:sp>
        <p:nvSpPr>
          <p:cNvPr id="128" name="Shape 126"/>
          <p:cNvSpPr/>
          <p:nvPr/>
        </p:nvSpPr>
        <p:spPr>
          <a:xfrm>
            <a:off x="777240" y="5074920"/>
            <a:ext cx="8046720" cy="658368"/>
          </a:xfrm>
          <a:prstGeom prst="roundRect">
            <a:avLst>
              <a:gd name="adj" fmla="val 11111"/>
            </a:avLst>
          </a:prstGeom>
          <a:solidFill>
            <a:srgbClr val="FFFFFF"/>
          </a:solidFill>
          <a:ln w="15240">
            <a:noFill/>
            <a:prstDash val="solid"/>
          </a:ln>
        </p:spPr>
        <p:txBody>
          <a:bodyPr/>
          <a:lstStyle/>
          <a:p>
            <a:endParaRPr/>
          </a:p>
        </p:txBody>
      </p:sp>
      <p:sp>
        <p:nvSpPr>
          <p:cNvPr id="129" name="Text 127"/>
          <p:cNvSpPr/>
          <p:nvPr/>
        </p:nvSpPr>
        <p:spPr>
          <a:xfrm>
            <a:off x="941832" y="5202936"/>
            <a:ext cx="7717536" cy="402336"/>
          </a:xfrm>
          <a:prstGeom prst="rect">
            <a:avLst/>
          </a:prstGeom>
          <a:noFill/>
          <a:ln>
            <a:noFill/>
          </a:ln>
        </p:spPr>
        <p:txBody>
          <a:bodyPr wrap="square" rtlCol="0" anchor="ctr">
            <a:normAutofit fontScale="85000" lnSpcReduction="10000"/>
          </a:bodyPr>
          <a:lstStyle/>
          <a:p>
            <a:pPr marL="0" indent="0">
              <a:buNone/>
            </a:pPr>
            <a:r>
              <a:rPr lang="en-US" sz="1400" b="1" dirty="0">
                <a:solidFill>
                  <a:srgbClr val="263238"/>
                </a:solidFill>
                <a:latin typeface="Aptos" pitchFamily="34" charset="0"/>
                <a:ea typeface="Aptos" pitchFamily="34" charset="-122"/>
                <a:cs typeface="Aptos" pitchFamily="34" charset="-120"/>
              </a:rPr>
              <a:t>A title that travels across markets has more strategic value than one that performs in only a single country.</a:t>
            </a:r>
            <a:endParaRPr lang="en-US" sz="1400" dirty="0"/>
          </a:p>
        </p:txBody>
      </p:sp>
      <p:sp>
        <p:nvSpPr>
          <p:cNvPr id="130" name="Text 128"/>
          <p:cNvSpPr/>
          <p:nvPr/>
        </p:nvSpPr>
        <p:spPr>
          <a:xfrm>
            <a:off x="502920" y="6556248"/>
            <a:ext cx="8503920" cy="164592"/>
          </a:xfrm>
          <a:prstGeom prst="rect">
            <a:avLst/>
          </a:prstGeom>
          <a:noFill/>
          <a:ln>
            <a:noFill/>
          </a:ln>
        </p:spPr>
        <p:txBody>
          <a:bodyPr wrap="square" rtlCol="0" anchor="ctr">
            <a:normAutofit fontScale="77500" lnSpcReduction="20000"/>
          </a:bodyPr>
          <a:lstStyle/>
          <a:p>
            <a:pPr marL="0" indent="0">
              <a:buNone/>
            </a:pPr>
            <a:r>
              <a:rPr lang="en-US" sz="650" dirty="0">
                <a:solidFill>
                  <a:srgbClr val="626B72"/>
                </a:solidFill>
                <a:latin typeface="Aptos" pitchFamily="34" charset="0"/>
                <a:ea typeface="Aptos" pitchFamily="34" charset="-122"/>
                <a:cs typeface="Aptos" pitchFamily="34" charset="-120"/>
              </a:rPr>
              <a:t>Data source: All Weeks Countries Netflix. Appearance means title appeared at least once in that country’s weekly Top 10.</a:t>
            </a:r>
            <a:endParaRPr lang="en-US" sz="650" dirty="0"/>
          </a:p>
        </p:txBody>
      </p:sp>
      <p:sp>
        <p:nvSpPr>
          <p:cNvPr id="131" name="Text 129"/>
          <p:cNvSpPr/>
          <p:nvPr/>
        </p:nvSpPr>
        <p:spPr>
          <a:xfrm>
            <a:off x="10789920" y="6510528"/>
            <a:ext cx="868680" cy="182880"/>
          </a:xfrm>
          <a:prstGeom prst="rect">
            <a:avLst/>
          </a:prstGeom>
          <a:noFill/>
          <a:ln>
            <a:noFill/>
          </a:ln>
        </p:spPr>
        <p:txBody>
          <a:bodyPr wrap="square" rtlCol="0" anchor="ctr"/>
          <a:lstStyle/>
          <a:p>
            <a:pPr marL="0" indent="0" algn="r">
              <a:buNone/>
            </a:pPr>
            <a:r>
              <a:rPr lang="en-US" sz="750" dirty="0">
                <a:solidFill>
                  <a:srgbClr val="626B72"/>
                </a:solidFill>
                <a:latin typeface="Aptos" pitchFamily="34" charset="0"/>
                <a:ea typeface="Aptos" pitchFamily="34" charset="-122"/>
                <a:cs typeface="Aptos" pitchFamily="34" charset="-120"/>
              </a:rPr>
              <a:t>DSC640</a:t>
            </a:r>
            <a:endParaRPr lang="en-US" sz="750" dirty="0"/>
          </a:p>
        </p:txBody>
      </p:sp>
      <p:sp>
        <p:nvSpPr>
          <p:cNvPr id="132" name="Rectangle 131"/>
          <p:cNvSpPr/>
          <p:nvPr/>
        </p:nvSpPr>
        <p:spPr>
          <a:xfrm>
            <a:off x="320040" y="6556248"/>
            <a:ext cx="11567160" cy="18288"/>
          </a:xfrm>
          <a:prstGeom prst="rect">
            <a:avLst/>
          </a:prstGeom>
          <a:solidFill>
            <a:srgbClr val="2F6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6" name="Picture 135">
            <a:extLst>
              <a:ext uri="{FF2B5EF4-FFF2-40B4-BE49-F238E27FC236}">
                <a16:creationId xmlns:a16="http://schemas.microsoft.com/office/drawing/2014/main" id="{AFA51B69-432F-A308-7195-06F3C6609F42}"/>
              </a:ext>
            </a:extLst>
          </p:cNvPr>
          <p:cNvPicPr>
            <a:picLocks noChangeAspect="1"/>
          </p:cNvPicPr>
          <p:nvPr/>
        </p:nvPicPr>
        <p:blipFill>
          <a:blip r:embed="rId3"/>
          <a:stretch>
            <a:fillRect/>
          </a:stretch>
        </p:blipFill>
        <p:spPr>
          <a:xfrm>
            <a:off x="10688595" y="1520320"/>
            <a:ext cx="1006581" cy="634204"/>
          </a:xfrm>
          <a:prstGeom prst="rect">
            <a:avLst/>
          </a:prstGeom>
        </p:spPr>
      </p:pic>
      <p:pic>
        <p:nvPicPr>
          <p:cNvPr id="138" name="Picture 137">
            <a:extLst>
              <a:ext uri="{FF2B5EF4-FFF2-40B4-BE49-F238E27FC236}">
                <a16:creationId xmlns:a16="http://schemas.microsoft.com/office/drawing/2014/main" id="{2CF183D3-000C-DFCE-2CCC-5D0CDA64E705}"/>
              </a:ext>
            </a:extLst>
          </p:cNvPr>
          <p:cNvPicPr>
            <a:picLocks noChangeAspect="1"/>
          </p:cNvPicPr>
          <p:nvPr/>
        </p:nvPicPr>
        <p:blipFill>
          <a:blip r:embed="rId4"/>
          <a:stretch>
            <a:fillRect/>
          </a:stretch>
        </p:blipFill>
        <p:spPr>
          <a:xfrm>
            <a:off x="10709656" y="2414016"/>
            <a:ext cx="985520" cy="341753"/>
          </a:xfrm>
          <a:prstGeom prst="rect">
            <a:avLst/>
          </a:prstGeom>
        </p:spPr>
      </p:pic>
      <p:pic>
        <p:nvPicPr>
          <p:cNvPr id="140" name="Picture 139">
            <a:extLst>
              <a:ext uri="{FF2B5EF4-FFF2-40B4-BE49-F238E27FC236}">
                <a16:creationId xmlns:a16="http://schemas.microsoft.com/office/drawing/2014/main" id="{B207B421-9A26-516C-0076-AEC8EE052666}"/>
              </a:ext>
            </a:extLst>
          </p:cNvPr>
          <p:cNvPicPr>
            <a:picLocks noChangeAspect="1"/>
          </p:cNvPicPr>
          <p:nvPr/>
        </p:nvPicPr>
        <p:blipFill>
          <a:blip r:embed="rId5"/>
          <a:stretch>
            <a:fillRect/>
          </a:stretch>
        </p:blipFill>
        <p:spPr>
          <a:xfrm>
            <a:off x="10724798" y="3084102"/>
            <a:ext cx="970378" cy="5029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7F3"/>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F6F7E"/>
          </a:solidFill>
          <a:ln w="12700">
            <a:noFill/>
            <a:prstDash val="solid"/>
          </a:ln>
        </p:spPr>
        <p:txBody>
          <a:bodyPr/>
          <a:lstStyle/>
          <a:p>
            <a:endParaRPr/>
          </a:p>
        </p:txBody>
      </p:sp>
      <p:sp>
        <p:nvSpPr>
          <p:cNvPr id="3" name="Text 1"/>
          <p:cNvSpPr/>
          <p:nvPr/>
        </p:nvSpPr>
        <p:spPr>
          <a:xfrm>
            <a:off x="11521440" y="237744"/>
            <a:ext cx="347472" cy="182880"/>
          </a:xfrm>
          <a:prstGeom prst="rect">
            <a:avLst/>
          </a:prstGeom>
          <a:noFill/>
          <a:ln>
            <a:noFill/>
          </a:ln>
        </p:spPr>
        <p:txBody>
          <a:bodyPr wrap="square" rtlCol="0" anchor="ctr"/>
          <a:lstStyle/>
          <a:p>
            <a:pPr marL="0" indent="0" algn="r">
              <a:buNone/>
            </a:pPr>
            <a:r>
              <a:rPr lang="en-US" sz="800" dirty="0">
                <a:solidFill>
                  <a:srgbClr val="626B72"/>
                </a:solidFill>
                <a:latin typeface="Aptos" pitchFamily="34" charset="0"/>
                <a:ea typeface="Aptos" pitchFamily="34" charset="-122"/>
                <a:cs typeface="Aptos" pitchFamily="34" charset="-120"/>
              </a:rPr>
              <a:t>10</a:t>
            </a:r>
            <a:endParaRPr lang="en-US" sz="800" dirty="0"/>
          </a:p>
        </p:txBody>
      </p:sp>
      <p:sp>
        <p:nvSpPr>
          <p:cNvPr id="4" name="Text 2"/>
          <p:cNvSpPr/>
          <p:nvPr/>
        </p:nvSpPr>
        <p:spPr>
          <a:xfrm>
            <a:off x="594360" y="384048"/>
            <a:ext cx="5303520" cy="228600"/>
          </a:xfrm>
          <a:prstGeom prst="rect">
            <a:avLst/>
          </a:prstGeom>
          <a:noFill/>
          <a:ln>
            <a:noFill/>
          </a:ln>
        </p:spPr>
        <p:txBody>
          <a:bodyPr wrap="square" rtlCol="0" anchor="ctr"/>
          <a:lstStyle/>
          <a:p>
            <a:pPr marL="0" indent="0">
              <a:buNone/>
            </a:pPr>
            <a:r>
              <a:rPr lang="en-US" sz="900" b="1" dirty="0">
                <a:solidFill>
                  <a:srgbClr val="2F6F7E"/>
                </a:solidFill>
                <a:latin typeface="Aptos" pitchFamily="34" charset="0"/>
                <a:ea typeface="Aptos" pitchFamily="34" charset="-122"/>
                <a:cs typeface="Aptos" pitchFamily="34" charset="-120"/>
              </a:rPr>
              <a:t>VISUAL INSIGHT 5</a:t>
            </a:r>
            <a:endParaRPr lang="en-US" sz="900" dirty="0"/>
          </a:p>
        </p:txBody>
      </p:sp>
      <p:sp>
        <p:nvSpPr>
          <p:cNvPr id="5" name="Text 3"/>
          <p:cNvSpPr/>
          <p:nvPr/>
        </p:nvSpPr>
        <p:spPr>
          <a:xfrm>
            <a:off x="594360" y="658368"/>
            <a:ext cx="10972800" cy="502920"/>
          </a:xfrm>
          <a:prstGeom prst="rect">
            <a:avLst/>
          </a:prstGeom>
          <a:noFill/>
          <a:ln>
            <a:noFill/>
          </a:ln>
        </p:spPr>
        <p:txBody>
          <a:bodyPr wrap="square" lIns="0" tIns="0" rIns="0" bIns="0" rtlCol="0" anchor="ctr">
            <a:normAutofit/>
          </a:bodyPr>
          <a:lstStyle/>
          <a:p>
            <a:pPr marL="0" indent="0">
              <a:buNone/>
            </a:pPr>
            <a:r>
              <a:rPr lang="en-US" sz="2500" b="1" dirty="0">
                <a:solidFill>
                  <a:srgbClr val="263238"/>
                </a:solidFill>
                <a:latin typeface="Aptos Display" pitchFamily="34" charset="0"/>
                <a:ea typeface="Aptos Display" pitchFamily="34" charset="-122"/>
                <a:cs typeface="Aptos Display" pitchFamily="34" charset="-120"/>
              </a:rPr>
              <a:t>The Best Growth Bets Combine Reach and Staying Power</a:t>
            </a:r>
            <a:endParaRPr lang="en-US" sz="2500" dirty="0"/>
          </a:p>
        </p:txBody>
      </p:sp>
      <p:sp>
        <p:nvSpPr>
          <p:cNvPr id="6" name="Text 4"/>
          <p:cNvSpPr/>
          <p:nvPr/>
        </p:nvSpPr>
        <p:spPr>
          <a:xfrm>
            <a:off x="713232" y="1097280"/>
            <a:ext cx="9326880" cy="292608"/>
          </a:xfrm>
          <a:prstGeom prst="rect">
            <a:avLst/>
          </a:prstGeom>
          <a:noFill/>
          <a:ln>
            <a:noFill/>
          </a:ln>
        </p:spPr>
        <p:txBody>
          <a:bodyPr wrap="square" rtlCol="0" anchor="ctr">
            <a:normAutofit/>
          </a:bodyPr>
          <a:lstStyle/>
          <a:p>
            <a:pPr marL="0" indent="0">
              <a:buNone/>
            </a:pPr>
            <a:r>
              <a:rPr lang="en-US" sz="1300" dirty="0">
                <a:solidFill>
                  <a:srgbClr val="263238"/>
                </a:solidFill>
                <a:latin typeface="Aptos" pitchFamily="34" charset="0"/>
                <a:ea typeface="Aptos" pitchFamily="34" charset="-122"/>
                <a:cs typeface="Aptos" pitchFamily="34" charset="-120"/>
              </a:rPr>
              <a:t>The strongest investment signals come from titles that reach many countries and remain in the Global Top 10 for several weeks.</a:t>
            </a:r>
            <a:endParaRPr lang="en-US" sz="1300" dirty="0"/>
          </a:p>
        </p:txBody>
      </p:sp>
      <p:sp>
        <p:nvSpPr>
          <p:cNvPr id="7" name="Shape 5"/>
          <p:cNvSpPr/>
          <p:nvPr/>
        </p:nvSpPr>
        <p:spPr>
          <a:xfrm>
            <a:off x="1005840" y="1828800"/>
            <a:ext cx="8138160" cy="3886200"/>
          </a:xfrm>
          <a:prstGeom prst="rect">
            <a:avLst/>
          </a:prstGeom>
          <a:solidFill>
            <a:srgbClr val="FFFFFF"/>
          </a:solidFill>
          <a:ln w="12700">
            <a:solidFill>
              <a:srgbClr val="D5D8DC"/>
            </a:solidFill>
            <a:prstDash val="solid"/>
          </a:ln>
        </p:spPr>
        <p:txBody>
          <a:bodyPr/>
          <a:lstStyle/>
          <a:p>
            <a:endParaRPr/>
          </a:p>
        </p:txBody>
      </p:sp>
      <p:sp>
        <p:nvSpPr>
          <p:cNvPr id="8" name="Shape 6"/>
          <p:cNvSpPr/>
          <p:nvPr/>
        </p:nvSpPr>
        <p:spPr>
          <a:xfrm>
            <a:off x="1005840" y="1828800"/>
            <a:ext cx="0" cy="3886200"/>
          </a:xfrm>
          <a:prstGeom prst="line">
            <a:avLst/>
          </a:prstGeom>
          <a:noFill/>
          <a:ln w="6350">
            <a:solidFill>
              <a:srgbClr val="D5D8DC"/>
            </a:solidFill>
            <a:prstDash val="solid"/>
          </a:ln>
        </p:spPr>
        <p:txBody>
          <a:bodyPr/>
          <a:lstStyle/>
          <a:p>
            <a:endParaRPr/>
          </a:p>
        </p:txBody>
      </p:sp>
      <p:sp>
        <p:nvSpPr>
          <p:cNvPr id="9" name="Text 7"/>
          <p:cNvSpPr/>
          <p:nvPr/>
        </p:nvSpPr>
        <p:spPr>
          <a:xfrm>
            <a:off x="868680" y="5788152"/>
            <a:ext cx="320040" cy="137160"/>
          </a:xfrm>
          <a:prstGeom prst="rect">
            <a:avLst/>
          </a:prstGeom>
          <a:noFill/>
          <a:ln>
            <a:noFill/>
          </a:ln>
        </p:spPr>
        <p:txBody>
          <a:bodyPr wrap="square" rtlCol="0" anchor="ctr"/>
          <a:lstStyle/>
          <a:p>
            <a:pPr marL="0" indent="0" algn="ctr">
              <a:buNone/>
            </a:pPr>
            <a:r>
              <a:rPr lang="en-US" sz="750" dirty="0">
                <a:solidFill>
                  <a:srgbClr val="626B72"/>
                </a:solidFill>
                <a:latin typeface="Aptos" pitchFamily="34" charset="0"/>
                <a:ea typeface="Aptos" pitchFamily="34" charset="-122"/>
                <a:cs typeface="Aptos" pitchFamily="34" charset="-120"/>
              </a:rPr>
              <a:t>20</a:t>
            </a:r>
            <a:endParaRPr lang="en-US" sz="750" dirty="0"/>
          </a:p>
        </p:txBody>
      </p:sp>
      <p:sp>
        <p:nvSpPr>
          <p:cNvPr id="10" name="Shape 8"/>
          <p:cNvSpPr/>
          <p:nvPr/>
        </p:nvSpPr>
        <p:spPr>
          <a:xfrm>
            <a:off x="3040380" y="1828800"/>
            <a:ext cx="0" cy="3886200"/>
          </a:xfrm>
          <a:prstGeom prst="line">
            <a:avLst/>
          </a:prstGeom>
          <a:noFill/>
          <a:ln w="6350">
            <a:solidFill>
              <a:srgbClr val="D5D8DC"/>
            </a:solidFill>
            <a:prstDash val="solid"/>
          </a:ln>
        </p:spPr>
        <p:txBody>
          <a:bodyPr/>
          <a:lstStyle/>
          <a:p>
            <a:endParaRPr/>
          </a:p>
        </p:txBody>
      </p:sp>
      <p:sp>
        <p:nvSpPr>
          <p:cNvPr id="11" name="Text 9"/>
          <p:cNvSpPr/>
          <p:nvPr/>
        </p:nvSpPr>
        <p:spPr>
          <a:xfrm>
            <a:off x="2903220" y="5788152"/>
            <a:ext cx="320040" cy="137160"/>
          </a:xfrm>
          <a:prstGeom prst="rect">
            <a:avLst/>
          </a:prstGeom>
          <a:noFill/>
          <a:ln>
            <a:noFill/>
          </a:ln>
        </p:spPr>
        <p:txBody>
          <a:bodyPr wrap="square" rtlCol="0" anchor="ctr"/>
          <a:lstStyle/>
          <a:p>
            <a:pPr marL="0" indent="0" algn="ctr">
              <a:buNone/>
            </a:pPr>
            <a:r>
              <a:rPr lang="en-US" sz="750" dirty="0">
                <a:solidFill>
                  <a:srgbClr val="626B72"/>
                </a:solidFill>
                <a:latin typeface="Aptos" pitchFamily="34" charset="0"/>
                <a:ea typeface="Aptos" pitchFamily="34" charset="-122"/>
                <a:cs typeface="Aptos" pitchFamily="34" charset="-120"/>
              </a:rPr>
              <a:t>40</a:t>
            </a:r>
            <a:endParaRPr lang="en-US" sz="750" dirty="0"/>
          </a:p>
        </p:txBody>
      </p:sp>
      <p:sp>
        <p:nvSpPr>
          <p:cNvPr id="12" name="Shape 10"/>
          <p:cNvSpPr/>
          <p:nvPr/>
        </p:nvSpPr>
        <p:spPr>
          <a:xfrm>
            <a:off x="5074920" y="1828800"/>
            <a:ext cx="0" cy="3886200"/>
          </a:xfrm>
          <a:prstGeom prst="line">
            <a:avLst/>
          </a:prstGeom>
          <a:noFill/>
          <a:ln w="6350">
            <a:solidFill>
              <a:srgbClr val="D5D8DC"/>
            </a:solidFill>
            <a:prstDash val="solid"/>
          </a:ln>
        </p:spPr>
        <p:txBody>
          <a:bodyPr/>
          <a:lstStyle/>
          <a:p>
            <a:endParaRPr/>
          </a:p>
        </p:txBody>
      </p:sp>
      <p:sp>
        <p:nvSpPr>
          <p:cNvPr id="13" name="Text 11"/>
          <p:cNvSpPr/>
          <p:nvPr/>
        </p:nvSpPr>
        <p:spPr>
          <a:xfrm>
            <a:off x="4937760" y="5788152"/>
            <a:ext cx="320040" cy="137160"/>
          </a:xfrm>
          <a:prstGeom prst="rect">
            <a:avLst/>
          </a:prstGeom>
          <a:noFill/>
          <a:ln>
            <a:noFill/>
          </a:ln>
        </p:spPr>
        <p:txBody>
          <a:bodyPr wrap="square" rtlCol="0" anchor="ctr"/>
          <a:lstStyle/>
          <a:p>
            <a:pPr marL="0" indent="0" algn="ctr">
              <a:buNone/>
            </a:pPr>
            <a:r>
              <a:rPr lang="en-US" sz="750" dirty="0">
                <a:solidFill>
                  <a:srgbClr val="626B72"/>
                </a:solidFill>
                <a:latin typeface="Aptos" pitchFamily="34" charset="0"/>
                <a:ea typeface="Aptos" pitchFamily="34" charset="-122"/>
                <a:cs typeface="Aptos" pitchFamily="34" charset="-120"/>
              </a:rPr>
              <a:t>60</a:t>
            </a:r>
            <a:endParaRPr lang="en-US" sz="750" dirty="0"/>
          </a:p>
        </p:txBody>
      </p:sp>
      <p:sp>
        <p:nvSpPr>
          <p:cNvPr id="14" name="Shape 12"/>
          <p:cNvSpPr/>
          <p:nvPr/>
        </p:nvSpPr>
        <p:spPr>
          <a:xfrm>
            <a:off x="7109460" y="1828800"/>
            <a:ext cx="0" cy="3886200"/>
          </a:xfrm>
          <a:prstGeom prst="line">
            <a:avLst/>
          </a:prstGeom>
          <a:noFill/>
          <a:ln w="6350">
            <a:solidFill>
              <a:srgbClr val="D5D8DC"/>
            </a:solidFill>
            <a:prstDash val="solid"/>
          </a:ln>
        </p:spPr>
        <p:txBody>
          <a:bodyPr/>
          <a:lstStyle/>
          <a:p>
            <a:endParaRPr/>
          </a:p>
        </p:txBody>
      </p:sp>
      <p:sp>
        <p:nvSpPr>
          <p:cNvPr id="15" name="Text 13"/>
          <p:cNvSpPr/>
          <p:nvPr/>
        </p:nvSpPr>
        <p:spPr>
          <a:xfrm>
            <a:off x="6972300" y="5788152"/>
            <a:ext cx="320040" cy="137160"/>
          </a:xfrm>
          <a:prstGeom prst="rect">
            <a:avLst/>
          </a:prstGeom>
          <a:noFill/>
          <a:ln>
            <a:noFill/>
          </a:ln>
        </p:spPr>
        <p:txBody>
          <a:bodyPr wrap="square" rtlCol="0" anchor="ctr"/>
          <a:lstStyle/>
          <a:p>
            <a:pPr marL="0" indent="0" algn="ctr">
              <a:buNone/>
            </a:pPr>
            <a:r>
              <a:rPr lang="en-US" sz="750" dirty="0">
                <a:solidFill>
                  <a:srgbClr val="626B72"/>
                </a:solidFill>
                <a:latin typeface="Aptos" pitchFamily="34" charset="0"/>
                <a:ea typeface="Aptos" pitchFamily="34" charset="-122"/>
                <a:cs typeface="Aptos" pitchFamily="34" charset="-120"/>
              </a:rPr>
              <a:t>80</a:t>
            </a:r>
            <a:endParaRPr lang="en-US" sz="750" dirty="0"/>
          </a:p>
        </p:txBody>
      </p:sp>
      <p:sp>
        <p:nvSpPr>
          <p:cNvPr id="16" name="Shape 14"/>
          <p:cNvSpPr/>
          <p:nvPr/>
        </p:nvSpPr>
        <p:spPr>
          <a:xfrm>
            <a:off x="9144000" y="1828800"/>
            <a:ext cx="0" cy="3886200"/>
          </a:xfrm>
          <a:prstGeom prst="line">
            <a:avLst/>
          </a:prstGeom>
          <a:noFill/>
          <a:ln w="6350">
            <a:solidFill>
              <a:srgbClr val="D5D8DC"/>
            </a:solidFill>
            <a:prstDash val="solid"/>
          </a:ln>
        </p:spPr>
        <p:txBody>
          <a:bodyPr/>
          <a:lstStyle/>
          <a:p>
            <a:endParaRPr/>
          </a:p>
        </p:txBody>
      </p:sp>
      <p:sp>
        <p:nvSpPr>
          <p:cNvPr id="17" name="Text 15"/>
          <p:cNvSpPr/>
          <p:nvPr/>
        </p:nvSpPr>
        <p:spPr>
          <a:xfrm>
            <a:off x="9006840" y="5788152"/>
            <a:ext cx="320040" cy="137160"/>
          </a:xfrm>
          <a:prstGeom prst="rect">
            <a:avLst/>
          </a:prstGeom>
          <a:noFill/>
          <a:ln>
            <a:noFill/>
          </a:ln>
        </p:spPr>
        <p:txBody>
          <a:bodyPr wrap="square" rtlCol="0" anchor="ctr"/>
          <a:lstStyle/>
          <a:p>
            <a:pPr marL="0" indent="0" algn="ctr">
              <a:buNone/>
            </a:pPr>
            <a:r>
              <a:rPr lang="en-US" sz="750" dirty="0">
                <a:solidFill>
                  <a:srgbClr val="626B72"/>
                </a:solidFill>
                <a:latin typeface="Aptos" pitchFamily="34" charset="0"/>
                <a:ea typeface="Aptos" pitchFamily="34" charset="-122"/>
                <a:cs typeface="Aptos" pitchFamily="34" charset="-120"/>
              </a:rPr>
              <a:t>100</a:t>
            </a:r>
            <a:endParaRPr lang="en-US" sz="750" dirty="0"/>
          </a:p>
        </p:txBody>
      </p:sp>
      <p:sp>
        <p:nvSpPr>
          <p:cNvPr id="18" name="Shape 16"/>
          <p:cNvSpPr/>
          <p:nvPr/>
        </p:nvSpPr>
        <p:spPr>
          <a:xfrm>
            <a:off x="1005840" y="5715000"/>
            <a:ext cx="8138160" cy="0"/>
          </a:xfrm>
          <a:prstGeom prst="line">
            <a:avLst/>
          </a:prstGeom>
          <a:noFill/>
          <a:ln w="6350">
            <a:solidFill>
              <a:srgbClr val="D5D8DC"/>
            </a:solidFill>
            <a:prstDash val="solid"/>
          </a:ln>
        </p:spPr>
        <p:txBody>
          <a:bodyPr/>
          <a:lstStyle/>
          <a:p>
            <a:endParaRPr/>
          </a:p>
        </p:txBody>
      </p:sp>
      <p:sp>
        <p:nvSpPr>
          <p:cNvPr id="19" name="Text 17"/>
          <p:cNvSpPr/>
          <p:nvPr/>
        </p:nvSpPr>
        <p:spPr>
          <a:xfrm>
            <a:off x="621792" y="5641848"/>
            <a:ext cx="274320" cy="137160"/>
          </a:xfrm>
          <a:prstGeom prst="rect">
            <a:avLst/>
          </a:prstGeom>
          <a:noFill/>
          <a:ln>
            <a:noFill/>
          </a:ln>
        </p:spPr>
        <p:txBody>
          <a:bodyPr wrap="square" rtlCol="0" anchor="ctr"/>
          <a:lstStyle/>
          <a:p>
            <a:pPr marL="0" indent="0" algn="r">
              <a:buNone/>
            </a:pPr>
            <a:r>
              <a:rPr lang="en-US" sz="750" dirty="0">
                <a:solidFill>
                  <a:srgbClr val="626B72"/>
                </a:solidFill>
                <a:latin typeface="Aptos" pitchFamily="34" charset="0"/>
                <a:ea typeface="Aptos" pitchFamily="34" charset="-122"/>
                <a:cs typeface="Aptos" pitchFamily="34" charset="-120"/>
              </a:rPr>
              <a:t>0</a:t>
            </a:r>
            <a:endParaRPr lang="en-US" sz="750" dirty="0"/>
          </a:p>
        </p:txBody>
      </p:sp>
      <p:sp>
        <p:nvSpPr>
          <p:cNvPr id="20" name="Shape 18"/>
          <p:cNvSpPr/>
          <p:nvPr/>
        </p:nvSpPr>
        <p:spPr>
          <a:xfrm>
            <a:off x="1005840" y="4743450"/>
            <a:ext cx="8138160" cy="0"/>
          </a:xfrm>
          <a:prstGeom prst="line">
            <a:avLst/>
          </a:prstGeom>
          <a:noFill/>
          <a:ln w="6350">
            <a:solidFill>
              <a:srgbClr val="D5D8DC"/>
            </a:solidFill>
            <a:prstDash val="solid"/>
          </a:ln>
        </p:spPr>
        <p:txBody>
          <a:bodyPr/>
          <a:lstStyle/>
          <a:p>
            <a:endParaRPr/>
          </a:p>
        </p:txBody>
      </p:sp>
      <p:sp>
        <p:nvSpPr>
          <p:cNvPr id="21" name="Text 19"/>
          <p:cNvSpPr/>
          <p:nvPr/>
        </p:nvSpPr>
        <p:spPr>
          <a:xfrm>
            <a:off x="621792" y="4670298"/>
            <a:ext cx="274320" cy="137160"/>
          </a:xfrm>
          <a:prstGeom prst="rect">
            <a:avLst/>
          </a:prstGeom>
          <a:noFill/>
          <a:ln>
            <a:noFill/>
          </a:ln>
        </p:spPr>
        <p:txBody>
          <a:bodyPr wrap="square" rtlCol="0" anchor="ctr"/>
          <a:lstStyle/>
          <a:p>
            <a:pPr marL="0" indent="0" algn="r">
              <a:buNone/>
            </a:pPr>
            <a:r>
              <a:rPr lang="en-US" sz="750" dirty="0">
                <a:solidFill>
                  <a:srgbClr val="626B72"/>
                </a:solidFill>
                <a:latin typeface="Aptos" pitchFamily="34" charset="0"/>
                <a:ea typeface="Aptos" pitchFamily="34" charset="-122"/>
                <a:cs typeface="Aptos" pitchFamily="34" charset="-120"/>
              </a:rPr>
              <a:t>6</a:t>
            </a:r>
            <a:endParaRPr lang="en-US" sz="750" dirty="0"/>
          </a:p>
        </p:txBody>
      </p:sp>
      <p:sp>
        <p:nvSpPr>
          <p:cNvPr id="22" name="Shape 20"/>
          <p:cNvSpPr/>
          <p:nvPr/>
        </p:nvSpPr>
        <p:spPr>
          <a:xfrm>
            <a:off x="1005840" y="3771900"/>
            <a:ext cx="8138160" cy="0"/>
          </a:xfrm>
          <a:prstGeom prst="line">
            <a:avLst/>
          </a:prstGeom>
          <a:noFill/>
          <a:ln w="6350">
            <a:solidFill>
              <a:srgbClr val="D5D8DC"/>
            </a:solidFill>
            <a:prstDash val="solid"/>
          </a:ln>
        </p:spPr>
        <p:txBody>
          <a:bodyPr/>
          <a:lstStyle/>
          <a:p>
            <a:endParaRPr/>
          </a:p>
        </p:txBody>
      </p:sp>
      <p:sp>
        <p:nvSpPr>
          <p:cNvPr id="23" name="Text 21"/>
          <p:cNvSpPr/>
          <p:nvPr/>
        </p:nvSpPr>
        <p:spPr>
          <a:xfrm>
            <a:off x="621792" y="3698748"/>
            <a:ext cx="274320" cy="137160"/>
          </a:xfrm>
          <a:prstGeom prst="rect">
            <a:avLst/>
          </a:prstGeom>
          <a:noFill/>
          <a:ln>
            <a:noFill/>
          </a:ln>
        </p:spPr>
        <p:txBody>
          <a:bodyPr wrap="square" rtlCol="0" anchor="ctr"/>
          <a:lstStyle/>
          <a:p>
            <a:pPr marL="0" indent="0" algn="r">
              <a:buNone/>
            </a:pPr>
            <a:r>
              <a:rPr lang="en-US" sz="750" dirty="0">
                <a:solidFill>
                  <a:srgbClr val="626B72"/>
                </a:solidFill>
                <a:latin typeface="Aptos" pitchFamily="34" charset="0"/>
                <a:ea typeface="Aptos" pitchFamily="34" charset="-122"/>
                <a:cs typeface="Aptos" pitchFamily="34" charset="-120"/>
              </a:rPr>
              <a:t>12</a:t>
            </a:r>
            <a:endParaRPr lang="en-US" sz="750" dirty="0"/>
          </a:p>
        </p:txBody>
      </p:sp>
      <p:sp>
        <p:nvSpPr>
          <p:cNvPr id="24" name="Shape 22"/>
          <p:cNvSpPr/>
          <p:nvPr/>
        </p:nvSpPr>
        <p:spPr>
          <a:xfrm>
            <a:off x="1005840" y="2800350"/>
            <a:ext cx="8138160" cy="0"/>
          </a:xfrm>
          <a:prstGeom prst="line">
            <a:avLst/>
          </a:prstGeom>
          <a:noFill/>
          <a:ln w="6350">
            <a:solidFill>
              <a:srgbClr val="D5D8DC"/>
            </a:solidFill>
            <a:prstDash val="solid"/>
          </a:ln>
        </p:spPr>
        <p:txBody>
          <a:bodyPr/>
          <a:lstStyle/>
          <a:p>
            <a:endParaRPr/>
          </a:p>
        </p:txBody>
      </p:sp>
      <p:sp>
        <p:nvSpPr>
          <p:cNvPr id="25" name="Text 23"/>
          <p:cNvSpPr/>
          <p:nvPr/>
        </p:nvSpPr>
        <p:spPr>
          <a:xfrm>
            <a:off x="621792" y="2727198"/>
            <a:ext cx="274320" cy="137160"/>
          </a:xfrm>
          <a:prstGeom prst="rect">
            <a:avLst/>
          </a:prstGeom>
          <a:noFill/>
          <a:ln>
            <a:noFill/>
          </a:ln>
        </p:spPr>
        <p:txBody>
          <a:bodyPr wrap="square" rtlCol="0" anchor="ctr"/>
          <a:lstStyle/>
          <a:p>
            <a:pPr marL="0" indent="0" algn="r">
              <a:buNone/>
            </a:pPr>
            <a:r>
              <a:rPr lang="en-US" sz="750" dirty="0">
                <a:solidFill>
                  <a:srgbClr val="626B72"/>
                </a:solidFill>
                <a:latin typeface="Aptos" pitchFamily="34" charset="0"/>
                <a:ea typeface="Aptos" pitchFamily="34" charset="-122"/>
                <a:cs typeface="Aptos" pitchFamily="34" charset="-120"/>
              </a:rPr>
              <a:t>18</a:t>
            </a:r>
            <a:endParaRPr lang="en-US" sz="750" dirty="0"/>
          </a:p>
        </p:txBody>
      </p:sp>
      <p:sp>
        <p:nvSpPr>
          <p:cNvPr id="26" name="Shape 24"/>
          <p:cNvSpPr/>
          <p:nvPr/>
        </p:nvSpPr>
        <p:spPr>
          <a:xfrm>
            <a:off x="1005840" y="1828800"/>
            <a:ext cx="8138160" cy="0"/>
          </a:xfrm>
          <a:prstGeom prst="line">
            <a:avLst/>
          </a:prstGeom>
          <a:noFill/>
          <a:ln w="6350">
            <a:solidFill>
              <a:srgbClr val="D5D8DC"/>
            </a:solidFill>
            <a:prstDash val="solid"/>
          </a:ln>
        </p:spPr>
        <p:txBody>
          <a:bodyPr/>
          <a:lstStyle/>
          <a:p>
            <a:endParaRPr/>
          </a:p>
        </p:txBody>
      </p:sp>
      <p:sp>
        <p:nvSpPr>
          <p:cNvPr id="27" name="Text 25"/>
          <p:cNvSpPr/>
          <p:nvPr/>
        </p:nvSpPr>
        <p:spPr>
          <a:xfrm>
            <a:off x="621792" y="1755648"/>
            <a:ext cx="274320" cy="137160"/>
          </a:xfrm>
          <a:prstGeom prst="rect">
            <a:avLst/>
          </a:prstGeom>
          <a:noFill/>
          <a:ln>
            <a:noFill/>
          </a:ln>
        </p:spPr>
        <p:txBody>
          <a:bodyPr wrap="square" rtlCol="0" anchor="ctr"/>
          <a:lstStyle/>
          <a:p>
            <a:pPr marL="0" indent="0" algn="r">
              <a:buNone/>
            </a:pPr>
            <a:r>
              <a:rPr lang="en-US" sz="750" dirty="0">
                <a:solidFill>
                  <a:srgbClr val="626B72"/>
                </a:solidFill>
                <a:latin typeface="Aptos" pitchFamily="34" charset="0"/>
                <a:ea typeface="Aptos" pitchFamily="34" charset="-122"/>
                <a:cs typeface="Aptos" pitchFamily="34" charset="-120"/>
              </a:rPr>
              <a:t>24</a:t>
            </a:r>
            <a:endParaRPr lang="en-US" sz="750" dirty="0"/>
          </a:p>
        </p:txBody>
      </p:sp>
      <p:sp>
        <p:nvSpPr>
          <p:cNvPr id="28" name="Shape 26"/>
          <p:cNvSpPr/>
          <p:nvPr/>
        </p:nvSpPr>
        <p:spPr>
          <a:xfrm>
            <a:off x="8340197" y="1959209"/>
            <a:ext cx="386881" cy="386881"/>
          </a:xfrm>
          <a:prstGeom prst="ellipse">
            <a:avLst/>
          </a:prstGeom>
          <a:solidFill>
            <a:srgbClr val="2F6F7E"/>
          </a:solidFill>
          <a:ln w="6350">
            <a:noFill/>
            <a:prstDash val="solid"/>
          </a:ln>
        </p:spPr>
        <p:txBody>
          <a:bodyPr/>
          <a:lstStyle/>
          <a:p>
            <a:endParaRPr/>
          </a:p>
        </p:txBody>
      </p:sp>
      <p:sp>
        <p:nvSpPr>
          <p:cNvPr id="29" name="Text 27"/>
          <p:cNvSpPr/>
          <p:nvPr/>
        </p:nvSpPr>
        <p:spPr>
          <a:xfrm>
            <a:off x="8763655" y="1940921"/>
            <a:ext cx="1371600" cy="146304"/>
          </a:xfrm>
          <a:prstGeom prst="rect">
            <a:avLst/>
          </a:prstGeom>
          <a:noFill/>
          <a:ln>
            <a:noFill/>
          </a:ln>
        </p:spPr>
        <p:txBody>
          <a:bodyPr wrap="square" rtlCol="0" anchor="ctr">
            <a:normAutofit fontScale="55000" lnSpcReduction="20000"/>
          </a:bodyPr>
          <a:lstStyle/>
          <a:p>
            <a:pPr marL="0" indent="0">
              <a:buNone/>
            </a:pPr>
            <a:r>
              <a:rPr lang="en-US" sz="800" dirty="0">
                <a:solidFill>
                  <a:srgbClr val="263238"/>
                </a:solidFill>
                <a:latin typeface="Aptos" pitchFamily="34" charset="0"/>
                <a:ea typeface="Aptos" pitchFamily="34" charset="-122"/>
                <a:cs typeface="Aptos" pitchFamily="34" charset="-120"/>
              </a:rPr>
              <a:t>Squid Game: S1</a:t>
            </a:r>
            <a:endParaRPr lang="en-US" sz="800" dirty="0"/>
          </a:p>
        </p:txBody>
      </p:sp>
      <p:sp>
        <p:nvSpPr>
          <p:cNvPr id="30" name="Shape 28"/>
          <p:cNvSpPr/>
          <p:nvPr/>
        </p:nvSpPr>
        <p:spPr>
          <a:xfrm>
            <a:off x="8425875" y="3826062"/>
            <a:ext cx="215526" cy="215526"/>
          </a:xfrm>
          <a:prstGeom prst="ellipse">
            <a:avLst/>
          </a:prstGeom>
          <a:solidFill>
            <a:srgbClr val="B07636">
              <a:alpha val="85000"/>
            </a:srgbClr>
          </a:solidFill>
          <a:ln w="6350">
            <a:noFill/>
            <a:prstDash val="solid"/>
          </a:ln>
        </p:spPr>
        <p:txBody>
          <a:bodyPr/>
          <a:lstStyle/>
          <a:p>
            <a:endParaRPr/>
          </a:p>
        </p:txBody>
      </p:sp>
      <p:sp>
        <p:nvSpPr>
          <p:cNvPr id="31" name="Text 29"/>
          <p:cNvSpPr/>
          <p:nvPr/>
        </p:nvSpPr>
        <p:spPr>
          <a:xfrm>
            <a:off x="8677977" y="3807774"/>
            <a:ext cx="1371600" cy="146304"/>
          </a:xfrm>
          <a:prstGeom prst="rect">
            <a:avLst/>
          </a:prstGeom>
          <a:noFill/>
          <a:ln>
            <a:noFill/>
          </a:ln>
        </p:spPr>
        <p:txBody>
          <a:bodyPr wrap="square" rtlCol="0" anchor="ctr">
            <a:normAutofit fontScale="62500" lnSpcReduction="20000"/>
          </a:bodyPr>
          <a:lstStyle/>
          <a:p>
            <a:pPr marL="0" indent="0">
              <a:buNone/>
            </a:pPr>
            <a:r>
              <a:rPr lang="en-US" sz="650" dirty="0">
                <a:solidFill>
                  <a:srgbClr val="263238"/>
                </a:solidFill>
                <a:latin typeface="Aptos" pitchFamily="34" charset="0"/>
                <a:ea typeface="Aptos" pitchFamily="34" charset="-122"/>
                <a:cs typeface="Aptos" pitchFamily="34" charset="-120"/>
              </a:rPr>
              <a:t>All of Us Are Dead: S1</a:t>
            </a:r>
            <a:endParaRPr lang="en-US" sz="650" dirty="0"/>
          </a:p>
        </p:txBody>
      </p:sp>
      <p:sp>
        <p:nvSpPr>
          <p:cNvPr id="32" name="Shape 30"/>
          <p:cNvSpPr/>
          <p:nvPr/>
        </p:nvSpPr>
        <p:spPr>
          <a:xfrm>
            <a:off x="8324148" y="4311837"/>
            <a:ext cx="215526" cy="215526"/>
          </a:xfrm>
          <a:prstGeom prst="ellipse">
            <a:avLst/>
          </a:prstGeom>
          <a:solidFill>
            <a:srgbClr val="B07636">
              <a:alpha val="85000"/>
            </a:srgbClr>
          </a:solidFill>
          <a:ln w="6350">
            <a:noFill/>
            <a:prstDash val="solid"/>
          </a:ln>
        </p:spPr>
        <p:txBody>
          <a:bodyPr/>
          <a:lstStyle/>
          <a:p>
            <a:endParaRPr/>
          </a:p>
        </p:txBody>
      </p:sp>
      <p:sp>
        <p:nvSpPr>
          <p:cNvPr id="33" name="Text 31"/>
          <p:cNvSpPr/>
          <p:nvPr/>
        </p:nvSpPr>
        <p:spPr>
          <a:xfrm>
            <a:off x="8576250" y="4293549"/>
            <a:ext cx="1371600" cy="146304"/>
          </a:xfrm>
          <a:prstGeom prst="rect">
            <a:avLst/>
          </a:prstGeom>
          <a:noFill/>
          <a:ln>
            <a:noFill/>
          </a:ln>
        </p:spPr>
        <p:txBody>
          <a:bodyPr wrap="square" rtlCol="0" anchor="ctr">
            <a:normAutofit fontScale="62500" lnSpcReduction="20000"/>
          </a:bodyPr>
          <a:lstStyle/>
          <a:p>
            <a:pPr marL="0" indent="0">
              <a:buNone/>
            </a:pPr>
            <a:r>
              <a:rPr lang="en-US" sz="650" dirty="0">
                <a:solidFill>
                  <a:srgbClr val="263238"/>
                </a:solidFill>
                <a:latin typeface="Aptos" pitchFamily="34" charset="0"/>
                <a:ea typeface="Aptos" pitchFamily="34" charset="-122"/>
                <a:cs typeface="Aptos" pitchFamily="34" charset="-120"/>
              </a:rPr>
              <a:t>ONE PIECE: S1</a:t>
            </a:r>
            <a:endParaRPr lang="en-US" sz="650" dirty="0"/>
          </a:p>
        </p:txBody>
      </p:sp>
      <p:sp>
        <p:nvSpPr>
          <p:cNvPr id="34" name="Shape 32"/>
          <p:cNvSpPr/>
          <p:nvPr/>
        </p:nvSpPr>
        <p:spPr>
          <a:xfrm>
            <a:off x="8242196" y="4817387"/>
            <a:ext cx="175976" cy="175976"/>
          </a:xfrm>
          <a:prstGeom prst="ellipse">
            <a:avLst/>
          </a:prstGeom>
          <a:solidFill>
            <a:srgbClr val="B07636">
              <a:alpha val="85000"/>
            </a:srgbClr>
          </a:solidFill>
          <a:ln w="6350">
            <a:noFill/>
            <a:prstDash val="solid"/>
          </a:ln>
        </p:spPr>
        <p:txBody>
          <a:bodyPr/>
          <a:lstStyle/>
          <a:p>
            <a:endParaRPr/>
          </a:p>
        </p:txBody>
      </p:sp>
      <p:sp>
        <p:nvSpPr>
          <p:cNvPr id="35" name="Text 33"/>
          <p:cNvSpPr/>
          <p:nvPr/>
        </p:nvSpPr>
        <p:spPr>
          <a:xfrm>
            <a:off x="8454748" y="4799099"/>
            <a:ext cx="1371600" cy="146304"/>
          </a:xfrm>
          <a:prstGeom prst="rect">
            <a:avLst/>
          </a:prstGeom>
          <a:noFill/>
          <a:ln>
            <a:noFill/>
          </a:ln>
        </p:spPr>
        <p:txBody>
          <a:bodyPr wrap="square" rtlCol="0" anchor="ctr">
            <a:normAutofit fontScale="62500" lnSpcReduction="20000"/>
          </a:bodyPr>
          <a:lstStyle/>
          <a:p>
            <a:pPr marL="0" indent="0">
              <a:buNone/>
            </a:pPr>
            <a:r>
              <a:rPr lang="en-US" sz="650" dirty="0">
                <a:solidFill>
                  <a:srgbClr val="263238"/>
                </a:solidFill>
                <a:latin typeface="Aptos" pitchFamily="34" charset="0"/>
                <a:ea typeface="Aptos" pitchFamily="34" charset="-122"/>
                <a:cs typeface="Aptos" pitchFamily="34" charset="-120"/>
              </a:rPr>
              <a:t>Alice in Borderland: S2</a:t>
            </a:r>
            <a:endParaRPr lang="en-US" sz="650" dirty="0"/>
          </a:p>
        </p:txBody>
      </p:sp>
      <p:sp>
        <p:nvSpPr>
          <p:cNvPr id="36" name="Shape 34"/>
          <p:cNvSpPr/>
          <p:nvPr/>
        </p:nvSpPr>
        <p:spPr>
          <a:xfrm>
            <a:off x="7241072" y="4671608"/>
            <a:ext cx="143684" cy="143684"/>
          </a:xfrm>
          <a:prstGeom prst="ellipse">
            <a:avLst/>
          </a:prstGeom>
          <a:solidFill>
            <a:srgbClr val="B07636">
              <a:alpha val="85000"/>
            </a:srgbClr>
          </a:solidFill>
          <a:ln w="6350">
            <a:noFill/>
            <a:prstDash val="solid"/>
          </a:ln>
        </p:spPr>
        <p:txBody>
          <a:bodyPr/>
          <a:lstStyle/>
          <a:p>
            <a:endParaRPr/>
          </a:p>
        </p:txBody>
      </p:sp>
      <p:sp>
        <p:nvSpPr>
          <p:cNvPr id="37" name="Text 35"/>
          <p:cNvSpPr/>
          <p:nvPr/>
        </p:nvSpPr>
        <p:spPr>
          <a:xfrm>
            <a:off x="7421332" y="4653320"/>
            <a:ext cx="1371600" cy="146304"/>
          </a:xfrm>
          <a:prstGeom prst="rect">
            <a:avLst/>
          </a:prstGeom>
          <a:noFill/>
          <a:ln>
            <a:noFill/>
          </a:ln>
        </p:spPr>
        <p:txBody>
          <a:bodyPr wrap="square" rtlCol="0" anchor="ctr">
            <a:normAutofit fontScale="62500" lnSpcReduction="20000"/>
          </a:bodyPr>
          <a:lstStyle/>
          <a:p>
            <a:pPr marL="0" indent="0">
              <a:buNone/>
            </a:pPr>
            <a:r>
              <a:rPr lang="en-US" sz="650" dirty="0">
                <a:solidFill>
                  <a:srgbClr val="263238"/>
                </a:solidFill>
                <a:latin typeface="Aptos" pitchFamily="34" charset="0"/>
                <a:ea typeface="Aptos" pitchFamily="34" charset="-122"/>
                <a:cs typeface="Aptos" pitchFamily="34" charset="-120"/>
              </a:rPr>
              <a:t>Physical: 100: S1</a:t>
            </a:r>
            <a:endParaRPr lang="en-US" sz="650" dirty="0"/>
          </a:p>
        </p:txBody>
      </p:sp>
      <p:sp>
        <p:nvSpPr>
          <p:cNvPr id="38" name="Shape 36"/>
          <p:cNvSpPr/>
          <p:nvPr/>
        </p:nvSpPr>
        <p:spPr>
          <a:xfrm>
            <a:off x="7749707" y="5157383"/>
            <a:ext cx="143684" cy="143684"/>
          </a:xfrm>
          <a:prstGeom prst="ellipse">
            <a:avLst/>
          </a:prstGeom>
          <a:solidFill>
            <a:srgbClr val="B07636">
              <a:alpha val="85000"/>
            </a:srgbClr>
          </a:solidFill>
          <a:ln w="6350">
            <a:noFill/>
            <a:prstDash val="solid"/>
          </a:ln>
        </p:spPr>
        <p:txBody>
          <a:bodyPr/>
          <a:lstStyle/>
          <a:p>
            <a:endParaRPr/>
          </a:p>
        </p:txBody>
      </p:sp>
      <p:sp>
        <p:nvSpPr>
          <p:cNvPr id="39" name="Text 37"/>
          <p:cNvSpPr/>
          <p:nvPr/>
        </p:nvSpPr>
        <p:spPr>
          <a:xfrm>
            <a:off x="7929967" y="5139095"/>
            <a:ext cx="1371600" cy="146304"/>
          </a:xfrm>
          <a:prstGeom prst="rect">
            <a:avLst/>
          </a:prstGeom>
          <a:noFill/>
          <a:ln>
            <a:noFill/>
          </a:ln>
        </p:spPr>
        <p:txBody>
          <a:bodyPr wrap="square" rtlCol="0" anchor="ctr">
            <a:normAutofit fontScale="62500" lnSpcReduction="20000"/>
          </a:bodyPr>
          <a:lstStyle/>
          <a:p>
            <a:pPr marL="0" indent="0">
              <a:buNone/>
            </a:pPr>
            <a:r>
              <a:rPr lang="en-US" sz="650" dirty="0">
                <a:solidFill>
                  <a:srgbClr val="263238"/>
                </a:solidFill>
                <a:latin typeface="Aptos" pitchFamily="34" charset="0"/>
                <a:ea typeface="Aptos" pitchFamily="34" charset="-122"/>
                <a:cs typeface="Aptos" pitchFamily="34" charset="-120"/>
              </a:rPr>
              <a:t>Physical: 100: S2</a:t>
            </a:r>
            <a:endParaRPr lang="en-US" sz="650" dirty="0"/>
          </a:p>
        </p:txBody>
      </p:sp>
      <p:sp>
        <p:nvSpPr>
          <p:cNvPr id="40" name="Shape 38"/>
          <p:cNvSpPr/>
          <p:nvPr/>
        </p:nvSpPr>
        <p:spPr>
          <a:xfrm>
            <a:off x="5604960" y="3853503"/>
            <a:ext cx="160644" cy="160644"/>
          </a:xfrm>
          <a:prstGeom prst="ellipse">
            <a:avLst/>
          </a:prstGeom>
          <a:solidFill>
            <a:srgbClr val="B07636">
              <a:alpha val="85000"/>
            </a:srgbClr>
          </a:solidFill>
          <a:ln w="6350">
            <a:noFill/>
            <a:prstDash val="solid"/>
          </a:ln>
        </p:spPr>
        <p:txBody>
          <a:bodyPr/>
          <a:lstStyle/>
          <a:p>
            <a:endParaRPr/>
          </a:p>
        </p:txBody>
      </p:sp>
      <p:sp>
        <p:nvSpPr>
          <p:cNvPr id="41" name="Text 39"/>
          <p:cNvSpPr/>
          <p:nvPr/>
        </p:nvSpPr>
        <p:spPr>
          <a:xfrm>
            <a:off x="5802180" y="3835215"/>
            <a:ext cx="1371600" cy="146304"/>
          </a:xfrm>
          <a:prstGeom prst="rect">
            <a:avLst/>
          </a:prstGeom>
          <a:noFill/>
          <a:ln>
            <a:noFill/>
          </a:ln>
        </p:spPr>
        <p:txBody>
          <a:bodyPr wrap="square" rtlCol="0" anchor="ctr">
            <a:normAutofit fontScale="62500" lnSpcReduction="20000"/>
          </a:bodyPr>
          <a:lstStyle/>
          <a:p>
            <a:pPr marL="0" indent="0">
              <a:buNone/>
            </a:pPr>
            <a:r>
              <a:rPr lang="en-US" sz="650" dirty="0">
                <a:solidFill>
                  <a:srgbClr val="263238"/>
                </a:solidFill>
                <a:latin typeface="Aptos" pitchFamily="34" charset="0"/>
                <a:ea typeface="Aptos" pitchFamily="34" charset="-122"/>
                <a:cs typeface="Aptos" pitchFamily="34" charset="-120"/>
              </a:rPr>
              <a:t>My Demon</a:t>
            </a:r>
            <a:endParaRPr lang="en-US" sz="650" dirty="0"/>
          </a:p>
        </p:txBody>
      </p:sp>
      <p:sp>
        <p:nvSpPr>
          <p:cNvPr id="42" name="Shape 40"/>
          <p:cNvSpPr/>
          <p:nvPr/>
        </p:nvSpPr>
        <p:spPr>
          <a:xfrm>
            <a:off x="2774709" y="5167008"/>
            <a:ext cx="124434" cy="124434"/>
          </a:xfrm>
          <a:prstGeom prst="ellipse">
            <a:avLst/>
          </a:prstGeom>
          <a:solidFill>
            <a:srgbClr val="B07636">
              <a:alpha val="85000"/>
            </a:srgbClr>
          </a:solidFill>
          <a:ln w="6350">
            <a:noFill/>
            <a:prstDash val="solid"/>
          </a:ln>
        </p:spPr>
        <p:txBody>
          <a:bodyPr/>
          <a:lstStyle/>
          <a:p>
            <a:endParaRPr/>
          </a:p>
        </p:txBody>
      </p:sp>
      <p:sp>
        <p:nvSpPr>
          <p:cNvPr id="43" name="Text 41"/>
          <p:cNvSpPr/>
          <p:nvPr/>
        </p:nvSpPr>
        <p:spPr>
          <a:xfrm>
            <a:off x="2935719" y="5148720"/>
            <a:ext cx="1371600" cy="146304"/>
          </a:xfrm>
          <a:prstGeom prst="rect">
            <a:avLst/>
          </a:prstGeom>
          <a:noFill/>
          <a:ln>
            <a:noFill/>
          </a:ln>
        </p:spPr>
        <p:txBody>
          <a:bodyPr wrap="square" rtlCol="0" anchor="ctr">
            <a:normAutofit fontScale="62500" lnSpcReduction="20000"/>
          </a:bodyPr>
          <a:lstStyle/>
          <a:p>
            <a:pPr marL="0" indent="0">
              <a:buNone/>
            </a:pPr>
            <a:r>
              <a:rPr lang="en-US" sz="650" dirty="0">
                <a:solidFill>
                  <a:srgbClr val="263238"/>
                </a:solidFill>
                <a:latin typeface="Aptos" pitchFamily="34" charset="0"/>
                <a:ea typeface="Aptos" pitchFamily="34" charset="-122"/>
                <a:cs typeface="Aptos" pitchFamily="34" charset="-120"/>
              </a:rPr>
              <a:t>Demon Slayer</a:t>
            </a:r>
            <a:endParaRPr lang="en-US" sz="650" dirty="0"/>
          </a:p>
        </p:txBody>
      </p:sp>
      <p:sp>
        <p:nvSpPr>
          <p:cNvPr id="44" name="Text 42"/>
          <p:cNvSpPr/>
          <p:nvPr/>
        </p:nvSpPr>
        <p:spPr>
          <a:xfrm>
            <a:off x="4206240" y="6062472"/>
            <a:ext cx="1828800" cy="182880"/>
          </a:xfrm>
          <a:prstGeom prst="rect">
            <a:avLst/>
          </a:prstGeom>
          <a:noFill/>
          <a:ln>
            <a:noFill/>
          </a:ln>
        </p:spPr>
        <p:txBody>
          <a:bodyPr wrap="square" rtlCol="0" anchor="ctr"/>
          <a:lstStyle/>
          <a:p>
            <a:pPr marL="0" indent="0" algn="ctr">
              <a:buNone/>
            </a:pPr>
            <a:r>
              <a:rPr lang="en-US" sz="900" dirty="0">
                <a:solidFill>
                  <a:srgbClr val="626B72"/>
                </a:solidFill>
                <a:latin typeface="Aptos" pitchFamily="34" charset="0"/>
                <a:ea typeface="Aptos" pitchFamily="34" charset="-122"/>
                <a:cs typeface="Aptos" pitchFamily="34" charset="-120"/>
              </a:rPr>
              <a:t>Countries reached</a:t>
            </a:r>
            <a:endParaRPr lang="en-US" sz="900" dirty="0"/>
          </a:p>
        </p:txBody>
      </p:sp>
      <p:sp>
        <p:nvSpPr>
          <p:cNvPr id="45" name="Text 43"/>
          <p:cNvSpPr/>
          <p:nvPr/>
        </p:nvSpPr>
        <p:spPr>
          <a:xfrm rot="16200000">
            <a:off x="-29696" y="3375740"/>
            <a:ext cx="810025" cy="346650"/>
          </a:xfrm>
          <a:prstGeom prst="rect">
            <a:avLst/>
          </a:prstGeom>
          <a:noFill/>
          <a:ln>
            <a:noFill/>
          </a:ln>
        </p:spPr>
        <p:txBody>
          <a:bodyPr wrap="square" rtlCol="0" anchor="ctr">
            <a:normAutofit fontScale="92500"/>
          </a:bodyPr>
          <a:lstStyle/>
          <a:p>
            <a:pPr marL="0" indent="0">
              <a:buNone/>
            </a:pPr>
            <a:r>
              <a:rPr lang="en-US" sz="850" dirty="0">
                <a:solidFill>
                  <a:srgbClr val="626B72"/>
                </a:solidFill>
                <a:latin typeface="Aptos" pitchFamily="34" charset="0"/>
                <a:ea typeface="Aptos" pitchFamily="34" charset="-122"/>
                <a:cs typeface="Aptos" pitchFamily="34" charset="-120"/>
              </a:rPr>
              <a:t>Weeks in Global Top 10</a:t>
            </a:r>
            <a:endParaRPr lang="en-US" sz="850" dirty="0"/>
          </a:p>
        </p:txBody>
      </p:sp>
      <p:sp>
        <p:nvSpPr>
          <p:cNvPr id="46" name="Shape 44"/>
          <p:cNvSpPr/>
          <p:nvPr/>
        </p:nvSpPr>
        <p:spPr>
          <a:xfrm>
            <a:off x="9464040" y="2057400"/>
            <a:ext cx="2057400" cy="1417320"/>
          </a:xfrm>
          <a:prstGeom prst="roundRect">
            <a:avLst>
              <a:gd name="adj" fmla="val 5161"/>
            </a:avLst>
          </a:prstGeom>
          <a:solidFill>
            <a:srgbClr val="FFFFFF"/>
          </a:solidFill>
          <a:ln w="15240">
            <a:noFill/>
            <a:prstDash val="solid"/>
          </a:ln>
        </p:spPr>
        <p:txBody>
          <a:bodyPr/>
          <a:lstStyle/>
          <a:p>
            <a:endParaRPr/>
          </a:p>
        </p:txBody>
      </p:sp>
      <p:sp>
        <p:nvSpPr>
          <p:cNvPr id="47" name="Text 45"/>
          <p:cNvSpPr/>
          <p:nvPr/>
        </p:nvSpPr>
        <p:spPr>
          <a:xfrm>
            <a:off x="9628632" y="2185416"/>
            <a:ext cx="1728216" cy="1161288"/>
          </a:xfrm>
          <a:prstGeom prst="rect">
            <a:avLst/>
          </a:prstGeom>
          <a:noFill/>
          <a:ln>
            <a:noFill/>
          </a:ln>
        </p:spPr>
        <p:txBody>
          <a:bodyPr wrap="square" rtlCol="0" anchor="ctr">
            <a:normAutofit fontScale="92500" lnSpcReduction="10000"/>
          </a:bodyPr>
          <a:lstStyle/>
          <a:p>
            <a:pPr marL="0" indent="0">
              <a:buNone/>
            </a:pPr>
            <a:r>
              <a:rPr lang="en-US" sz="1300" b="1" dirty="0">
                <a:solidFill>
                  <a:srgbClr val="263238"/>
                </a:solidFill>
                <a:latin typeface="Aptos" pitchFamily="34" charset="0"/>
                <a:ea typeface="Aptos" pitchFamily="34" charset="-122"/>
                <a:cs typeface="Aptos" pitchFamily="34" charset="-120"/>
              </a:rPr>
              <a:t>Reach shows scale. Staying power shows continued demand. Together, they point to stronger content opportunities.</a:t>
            </a:r>
            <a:endParaRPr lang="en-US" sz="1300" dirty="0"/>
          </a:p>
        </p:txBody>
      </p:sp>
      <p:sp>
        <p:nvSpPr>
          <p:cNvPr id="48" name="Text 46"/>
          <p:cNvSpPr/>
          <p:nvPr/>
        </p:nvSpPr>
        <p:spPr>
          <a:xfrm>
            <a:off x="9464040" y="3822192"/>
            <a:ext cx="2057400" cy="502920"/>
          </a:xfrm>
          <a:prstGeom prst="rect">
            <a:avLst/>
          </a:prstGeom>
          <a:noFill/>
          <a:ln>
            <a:noFill/>
          </a:ln>
        </p:spPr>
        <p:txBody>
          <a:bodyPr wrap="square" rtlCol="0" anchor="ctr">
            <a:normAutofit/>
          </a:bodyPr>
          <a:lstStyle/>
          <a:p>
            <a:pPr marL="0" indent="0">
              <a:buNone/>
            </a:pPr>
            <a:r>
              <a:rPr lang="en-US" sz="880" dirty="0">
                <a:solidFill>
                  <a:srgbClr val="626B72"/>
                </a:solidFill>
                <a:latin typeface="Aptos" pitchFamily="34" charset="0"/>
                <a:ea typeface="Aptos" pitchFamily="34" charset="-122"/>
                <a:cs typeface="Aptos" pitchFamily="34" charset="-120"/>
              </a:rPr>
              <a:t>Bubble size approximates total weekly hours viewed across each title’s Global Top 10 run.</a:t>
            </a:r>
            <a:endParaRPr lang="en-US" sz="880" dirty="0"/>
          </a:p>
        </p:txBody>
      </p:sp>
      <p:sp>
        <p:nvSpPr>
          <p:cNvPr id="49" name="Text 47"/>
          <p:cNvSpPr/>
          <p:nvPr/>
        </p:nvSpPr>
        <p:spPr>
          <a:xfrm>
            <a:off x="502920" y="6556248"/>
            <a:ext cx="8503920" cy="164592"/>
          </a:xfrm>
          <a:prstGeom prst="rect">
            <a:avLst/>
          </a:prstGeom>
          <a:noFill/>
          <a:ln>
            <a:noFill/>
          </a:ln>
        </p:spPr>
        <p:txBody>
          <a:bodyPr wrap="square" rtlCol="0" anchor="ctr">
            <a:normAutofit fontScale="77500" lnSpcReduction="20000"/>
          </a:bodyPr>
          <a:lstStyle/>
          <a:p>
            <a:pPr marL="0" indent="0">
              <a:buNone/>
            </a:pPr>
            <a:r>
              <a:rPr lang="en-US" sz="650" dirty="0">
                <a:solidFill>
                  <a:srgbClr val="626B72"/>
                </a:solidFill>
                <a:latin typeface="Aptos" pitchFamily="34" charset="0"/>
                <a:ea typeface="Aptos" pitchFamily="34" charset="-122"/>
                <a:cs typeface="Aptos" pitchFamily="34" charset="-120"/>
              </a:rPr>
              <a:t>Data sources: All Weeks Countries Netflix for reach; All Weeks Global Netflix for weeks and total hours viewed.</a:t>
            </a:r>
            <a:endParaRPr lang="en-US" sz="650" dirty="0"/>
          </a:p>
        </p:txBody>
      </p:sp>
      <p:sp>
        <p:nvSpPr>
          <p:cNvPr id="50" name="Text 48"/>
          <p:cNvSpPr/>
          <p:nvPr/>
        </p:nvSpPr>
        <p:spPr>
          <a:xfrm>
            <a:off x="10789920" y="6510528"/>
            <a:ext cx="868680" cy="182880"/>
          </a:xfrm>
          <a:prstGeom prst="rect">
            <a:avLst/>
          </a:prstGeom>
          <a:noFill/>
          <a:ln>
            <a:noFill/>
          </a:ln>
        </p:spPr>
        <p:txBody>
          <a:bodyPr wrap="square" rtlCol="0" anchor="ctr"/>
          <a:lstStyle/>
          <a:p>
            <a:pPr marL="0" indent="0" algn="r">
              <a:buNone/>
            </a:pPr>
            <a:r>
              <a:rPr lang="en-US" sz="750" dirty="0">
                <a:solidFill>
                  <a:srgbClr val="626B72"/>
                </a:solidFill>
                <a:latin typeface="Aptos" pitchFamily="34" charset="0"/>
                <a:ea typeface="Aptos" pitchFamily="34" charset="-122"/>
                <a:cs typeface="Aptos" pitchFamily="34" charset="-120"/>
              </a:rPr>
              <a:t>DSC640</a:t>
            </a:r>
            <a:endParaRPr lang="en-US" sz="750" dirty="0"/>
          </a:p>
        </p:txBody>
      </p:sp>
      <p:sp>
        <p:nvSpPr>
          <p:cNvPr id="51" name="Rectangle 50"/>
          <p:cNvSpPr/>
          <p:nvPr/>
        </p:nvSpPr>
        <p:spPr>
          <a:xfrm>
            <a:off x="320040" y="6556248"/>
            <a:ext cx="11567160" cy="18288"/>
          </a:xfrm>
          <a:prstGeom prst="rect">
            <a:avLst/>
          </a:prstGeom>
          <a:solidFill>
            <a:srgbClr val="2F6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30352"/>
            <a:ext cx="9875520" cy="548640"/>
          </a:xfrm>
          <a:prstGeom prst="rect">
            <a:avLst/>
          </a:prstGeom>
          <a:noFill/>
        </p:spPr>
        <p:txBody>
          <a:bodyPr wrap="none">
            <a:spAutoFit/>
          </a:bodyPr>
          <a:lstStyle/>
          <a:p>
            <a:pPr>
              <a:defRPr sz="2800" b="1">
                <a:solidFill>
                  <a:srgbClr val="262B2F"/>
                </a:solidFill>
                <a:latin typeface="Aptos Display"/>
              </a:defRPr>
            </a:pPr>
            <a:r>
              <a:t>The Biggest Non-English Hits Are Concentrated in Series</a:t>
            </a:r>
          </a:p>
        </p:txBody>
      </p:sp>
      <p:sp>
        <p:nvSpPr>
          <p:cNvPr id="5" name="TextBox 4"/>
          <p:cNvSpPr txBox="1"/>
          <p:nvPr/>
        </p:nvSpPr>
        <p:spPr>
          <a:xfrm>
            <a:off x="521207" y="1060704"/>
            <a:ext cx="10241280" cy="320040"/>
          </a:xfrm>
          <a:prstGeom prst="rect">
            <a:avLst/>
          </a:prstGeom>
          <a:noFill/>
        </p:spPr>
        <p:txBody>
          <a:bodyPr wrap="none">
            <a:spAutoFit/>
          </a:bodyPr>
          <a:lstStyle/>
          <a:p>
            <a:pPr>
              <a:defRPr sz="1350">
                <a:solidFill>
                  <a:srgbClr val="636A6E"/>
                </a:solidFill>
                <a:latin typeface="Aptos"/>
              </a:defRPr>
            </a:pPr>
            <a:r>
              <a:t>Treemap of the top non-English Netflix titles by first-91-day views</a:t>
            </a:r>
          </a:p>
        </p:txBody>
      </p:sp>
      <p:sp>
        <p:nvSpPr>
          <p:cNvPr id="6" name="Rounded Rectangle 5"/>
          <p:cNvSpPr/>
          <p:nvPr/>
        </p:nvSpPr>
        <p:spPr>
          <a:xfrm>
            <a:off x="502920" y="1508760"/>
            <a:ext cx="8229600" cy="4434840"/>
          </a:xfrm>
          <a:prstGeom prst="roundRect">
            <a:avLst/>
          </a:prstGeom>
          <a:solidFill>
            <a:srgbClr val="FFFFFF"/>
          </a:solidFill>
          <a:ln w="7620">
            <a:solidFill>
              <a:srgbClr val="CDC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17804" y="1769364"/>
            <a:ext cx="4081434" cy="1774705"/>
          </a:xfrm>
          <a:prstGeom prst="rect">
            <a:avLst/>
          </a:prstGeom>
          <a:solidFill>
            <a:srgbClr val="46848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8952" y="1801368"/>
            <a:ext cx="3999138" cy="1728985"/>
          </a:xfrm>
          <a:prstGeom prst="rect">
            <a:avLst/>
          </a:prstGeom>
          <a:noFill/>
        </p:spPr>
        <p:txBody>
          <a:bodyPr wrap="none" lIns="0" tIns="0" rIns="0" bIns="0" anchor="t">
            <a:spAutoFit/>
          </a:bodyPr>
          <a:lstStyle/>
          <a:p>
            <a:pPr>
              <a:defRPr sz="1000" b="1">
                <a:solidFill>
                  <a:srgbClr val="FFFFFF"/>
                </a:solidFill>
                <a:latin typeface="Aptos"/>
              </a:defRPr>
            </a:pPr>
            <a:r>
              <a:t>Squid Game S1</a:t>
            </a:r>
          </a:p>
          <a:p>
            <a:pPr>
              <a:defRPr sz="800">
                <a:solidFill>
                  <a:srgbClr val="FFFFFF"/>
                </a:solidFill>
                <a:latin typeface="Aptos"/>
              </a:defRPr>
            </a:pPr>
            <a:r>
              <a:t>265.2M views • TV</a:t>
            </a:r>
          </a:p>
        </p:txBody>
      </p:sp>
      <p:sp>
        <p:nvSpPr>
          <p:cNvPr id="9" name="Rectangle 8"/>
          <p:cNvSpPr/>
          <p:nvPr/>
        </p:nvSpPr>
        <p:spPr>
          <a:xfrm>
            <a:off x="717804" y="3608077"/>
            <a:ext cx="1360357" cy="2074917"/>
          </a:xfrm>
          <a:prstGeom prst="rect">
            <a:avLst/>
          </a:prstGeom>
          <a:solidFill>
            <a:srgbClr val="6EA4A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 y="3640081"/>
            <a:ext cx="1278061" cy="2029197"/>
          </a:xfrm>
          <a:prstGeom prst="rect">
            <a:avLst/>
          </a:prstGeom>
          <a:noFill/>
        </p:spPr>
        <p:txBody>
          <a:bodyPr wrap="none" lIns="0" tIns="0" rIns="0" bIns="0" anchor="t">
            <a:spAutoFit/>
          </a:bodyPr>
          <a:lstStyle/>
          <a:p>
            <a:pPr>
              <a:defRPr sz="1000" b="1">
                <a:solidFill>
                  <a:srgbClr val="FFFFFF"/>
                </a:solidFill>
                <a:latin typeface="Aptos"/>
              </a:defRPr>
            </a:pPr>
            <a:r>
              <a:t>Money Heist P4</a:t>
            </a:r>
          </a:p>
          <a:p>
            <a:pPr>
              <a:defRPr sz="800">
                <a:solidFill>
                  <a:srgbClr val="FFFFFF"/>
                </a:solidFill>
                <a:latin typeface="Aptos"/>
              </a:defRPr>
            </a:pPr>
            <a:r>
              <a:t>106.0M views • TV</a:t>
            </a:r>
          </a:p>
        </p:txBody>
      </p:sp>
      <p:sp>
        <p:nvSpPr>
          <p:cNvPr id="11" name="Rectangle 10"/>
          <p:cNvSpPr/>
          <p:nvPr/>
        </p:nvSpPr>
        <p:spPr>
          <a:xfrm>
            <a:off x="2142169" y="3608077"/>
            <a:ext cx="2657068" cy="1023939"/>
          </a:xfrm>
          <a:prstGeom prst="rect">
            <a:avLst/>
          </a:prstGeom>
          <a:solidFill>
            <a:srgbClr val="BF904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183317" y="3640081"/>
            <a:ext cx="2574772" cy="978219"/>
          </a:xfrm>
          <a:prstGeom prst="rect">
            <a:avLst/>
          </a:prstGeom>
          <a:noFill/>
        </p:spPr>
        <p:txBody>
          <a:bodyPr wrap="none" lIns="0" tIns="0" rIns="0" bIns="0" anchor="t">
            <a:spAutoFit/>
          </a:bodyPr>
          <a:lstStyle/>
          <a:p>
            <a:pPr>
              <a:defRPr sz="1000" b="1">
                <a:solidFill>
                  <a:srgbClr val="FFFFFF"/>
                </a:solidFill>
                <a:latin typeface="Aptos"/>
              </a:defRPr>
            </a:pPr>
            <a:r>
              <a:t>Troll</a:t>
            </a:r>
          </a:p>
          <a:p>
            <a:pPr>
              <a:defRPr sz="800">
                <a:solidFill>
                  <a:srgbClr val="FFFFFF"/>
                </a:solidFill>
                <a:latin typeface="Aptos"/>
              </a:defRPr>
            </a:pPr>
            <a:r>
              <a:t>103.0M views • Film</a:t>
            </a:r>
          </a:p>
        </p:txBody>
      </p:sp>
      <p:sp>
        <p:nvSpPr>
          <p:cNvPr id="13" name="Rectangle 12"/>
          <p:cNvSpPr/>
          <p:nvPr/>
        </p:nvSpPr>
        <p:spPr>
          <a:xfrm>
            <a:off x="2142169" y="4696024"/>
            <a:ext cx="2657068" cy="986970"/>
          </a:xfrm>
          <a:prstGeom prst="rect">
            <a:avLst/>
          </a:prstGeom>
          <a:solidFill>
            <a:srgbClr val="305E61"/>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183317" y="4728028"/>
            <a:ext cx="2574772" cy="941250"/>
          </a:xfrm>
          <a:prstGeom prst="rect">
            <a:avLst/>
          </a:prstGeom>
          <a:noFill/>
        </p:spPr>
        <p:txBody>
          <a:bodyPr wrap="none" lIns="0" tIns="0" rIns="0" bIns="0" anchor="t">
            <a:spAutoFit/>
          </a:bodyPr>
          <a:lstStyle/>
          <a:p>
            <a:pPr>
              <a:defRPr sz="1000" b="1">
                <a:solidFill>
                  <a:srgbClr val="FFFFFF"/>
                </a:solidFill>
                <a:latin typeface="Aptos"/>
              </a:defRPr>
            </a:pPr>
            <a:r>
              <a:t>Lupin P1</a:t>
            </a:r>
          </a:p>
          <a:p>
            <a:pPr>
              <a:defRPr sz="800">
                <a:solidFill>
                  <a:srgbClr val="FFFFFF"/>
                </a:solidFill>
                <a:latin typeface="Aptos"/>
              </a:defRPr>
            </a:pPr>
            <a:r>
              <a:t>99.5M views • TV</a:t>
            </a:r>
          </a:p>
        </p:txBody>
      </p:sp>
      <p:sp>
        <p:nvSpPr>
          <p:cNvPr id="15" name="Rectangle 14"/>
          <p:cNvSpPr/>
          <p:nvPr/>
        </p:nvSpPr>
        <p:spPr>
          <a:xfrm>
            <a:off x="4863246" y="1769364"/>
            <a:ext cx="1237562" cy="2126553"/>
          </a:xfrm>
          <a:prstGeom prst="rect">
            <a:avLst/>
          </a:prstGeom>
          <a:solidFill>
            <a:srgbClr val="53929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904394" y="1801368"/>
            <a:ext cx="1155266" cy="2080833"/>
          </a:xfrm>
          <a:prstGeom prst="rect">
            <a:avLst/>
          </a:prstGeom>
          <a:noFill/>
        </p:spPr>
        <p:txBody>
          <a:bodyPr wrap="none" lIns="0" tIns="0" rIns="0" bIns="0" anchor="t">
            <a:spAutoFit/>
          </a:bodyPr>
          <a:lstStyle/>
          <a:p>
            <a:pPr>
              <a:defRPr sz="1000" b="1">
                <a:solidFill>
                  <a:srgbClr val="FFFFFF"/>
                </a:solidFill>
                <a:latin typeface="Aptos"/>
              </a:defRPr>
            </a:pPr>
            <a:r>
              <a:t>Money Heist P5</a:t>
            </a:r>
          </a:p>
          <a:p>
            <a:pPr>
              <a:defRPr sz="800">
                <a:solidFill>
                  <a:srgbClr val="FFFFFF"/>
                </a:solidFill>
                <a:latin typeface="Aptos"/>
              </a:defRPr>
            </a:pPr>
            <a:r>
              <a:t>99.2M views • TV</a:t>
            </a:r>
          </a:p>
        </p:txBody>
      </p:sp>
      <p:sp>
        <p:nvSpPr>
          <p:cNvPr id="17" name="Rectangle 16"/>
          <p:cNvSpPr/>
          <p:nvPr/>
        </p:nvSpPr>
        <p:spPr>
          <a:xfrm>
            <a:off x="6164816" y="1769364"/>
            <a:ext cx="2352819" cy="1107383"/>
          </a:xfrm>
          <a:prstGeom prst="rect">
            <a:avLst/>
          </a:prstGeom>
          <a:solidFill>
            <a:srgbClr val="DAB88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05964" y="1801368"/>
            <a:ext cx="2270523" cy="1061663"/>
          </a:xfrm>
          <a:prstGeom prst="rect">
            <a:avLst/>
          </a:prstGeom>
          <a:noFill/>
        </p:spPr>
        <p:txBody>
          <a:bodyPr wrap="none" lIns="0" tIns="0" rIns="0" bIns="0" anchor="t">
            <a:spAutoFit/>
          </a:bodyPr>
          <a:lstStyle/>
          <a:p>
            <a:pPr>
              <a:defRPr sz="1000" b="1">
                <a:solidFill>
                  <a:srgbClr val="FFFFFF"/>
                </a:solidFill>
                <a:latin typeface="Aptos"/>
              </a:defRPr>
            </a:pPr>
            <a:r>
              <a:t>Society of the Snow</a:t>
            </a:r>
          </a:p>
          <a:p>
            <a:pPr>
              <a:defRPr sz="800">
                <a:solidFill>
                  <a:srgbClr val="FFFFFF"/>
                </a:solidFill>
                <a:latin typeface="Aptos"/>
              </a:defRPr>
            </a:pPr>
            <a:r>
              <a:t>98.5M views • Film</a:t>
            </a:r>
          </a:p>
        </p:txBody>
      </p:sp>
      <p:sp>
        <p:nvSpPr>
          <p:cNvPr id="19" name="Rectangle 18"/>
          <p:cNvSpPr/>
          <p:nvPr/>
        </p:nvSpPr>
        <p:spPr>
          <a:xfrm>
            <a:off x="6164816" y="2940755"/>
            <a:ext cx="2352819" cy="955161"/>
          </a:xfrm>
          <a:prstGeom prst="rect">
            <a:avLst/>
          </a:prstGeom>
          <a:solidFill>
            <a:srgbClr val="815B2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05964" y="2972759"/>
            <a:ext cx="2270523" cy="909441"/>
          </a:xfrm>
          <a:prstGeom prst="rect">
            <a:avLst/>
          </a:prstGeom>
          <a:noFill/>
        </p:spPr>
        <p:txBody>
          <a:bodyPr wrap="none" lIns="0" tIns="0" rIns="0" bIns="0" anchor="t">
            <a:spAutoFit/>
          </a:bodyPr>
          <a:lstStyle/>
          <a:p>
            <a:pPr>
              <a:defRPr sz="1000" b="1">
                <a:solidFill>
                  <a:srgbClr val="FFFFFF"/>
                </a:solidFill>
                <a:latin typeface="Aptos"/>
              </a:defRPr>
            </a:pPr>
            <a:r>
              <a:t>Nowhere</a:t>
            </a:r>
          </a:p>
          <a:p>
            <a:pPr>
              <a:defRPr sz="800">
                <a:solidFill>
                  <a:srgbClr val="FFFFFF"/>
                </a:solidFill>
                <a:latin typeface="Aptos"/>
              </a:defRPr>
            </a:pPr>
            <a:r>
              <a:t>85.7M views • Film</a:t>
            </a:r>
          </a:p>
        </p:txBody>
      </p:sp>
      <p:sp>
        <p:nvSpPr>
          <p:cNvPr id="21" name="Rectangle 20"/>
          <p:cNvSpPr/>
          <p:nvPr/>
        </p:nvSpPr>
        <p:spPr>
          <a:xfrm>
            <a:off x="4863246" y="3959925"/>
            <a:ext cx="1267667" cy="1723069"/>
          </a:xfrm>
          <a:prstGeom prst="rect">
            <a:avLst/>
          </a:prstGeom>
          <a:solidFill>
            <a:srgbClr val="CDA66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904394" y="3991929"/>
            <a:ext cx="1185371" cy="1677349"/>
          </a:xfrm>
          <a:prstGeom prst="rect">
            <a:avLst/>
          </a:prstGeom>
          <a:noFill/>
        </p:spPr>
        <p:txBody>
          <a:bodyPr wrap="none" lIns="0" tIns="0" rIns="0" bIns="0" anchor="t">
            <a:spAutoFit/>
          </a:bodyPr>
          <a:lstStyle/>
          <a:p>
            <a:pPr>
              <a:defRPr sz="1000" b="1">
                <a:solidFill>
                  <a:srgbClr val="FFFFFF"/>
                </a:solidFill>
                <a:latin typeface="Aptos"/>
              </a:defRPr>
            </a:pPr>
            <a:r>
              <a:t>The Platform</a:t>
            </a:r>
          </a:p>
          <a:p>
            <a:pPr>
              <a:defRPr sz="800">
                <a:solidFill>
                  <a:srgbClr val="FFFFFF"/>
                </a:solidFill>
                <a:latin typeface="Aptos"/>
              </a:defRPr>
            </a:pPr>
            <a:r>
              <a:t>82.8M views • Film</a:t>
            </a:r>
          </a:p>
        </p:txBody>
      </p:sp>
      <p:sp>
        <p:nvSpPr>
          <p:cNvPr id="23" name="Rectangle 22"/>
          <p:cNvSpPr/>
          <p:nvPr/>
        </p:nvSpPr>
        <p:spPr>
          <a:xfrm>
            <a:off x="6194921" y="3959925"/>
            <a:ext cx="2322714" cy="899376"/>
          </a:xfrm>
          <a:prstGeom prst="rect">
            <a:avLst/>
          </a:prstGeom>
          <a:solidFill>
            <a:srgbClr val="46848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36069" y="3991929"/>
            <a:ext cx="2240418" cy="853656"/>
          </a:xfrm>
          <a:prstGeom prst="rect">
            <a:avLst/>
          </a:prstGeom>
          <a:noFill/>
        </p:spPr>
        <p:txBody>
          <a:bodyPr wrap="none" lIns="0" tIns="0" rIns="0" bIns="0" anchor="t">
            <a:spAutoFit/>
          </a:bodyPr>
          <a:lstStyle/>
          <a:p>
            <a:pPr>
              <a:defRPr sz="1000" b="1">
                <a:solidFill>
                  <a:srgbClr val="FFFFFF"/>
                </a:solidFill>
                <a:latin typeface="Aptos"/>
              </a:defRPr>
            </a:pPr>
            <a:r>
              <a:t>Money Heist P3</a:t>
            </a:r>
          </a:p>
          <a:p>
            <a:pPr>
              <a:defRPr sz="800">
                <a:solidFill>
                  <a:srgbClr val="FFFFFF"/>
                </a:solidFill>
                <a:latin typeface="Aptos"/>
              </a:defRPr>
            </a:pPr>
            <a:r>
              <a:t>80.0M views • TV</a:t>
            </a:r>
          </a:p>
        </p:txBody>
      </p:sp>
      <p:sp>
        <p:nvSpPr>
          <p:cNvPr id="25" name="Rectangle 24"/>
          <p:cNvSpPr/>
          <p:nvPr/>
        </p:nvSpPr>
        <p:spPr>
          <a:xfrm>
            <a:off x="6194921" y="4923309"/>
            <a:ext cx="2322714" cy="759685"/>
          </a:xfrm>
          <a:prstGeom prst="rect">
            <a:avLst/>
          </a:prstGeom>
          <a:solidFill>
            <a:srgbClr val="6EA4A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6069" y="4955313"/>
            <a:ext cx="2240418" cy="713965"/>
          </a:xfrm>
          <a:prstGeom prst="rect">
            <a:avLst/>
          </a:prstGeom>
          <a:noFill/>
        </p:spPr>
        <p:txBody>
          <a:bodyPr wrap="none" lIns="0" tIns="0" rIns="0" bIns="0" anchor="t">
            <a:spAutoFit/>
          </a:bodyPr>
          <a:lstStyle/>
          <a:p>
            <a:pPr>
              <a:defRPr sz="1000" b="1">
                <a:solidFill>
                  <a:srgbClr val="FFFFFF"/>
                </a:solidFill>
                <a:latin typeface="Aptos"/>
              </a:defRPr>
            </a:pPr>
            <a:r>
              <a:t>Lupin P2</a:t>
            </a:r>
          </a:p>
          <a:p>
            <a:pPr>
              <a:defRPr sz="800">
                <a:solidFill>
                  <a:srgbClr val="FFFFFF"/>
                </a:solidFill>
                <a:latin typeface="Aptos"/>
              </a:defRPr>
            </a:pPr>
            <a:r>
              <a:t>68.4M views • TV</a:t>
            </a:r>
          </a:p>
        </p:txBody>
      </p:sp>
      <p:sp>
        <p:nvSpPr>
          <p:cNvPr id="27" name="Rounded Rectangle 26"/>
          <p:cNvSpPr/>
          <p:nvPr/>
        </p:nvSpPr>
        <p:spPr>
          <a:xfrm>
            <a:off x="8979408" y="1508760"/>
            <a:ext cx="2697480" cy="4434840"/>
          </a:xfrm>
          <a:prstGeom prst="roundRect">
            <a:avLst/>
          </a:prstGeom>
          <a:solidFill>
            <a:srgbClr val="EFEEE9"/>
          </a:solidFill>
          <a:ln w="7620">
            <a:solidFill>
              <a:srgbClr val="CDC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89720" y="1755648"/>
            <a:ext cx="2286000" cy="411480"/>
          </a:xfrm>
          <a:prstGeom prst="rect">
            <a:avLst/>
          </a:prstGeom>
          <a:noFill/>
        </p:spPr>
        <p:txBody>
          <a:bodyPr wrap="none">
            <a:spAutoFit/>
          </a:bodyPr>
          <a:lstStyle/>
          <a:p>
            <a:pPr>
              <a:defRPr sz="1600" b="1">
                <a:solidFill>
                  <a:srgbClr val="262B2F"/>
                </a:solidFill>
                <a:latin typeface="Aptos Display"/>
              </a:defRPr>
            </a:pPr>
            <a:r>
              <a:t>Key takeaway</a:t>
            </a:r>
          </a:p>
        </p:txBody>
      </p:sp>
      <p:sp>
        <p:nvSpPr>
          <p:cNvPr id="29" name="Rectangle 28"/>
          <p:cNvSpPr/>
          <p:nvPr/>
        </p:nvSpPr>
        <p:spPr>
          <a:xfrm>
            <a:off x="9198864" y="2212848"/>
            <a:ext cx="594360" cy="36576"/>
          </a:xfrm>
          <a:prstGeom prst="rect">
            <a:avLst/>
          </a:prstGeom>
          <a:solidFill>
            <a:srgbClr val="C5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76004" y="2404975"/>
            <a:ext cx="2267712" cy="1249894"/>
          </a:xfrm>
          <a:prstGeom prst="rect">
            <a:avLst/>
          </a:prstGeom>
          <a:noFill/>
        </p:spPr>
        <p:txBody>
          <a:bodyPr wrap="square">
            <a:spAutoFit/>
          </a:bodyPr>
          <a:lstStyle/>
          <a:p>
            <a:pPr>
              <a:lnSpc>
                <a:spcPct val="105000"/>
              </a:lnSpc>
              <a:defRPr sz="1200">
                <a:solidFill>
                  <a:srgbClr val="262B2F"/>
                </a:solidFill>
                <a:latin typeface="Aptos"/>
              </a:defRPr>
            </a:pPr>
            <a:r>
              <a:rPr dirty="0"/>
              <a:t>Among the most popular non-English titles, series occupy many of the largest spots. That supports treating global series</a:t>
            </a:r>
            <a:r>
              <a:rPr lang="en-US" dirty="0"/>
              <a:t> (not movies) </a:t>
            </a:r>
            <a:r>
              <a:rPr dirty="0"/>
              <a:t> as a mainstream content growth category</a:t>
            </a:r>
            <a:r>
              <a:rPr lang="en-US" dirty="0"/>
              <a:t>.</a:t>
            </a:r>
            <a:endParaRPr dirty="0"/>
          </a:p>
        </p:txBody>
      </p:sp>
      <p:sp>
        <p:nvSpPr>
          <p:cNvPr id="31" name="Rounded Rectangle 30"/>
          <p:cNvSpPr/>
          <p:nvPr/>
        </p:nvSpPr>
        <p:spPr>
          <a:xfrm>
            <a:off x="9189720" y="3886200"/>
            <a:ext cx="2240280" cy="393192"/>
          </a:xfrm>
          <a:prstGeom prst="roundRect">
            <a:avLst/>
          </a:prstGeom>
          <a:solidFill>
            <a:srgbClr val="FFFFFF"/>
          </a:solidFill>
          <a:ln w="5080">
            <a:solidFill>
              <a:srgbClr val="CDC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290304" y="3941064"/>
            <a:ext cx="566928" cy="256032"/>
          </a:xfrm>
          <a:prstGeom prst="rect">
            <a:avLst/>
          </a:prstGeom>
          <a:noFill/>
        </p:spPr>
        <p:txBody>
          <a:bodyPr wrap="none">
            <a:spAutoFit/>
          </a:bodyPr>
          <a:lstStyle/>
          <a:p>
            <a:pPr>
              <a:defRPr sz="1050" b="1">
                <a:solidFill>
                  <a:srgbClr val="468488"/>
                </a:solidFill>
                <a:latin typeface="Aptos"/>
              </a:defRPr>
            </a:pPr>
            <a:r>
              <a:t>6/10</a:t>
            </a:r>
          </a:p>
        </p:txBody>
      </p:sp>
      <p:sp>
        <p:nvSpPr>
          <p:cNvPr id="33" name="TextBox 32"/>
          <p:cNvSpPr txBox="1"/>
          <p:nvPr/>
        </p:nvSpPr>
        <p:spPr>
          <a:xfrm>
            <a:off x="9857232" y="3954780"/>
            <a:ext cx="1444752" cy="256032"/>
          </a:xfrm>
          <a:prstGeom prst="rect">
            <a:avLst/>
          </a:prstGeom>
          <a:noFill/>
        </p:spPr>
        <p:txBody>
          <a:bodyPr wrap="none">
            <a:spAutoFit/>
          </a:bodyPr>
          <a:lstStyle/>
          <a:p>
            <a:pPr>
              <a:defRPr sz="850">
                <a:solidFill>
                  <a:srgbClr val="262B2F"/>
                </a:solidFill>
                <a:latin typeface="Aptos"/>
              </a:defRPr>
            </a:pPr>
            <a:r>
              <a:t>Top titles are TV series</a:t>
            </a:r>
          </a:p>
        </p:txBody>
      </p:sp>
      <p:sp>
        <p:nvSpPr>
          <p:cNvPr id="34" name="Rounded Rectangle 33"/>
          <p:cNvSpPr/>
          <p:nvPr/>
        </p:nvSpPr>
        <p:spPr>
          <a:xfrm>
            <a:off x="9189720" y="4379976"/>
            <a:ext cx="2240280" cy="393192"/>
          </a:xfrm>
          <a:prstGeom prst="roundRect">
            <a:avLst/>
          </a:prstGeom>
          <a:solidFill>
            <a:srgbClr val="FFFFFF"/>
          </a:solidFill>
          <a:ln w="5080">
            <a:solidFill>
              <a:srgbClr val="CDC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290304" y="4434840"/>
            <a:ext cx="566928" cy="256032"/>
          </a:xfrm>
          <a:prstGeom prst="rect">
            <a:avLst/>
          </a:prstGeom>
          <a:noFill/>
        </p:spPr>
        <p:txBody>
          <a:bodyPr wrap="none">
            <a:spAutoFit/>
          </a:bodyPr>
          <a:lstStyle/>
          <a:p>
            <a:pPr>
              <a:defRPr sz="1050" b="1">
                <a:solidFill>
                  <a:srgbClr val="468488"/>
                </a:solidFill>
                <a:latin typeface="Aptos"/>
              </a:defRPr>
            </a:pPr>
            <a:r>
              <a:t>718M</a:t>
            </a:r>
          </a:p>
        </p:txBody>
      </p:sp>
      <p:sp>
        <p:nvSpPr>
          <p:cNvPr id="36" name="TextBox 35"/>
          <p:cNvSpPr txBox="1"/>
          <p:nvPr/>
        </p:nvSpPr>
        <p:spPr>
          <a:xfrm>
            <a:off x="9857232" y="4448556"/>
            <a:ext cx="1444752" cy="256032"/>
          </a:xfrm>
          <a:prstGeom prst="rect">
            <a:avLst/>
          </a:prstGeom>
          <a:noFill/>
        </p:spPr>
        <p:txBody>
          <a:bodyPr wrap="none">
            <a:spAutoFit/>
          </a:bodyPr>
          <a:lstStyle/>
          <a:p>
            <a:pPr>
              <a:defRPr sz="850">
                <a:solidFill>
                  <a:srgbClr val="262B2F"/>
                </a:solidFill>
                <a:latin typeface="Aptos"/>
              </a:defRPr>
            </a:pPr>
            <a:r>
              <a:t>Views from TV titles</a:t>
            </a:r>
          </a:p>
        </p:txBody>
      </p:sp>
      <p:sp>
        <p:nvSpPr>
          <p:cNvPr id="37" name="Rounded Rectangle 36"/>
          <p:cNvSpPr/>
          <p:nvPr/>
        </p:nvSpPr>
        <p:spPr>
          <a:xfrm>
            <a:off x="9189720" y="4873752"/>
            <a:ext cx="2240280" cy="393192"/>
          </a:xfrm>
          <a:prstGeom prst="roundRect">
            <a:avLst/>
          </a:prstGeom>
          <a:solidFill>
            <a:srgbClr val="FFFFFF"/>
          </a:solidFill>
          <a:ln w="5080">
            <a:solidFill>
              <a:srgbClr val="CDC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290304" y="4928616"/>
            <a:ext cx="566928" cy="256032"/>
          </a:xfrm>
          <a:prstGeom prst="rect">
            <a:avLst/>
          </a:prstGeom>
          <a:noFill/>
        </p:spPr>
        <p:txBody>
          <a:bodyPr wrap="none">
            <a:spAutoFit/>
          </a:bodyPr>
          <a:lstStyle/>
          <a:p>
            <a:pPr>
              <a:defRPr sz="1050" b="1">
                <a:solidFill>
                  <a:srgbClr val="BF904C"/>
                </a:solidFill>
                <a:latin typeface="Aptos"/>
              </a:defRPr>
            </a:pPr>
            <a:r>
              <a:t>370M</a:t>
            </a:r>
          </a:p>
        </p:txBody>
      </p:sp>
      <p:sp>
        <p:nvSpPr>
          <p:cNvPr id="39" name="TextBox 38"/>
          <p:cNvSpPr txBox="1"/>
          <p:nvPr/>
        </p:nvSpPr>
        <p:spPr>
          <a:xfrm>
            <a:off x="9857232" y="4942332"/>
            <a:ext cx="1444752" cy="256032"/>
          </a:xfrm>
          <a:prstGeom prst="rect">
            <a:avLst/>
          </a:prstGeom>
          <a:noFill/>
        </p:spPr>
        <p:txBody>
          <a:bodyPr wrap="none">
            <a:spAutoFit/>
          </a:bodyPr>
          <a:lstStyle/>
          <a:p>
            <a:pPr>
              <a:defRPr sz="850">
                <a:solidFill>
                  <a:srgbClr val="262B2F"/>
                </a:solidFill>
                <a:latin typeface="Aptos"/>
              </a:defRPr>
            </a:pPr>
            <a:r>
              <a:t>Views from films</a:t>
            </a:r>
          </a:p>
        </p:txBody>
      </p:sp>
      <p:sp>
        <p:nvSpPr>
          <p:cNvPr id="40" name="Rectangle 39"/>
          <p:cNvSpPr/>
          <p:nvPr/>
        </p:nvSpPr>
        <p:spPr>
          <a:xfrm>
            <a:off x="685800" y="6016752"/>
            <a:ext cx="146304" cy="146304"/>
          </a:xfrm>
          <a:prstGeom prst="rect">
            <a:avLst/>
          </a:prstGeom>
          <a:solidFill>
            <a:srgbClr val="468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96112" y="5989320"/>
            <a:ext cx="1463040" cy="228600"/>
          </a:xfrm>
          <a:prstGeom prst="rect">
            <a:avLst/>
          </a:prstGeom>
          <a:noFill/>
        </p:spPr>
        <p:txBody>
          <a:bodyPr wrap="none">
            <a:spAutoFit/>
          </a:bodyPr>
          <a:lstStyle/>
          <a:p>
            <a:pPr>
              <a:defRPr sz="850">
                <a:solidFill>
                  <a:srgbClr val="636A6E"/>
                </a:solidFill>
                <a:latin typeface="Aptos"/>
              </a:defRPr>
            </a:pPr>
            <a:r>
              <a:t>TV (Non-English)</a:t>
            </a:r>
          </a:p>
        </p:txBody>
      </p:sp>
      <p:sp>
        <p:nvSpPr>
          <p:cNvPr id="42" name="Rectangle 41"/>
          <p:cNvSpPr/>
          <p:nvPr/>
        </p:nvSpPr>
        <p:spPr>
          <a:xfrm>
            <a:off x="2468880" y="6016752"/>
            <a:ext cx="146304" cy="146304"/>
          </a:xfrm>
          <a:prstGeom prst="rect">
            <a:avLst/>
          </a:prstGeom>
          <a:solidFill>
            <a:srgbClr val="BF9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679192" y="5989320"/>
            <a:ext cx="1463040" cy="228600"/>
          </a:xfrm>
          <a:prstGeom prst="rect">
            <a:avLst/>
          </a:prstGeom>
          <a:noFill/>
        </p:spPr>
        <p:txBody>
          <a:bodyPr wrap="none">
            <a:spAutoFit/>
          </a:bodyPr>
          <a:lstStyle/>
          <a:p>
            <a:pPr>
              <a:defRPr sz="850">
                <a:solidFill>
                  <a:srgbClr val="636A6E"/>
                </a:solidFill>
                <a:latin typeface="Aptos"/>
              </a:defRPr>
            </a:pPr>
            <a:r>
              <a:t>Film (Non-English)</a:t>
            </a:r>
          </a:p>
        </p:txBody>
      </p:sp>
      <p:sp>
        <p:nvSpPr>
          <p:cNvPr id="44" name="TextBox 43"/>
          <p:cNvSpPr txBox="1"/>
          <p:nvPr/>
        </p:nvSpPr>
        <p:spPr>
          <a:xfrm>
            <a:off x="6537960" y="5989320"/>
            <a:ext cx="5120640" cy="256032"/>
          </a:xfrm>
          <a:prstGeom prst="rect">
            <a:avLst/>
          </a:prstGeom>
          <a:noFill/>
        </p:spPr>
        <p:txBody>
          <a:bodyPr wrap="none">
            <a:spAutoFit/>
          </a:bodyPr>
          <a:lstStyle/>
          <a:p>
            <a:pPr algn="r">
              <a:defRPr sz="850">
                <a:solidFill>
                  <a:srgbClr val="636A6E"/>
                </a:solidFill>
                <a:latin typeface="Aptos"/>
              </a:defRPr>
            </a:pPr>
            <a:r>
              <a:t>Source: Netflix Most Popular dataset | Metric: views in first 91 days</a:t>
            </a:r>
          </a:p>
        </p:txBody>
      </p:sp>
      <p:sp>
        <p:nvSpPr>
          <p:cNvPr id="45" name="Text 2">
            <a:extLst>
              <a:ext uri="{FF2B5EF4-FFF2-40B4-BE49-F238E27FC236}">
                <a16:creationId xmlns:a16="http://schemas.microsoft.com/office/drawing/2014/main" id="{14AA4975-11C8-9BFC-CE60-0B7BC189D2C7}"/>
              </a:ext>
            </a:extLst>
          </p:cNvPr>
          <p:cNvSpPr/>
          <p:nvPr/>
        </p:nvSpPr>
        <p:spPr>
          <a:xfrm>
            <a:off x="594360" y="384048"/>
            <a:ext cx="5303520" cy="228600"/>
          </a:xfrm>
          <a:prstGeom prst="rect">
            <a:avLst/>
          </a:prstGeom>
          <a:noFill/>
          <a:ln>
            <a:noFill/>
          </a:ln>
        </p:spPr>
        <p:txBody>
          <a:bodyPr wrap="square" rtlCol="0" anchor="ctr"/>
          <a:lstStyle/>
          <a:p>
            <a:pPr marL="0" indent="0">
              <a:buNone/>
            </a:pPr>
            <a:r>
              <a:rPr lang="en-US" sz="900" b="1" dirty="0">
                <a:solidFill>
                  <a:srgbClr val="2F6F7E"/>
                </a:solidFill>
                <a:latin typeface="Aptos" pitchFamily="34" charset="0"/>
                <a:ea typeface="Aptos" pitchFamily="34" charset="-122"/>
                <a:cs typeface="Aptos" pitchFamily="34" charset="-120"/>
              </a:rPr>
              <a:t>VISUAL INSIGHT 6</a:t>
            </a:r>
            <a:endParaRPr lang="en-US" sz="900" dirty="0"/>
          </a:p>
        </p:txBody>
      </p:sp>
      <p:sp>
        <p:nvSpPr>
          <p:cNvPr id="46" name="Shape 0">
            <a:extLst>
              <a:ext uri="{FF2B5EF4-FFF2-40B4-BE49-F238E27FC236}">
                <a16:creationId xmlns:a16="http://schemas.microsoft.com/office/drawing/2014/main" id="{6047A42F-3D6D-E1C5-3DC4-A6A87ED7999E}"/>
              </a:ext>
            </a:extLst>
          </p:cNvPr>
          <p:cNvSpPr/>
          <p:nvPr/>
        </p:nvSpPr>
        <p:spPr>
          <a:xfrm>
            <a:off x="0" y="0"/>
            <a:ext cx="12191695" cy="73152"/>
          </a:xfrm>
          <a:prstGeom prst="rect">
            <a:avLst/>
          </a:prstGeom>
          <a:solidFill>
            <a:srgbClr val="2F6F7E"/>
          </a:solidFill>
          <a:ln w="12700">
            <a:noFill/>
            <a:prstDash val="solid"/>
          </a:ln>
        </p:spPr>
        <p:txBody>
          <a:bodyPr/>
          <a:lstStyle/>
          <a:p>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8F7F3"/>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F6F7E"/>
          </a:solidFill>
          <a:ln w="12700">
            <a:noFill/>
            <a:prstDash val="solid"/>
          </a:ln>
        </p:spPr>
        <p:txBody>
          <a:bodyPr/>
          <a:lstStyle/>
          <a:p>
            <a:endParaRPr/>
          </a:p>
        </p:txBody>
      </p:sp>
      <p:sp>
        <p:nvSpPr>
          <p:cNvPr id="3" name="Text 1"/>
          <p:cNvSpPr/>
          <p:nvPr/>
        </p:nvSpPr>
        <p:spPr>
          <a:xfrm>
            <a:off x="11521440" y="237744"/>
            <a:ext cx="347472" cy="182880"/>
          </a:xfrm>
          <a:prstGeom prst="rect">
            <a:avLst/>
          </a:prstGeom>
          <a:noFill/>
          <a:ln>
            <a:noFill/>
          </a:ln>
        </p:spPr>
        <p:txBody>
          <a:bodyPr wrap="square" rtlCol="0" anchor="ctr"/>
          <a:lstStyle/>
          <a:p>
            <a:pPr marL="0" indent="0" algn="r">
              <a:buNone/>
            </a:pPr>
            <a:r>
              <a:rPr lang="en-US" sz="800" dirty="0">
                <a:solidFill>
                  <a:srgbClr val="626B72"/>
                </a:solidFill>
                <a:latin typeface="Aptos" pitchFamily="34" charset="0"/>
                <a:ea typeface="Aptos" pitchFamily="34" charset="-122"/>
                <a:cs typeface="Aptos" pitchFamily="34" charset="-120"/>
              </a:rPr>
              <a:t>11</a:t>
            </a:r>
            <a:endParaRPr lang="en-US" sz="800" dirty="0"/>
          </a:p>
        </p:txBody>
      </p:sp>
      <p:sp>
        <p:nvSpPr>
          <p:cNvPr id="4" name="Text 2"/>
          <p:cNvSpPr/>
          <p:nvPr/>
        </p:nvSpPr>
        <p:spPr>
          <a:xfrm>
            <a:off x="594360" y="384048"/>
            <a:ext cx="5303520" cy="228600"/>
          </a:xfrm>
          <a:prstGeom prst="rect">
            <a:avLst/>
          </a:prstGeom>
          <a:noFill/>
          <a:ln>
            <a:noFill/>
          </a:ln>
        </p:spPr>
        <p:txBody>
          <a:bodyPr wrap="square" rtlCol="0" anchor="ctr"/>
          <a:lstStyle/>
          <a:p>
            <a:pPr marL="0" indent="0">
              <a:buNone/>
            </a:pPr>
            <a:r>
              <a:rPr lang="en-US" sz="900" b="1" dirty="0">
                <a:solidFill>
                  <a:srgbClr val="2F6F7E"/>
                </a:solidFill>
                <a:latin typeface="Aptos" pitchFamily="34" charset="0"/>
                <a:ea typeface="Aptos" pitchFamily="34" charset="-122"/>
                <a:cs typeface="Aptos" pitchFamily="34" charset="-120"/>
              </a:rPr>
              <a:t>CALL TO ACTION</a:t>
            </a:r>
            <a:endParaRPr lang="en-US" sz="900" dirty="0"/>
          </a:p>
        </p:txBody>
      </p:sp>
      <p:sp>
        <p:nvSpPr>
          <p:cNvPr id="5" name="Text 3"/>
          <p:cNvSpPr/>
          <p:nvPr/>
        </p:nvSpPr>
        <p:spPr>
          <a:xfrm>
            <a:off x="594360" y="658368"/>
            <a:ext cx="10972800" cy="502920"/>
          </a:xfrm>
          <a:prstGeom prst="rect">
            <a:avLst/>
          </a:prstGeom>
          <a:noFill/>
          <a:ln>
            <a:noFill/>
          </a:ln>
        </p:spPr>
        <p:txBody>
          <a:bodyPr wrap="square" lIns="0" tIns="0" rIns="0" bIns="0" rtlCol="0" anchor="ctr">
            <a:normAutofit/>
          </a:bodyPr>
          <a:lstStyle/>
          <a:p>
            <a:pPr marL="0" indent="0">
              <a:buNone/>
            </a:pPr>
            <a:r>
              <a:rPr lang="en-US" sz="2500" b="1" dirty="0">
                <a:solidFill>
                  <a:srgbClr val="263238"/>
                </a:solidFill>
                <a:latin typeface="Aptos Display" pitchFamily="34" charset="0"/>
                <a:ea typeface="Aptos Display" pitchFamily="34" charset="-122"/>
                <a:cs typeface="Aptos Display" pitchFamily="34" charset="-120"/>
              </a:rPr>
              <a:t>Where Netflix Should Place Its Next Content Bets</a:t>
            </a:r>
            <a:endParaRPr lang="en-US" sz="2500" dirty="0"/>
          </a:p>
        </p:txBody>
      </p:sp>
      <p:sp>
        <p:nvSpPr>
          <p:cNvPr id="6" name="Text 4"/>
          <p:cNvSpPr/>
          <p:nvPr/>
        </p:nvSpPr>
        <p:spPr>
          <a:xfrm>
            <a:off x="713232" y="1097280"/>
            <a:ext cx="9326880" cy="292608"/>
          </a:xfrm>
          <a:prstGeom prst="rect">
            <a:avLst/>
          </a:prstGeom>
          <a:noFill/>
          <a:ln>
            <a:noFill/>
          </a:ln>
        </p:spPr>
        <p:txBody>
          <a:bodyPr wrap="square" rtlCol="0" anchor="ctr">
            <a:normAutofit/>
          </a:bodyPr>
          <a:lstStyle/>
          <a:p>
            <a:pPr marL="0" indent="0">
              <a:buNone/>
            </a:pPr>
            <a:r>
              <a:rPr lang="en-US" sz="1320" dirty="0">
                <a:solidFill>
                  <a:srgbClr val="263238"/>
                </a:solidFill>
                <a:latin typeface="Aptos" pitchFamily="34" charset="0"/>
                <a:ea typeface="Aptos" pitchFamily="34" charset="-122"/>
                <a:cs typeface="Aptos" pitchFamily="34" charset="-120"/>
              </a:rPr>
              <a:t>Netflix’s best future bets are titles that can cross borders and stay visible long enough to build global word-of-mouth.</a:t>
            </a:r>
            <a:endParaRPr lang="en-US" sz="1320" dirty="0"/>
          </a:p>
        </p:txBody>
      </p:sp>
      <p:sp>
        <p:nvSpPr>
          <p:cNvPr id="7" name="Shape 5"/>
          <p:cNvSpPr/>
          <p:nvPr/>
        </p:nvSpPr>
        <p:spPr>
          <a:xfrm>
            <a:off x="960120" y="1828800"/>
            <a:ext cx="3200400" cy="1943100"/>
          </a:xfrm>
          <a:prstGeom prst="rect">
            <a:avLst/>
          </a:prstGeom>
          <a:solidFill>
            <a:srgbClr val="FFFFFF"/>
          </a:solidFill>
          <a:ln w="10160">
            <a:noFill/>
            <a:prstDash val="solid"/>
          </a:ln>
        </p:spPr>
        <p:txBody>
          <a:bodyPr/>
          <a:lstStyle/>
          <a:p>
            <a:endParaRPr/>
          </a:p>
        </p:txBody>
      </p:sp>
      <p:sp>
        <p:nvSpPr>
          <p:cNvPr id="8" name="Shape 6"/>
          <p:cNvSpPr/>
          <p:nvPr/>
        </p:nvSpPr>
        <p:spPr>
          <a:xfrm>
            <a:off x="4160520" y="1828800"/>
            <a:ext cx="3200400" cy="1943100"/>
          </a:xfrm>
          <a:prstGeom prst="rect">
            <a:avLst/>
          </a:prstGeom>
          <a:solidFill>
            <a:srgbClr val="FFFFFF"/>
          </a:solidFill>
          <a:ln w="10160">
            <a:noFill/>
            <a:prstDash val="solid"/>
          </a:ln>
        </p:spPr>
        <p:txBody>
          <a:bodyPr/>
          <a:lstStyle/>
          <a:p>
            <a:endParaRPr/>
          </a:p>
        </p:txBody>
      </p:sp>
      <p:sp>
        <p:nvSpPr>
          <p:cNvPr id="9" name="Shape 7"/>
          <p:cNvSpPr/>
          <p:nvPr/>
        </p:nvSpPr>
        <p:spPr>
          <a:xfrm>
            <a:off x="960120" y="3771900"/>
            <a:ext cx="3200400" cy="1943100"/>
          </a:xfrm>
          <a:prstGeom prst="rect">
            <a:avLst/>
          </a:prstGeom>
          <a:solidFill>
            <a:srgbClr val="FFFFFF"/>
          </a:solidFill>
          <a:ln w="10160">
            <a:noFill/>
            <a:prstDash val="solid"/>
          </a:ln>
        </p:spPr>
        <p:txBody>
          <a:bodyPr/>
          <a:lstStyle/>
          <a:p>
            <a:endParaRPr/>
          </a:p>
        </p:txBody>
      </p:sp>
      <p:sp>
        <p:nvSpPr>
          <p:cNvPr id="10" name="Shape 8"/>
          <p:cNvSpPr/>
          <p:nvPr/>
        </p:nvSpPr>
        <p:spPr>
          <a:xfrm>
            <a:off x="4160520" y="3771900"/>
            <a:ext cx="3200400" cy="1943100"/>
          </a:xfrm>
          <a:prstGeom prst="rect">
            <a:avLst/>
          </a:prstGeom>
          <a:solidFill>
            <a:srgbClr val="FFFFFF"/>
          </a:solidFill>
          <a:ln w="19050">
            <a:noFill/>
            <a:prstDash val="solid"/>
          </a:ln>
        </p:spPr>
        <p:txBody>
          <a:bodyPr/>
          <a:lstStyle/>
          <a:p>
            <a:endParaRPr/>
          </a:p>
        </p:txBody>
      </p:sp>
      <p:sp>
        <p:nvSpPr>
          <p:cNvPr id="11" name="Text 9"/>
          <p:cNvSpPr/>
          <p:nvPr/>
        </p:nvSpPr>
        <p:spPr>
          <a:xfrm>
            <a:off x="1252728" y="2395728"/>
            <a:ext cx="2377440" cy="457200"/>
          </a:xfrm>
          <a:prstGeom prst="rect">
            <a:avLst/>
          </a:prstGeom>
          <a:noFill/>
          <a:ln>
            <a:noFill/>
          </a:ln>
        </p:spPr>
        <p:txBody>
          <a:bodyPr wrap="square" rtlCol="0" anchor="ctr">
            <a:normAutofit/>
          </a:bodyPr>
          <a:lstStyle/>
          <a:p>
            <a:pPr marL="0" indent="0" algn="ctr">
              <a:buNone/>
            </a:pPr>
            <a:r>
              <a:rPr lang="en-US" sz="1200" dirty="0">
                <a:solidFill>
                  <a:srgbClr val="626B72"/>
                </a:solidFill>
                <a:latin typeface="Aptos" pitchFamily="34" charset="0"/>
                <a:ea typeface="Aptos" pitchFamily="34" charset="-122"/>
                <a:cs typeface="Aptos" pitchFamily="34" charset="-120"/>
              </a:rPr>
              <a:t>Regional loyalty</a:t>
            </a:r>
            <a:endParaRPr lang="en-US" sz="1200" dirty="0"/>
          </a:p>
          <a:p>
            <a:pPr marL="0" indent="0" algn="ctr">
              <a:buNone/>
            </a:pPr>
            <a:r>
              <a:rPr lang="en-US" sz="1200" dirty="0">
                <a:solidFill>
                  <a:srgbClr val="626B72"/>
                </a:solidFill>
                <a:latin typeface="Aptos" pitchFamily="34" charset="0"/>
                <a:ea typeface="Aptos" pitchFamily="34" charset="-122"/>
                <a:cs typeface="Aptos" pitchFamily="34" charset="-120"/>
              </a:rPr>
              <a:t>possible niche opportunity</a:t>
            </a:r>
            <a:endParaRPr lang="en-US" sz="1200" dirty="0"/>
          </a:p>
        </p:txBody>
      </p:sp>
      <p:sp>
        <p:nvSpPr>
          <p:cNvPr id="12" name="Text 10"/>
          <p:cNvSpPr/>
          <p:nvPr/>
        </p:nvSpPr>
        <p:spPr>
          <a:xfrm>
            <a:off x="4526280" y="2395728"/>
            <a:ext cx="2377440" cy="457200"/>
          </a:xfrm>
          <a:prstGeom prst="rect">
            <a:avLst/>
          </a:prstGeom>
          <a:noFill/>
          <a:ln>
            <a:noFill/>
          </a:ln>
        </p:spPr>
        <p:txBody>
          <a:bodyPr wrap="square" rtlCol="0" anchor="ctr">
            <a:normAutofit/>
          </a:bodyPr>
          <a:lstStyle/>
          <a:p>
            <a:pPr marL="0" indent="0" algn="ctr">
              <a:buNone/>
            </a:pPr>
            <a:r>
              <a:rPr lang="en-US" sz="1200" dirty="0">
                <a:solidFill>
                  <a:srgbClr val="626B72"/>
                </a:solidFill>
                <a:latin typeface="Aptos" pitchFamily="34" charset="0"/>
                <a:ea typeface="Aptos" pitchFamily="34" charset="-122"/>
                <a:cs typeface="Aptos" pitchFamily="34" charset="-120"/>
              </a:rPr>
              <a:t>Strong launch</a:t>
            </a:r>
            <a:endParaRPr lang="en-US" sz="1200" dirty="0"/>
          </a:p>
          <a:p>
            <a:pPr marL="0" indent="0" algn="ctr">
              <a:buNone/>
            </a:pPr>
            <a:r>
              <a:rPr lang="en-US" sz="1200" dirty="0">
                <a:solidFill>
                  <a:srgbClr val="626B72"/>
                </a:solidFill>
                <a:latin typeface="Aptos" pitchFamily="34" charset="0"/>
                <a:ea typeface="Aptos" pitchFamily="34" charset="-122"/>
                <a:cs typeface="Aptos" pitchFamily="34" charset="-120"/>
              </a:rPr>
              <a:t>needs better retention</a:t>
            </a:r>
            <a:endParaRPr lang="en-US" sz="1200" dirty="0"/>
          </a:p>
        </p:txBody>
      </p:sp>
      <p:sp>
        <p:nvSpPr>
          <p:cNvPr id="13" name="Text 11"/>
          <p:cNvSpPr/>
          <p:nvPr/>
        </p:nvSpPr>
        <p:spPr>
          <a:xfrm>
            <a:off x="1417320" y="4549140"/>
            <a:ext cx="2148840" cy="228600"/>
          </a:xfrm>
          <a:prstGeom prst="rect">
            <a:avLst/>
          </a:prstGeom>
          <a:noFill/>
          <a:ln>
            <a:noFill/>
          </a:ln>
        </p:spPr>
        <p:txBody>
          <a:bodyPr wrap="square" rtlCol="0" anchor="ctr"/>
          <a:lstStyle/>
          <a:p>
            <a:pPr marL="0" indent="0" algn="ctr">
              <a:buNone/>
            </a:pPr>
            <a:r>
              <a:rPr lang="en-US" sz="1200" dirty="0">
                <a:solidFill>
                  <a:srgbClr val="626B72"/>
                </a:solidFill>
                <a:latin typeface="Aptos" pitchFamily="34" charset="0"/>
                <a:ea typeface="Aptos" pitchFamily="34" charset="-122"/>
                <a:cs typeface="Aptos" pitchFamily="34" charset="-120"/>
              </a:rPr>
              <a:t>Limited strategic value</a:t>
            </a:r>
            <a:endParaRPr lang="en-US" sz="1200" dirty="0"/>
          </a:p>
        </p:txBody>
      </p:sp>
      <p:sp>
        <p:nvSpPr>
          <p:cNvPr id="14" name="Text 12"/>
          <p:cNvSpPr/>
          <p:nvPr/>
        </p:nvSpPr>
        <p:spPr>
          <a:xfrm>
            <a:off x="4480560" y="4247388"/>
            <a:ext cx="2606040" cy="256032"/>
          </a:xfrm>
          <a:prstGeom prst="rect">
            <a:avLst/>
          </a:prstGeom>
          <a:noFill/>
          <a:ln>
            <a:noFill/>
          </a:ln>
        </p:spPr>
        <p:txBody>
          <a:bodyPr wrap="square" rtlCol="0" anchor="ctr"/>
          <a:lstStyle/>
          <a:p>
            <a:pPr marL="0" indent="0" algn="ctr">
              <a:buNone/>
            </a:pPr>
            <a:r>
              <a:rPr lang="en-US" sz="1250" b="1" dirty="0">
                <a:solidFill>
                  <a:srgbClr val="263238"/>
                </a:solidFill>
                <a:latin typeface="Aptos" pitchFamily="34" charset="0"/>
                <a:ea typeface="Aptos" pitchFamily="34" charset="-122"/>
                <a:cs typeface="Aptos" pitchFamily="34" charset="-120"/>
              </a:rPr>
              <a:t>BEST INVESTMENT ZONE</a:t>
            </a:r>
            <a:endParaRPr lang="en-US" sz="1250" dirty="0"/>
          </a:p>
        </p:txBody>
      </p:sp>
      <p:sp>
        <p:nvSpPr>
          <p:cNvPr id="15" name="Text 13"/>
          <p:cNvSpPr/>
          <p:nvPr/>
        </p:nvSpPr>
        <p:spPr>
          <a:xfrm>
            <a:off x="4663440" y="4640580"/>
            <a:ext cx="2331720" cy="457200"/>
          </a:xfrm>
          <a:prstGeom prst="rect">
            <a:avLst/>
          </a:prstGeom>
          <a:noFill/>
          <a:ln>
            <a:noFill/>
          </a:ln>
        </p:spPr>
        <p:txBody>
          <a:bodyPr wrap="square" rtlCol="0" anchor="ctr"/>
          <a:lstStyle/>
          <a:p>
            <a:pPr marL="0" indent="0" algn="ctr">
              <a:buNone/>
            </a:pPr>
            <a:r>
              <a:rPr lang="en-US" sz="1250" dirty="0">
                <a:solidFill>
                  <a:srgbClr val="263238"/>
                </a:solidFill>
                <a:latin typeface="Aptos" pitchFamily="34" charset="0"/>
                <a:ea typeface="Aptos" pitchFamily="34" charset="-122"/>
                <a:cs typeface="Aptos" pitchFamily="34" charset="-120"/>
              </a:rPr>
              <a:t>Global reach +</a:t>
            </a:r>
            <a:endParaRPr lang="en-US" sz="1250" dirty="0"/>
          </a:p>
          <a:p>
            <a:pPr marL="0" indent="0" algn="ctr">
              <a:buNone/>
            </a:pPr>
            <a:r>
              <a:rPr lang="en-US" sz="1250" dirty="0">
                <a:solidFill>
                  <a:srgbClr val="263238"/>
                </a:solidFill>
                <a:latin typeface="Aptos" pitchFamily="34" charset="0"/>
                <a:ea typeface="Aptos" pitchFamily="34" charset="-122"/>
                <a:cs typeface="Aptos" pitchFamily="34" charset="-120"/>
              </a:rPr>
              <a:t>long-term staying power</a:t>
            </a:r>
            <a:endParaRPr lang="en-US" sz="1250" dirty="0"/>
          </a:p>
        </p:txBody>
      </p:sp>
      <p:sp>
        <p:nvSpPr>
          <p:cNvPr id="16" name="Text 14"/>
          <p:cNvSpPr/>
          <p:nvPr/>
        </p:nvSpPr>
        <p:spPr>
          <a:xfrm>
            <a:off x="4480560" y="5189220"/>
            <a:ext cx="2651760" cy="457200"/>
          </a:xfrm>
          <a:prstGeom prst="rect">
            <a:avLst/>
          </a:prstGeom>
          <a:noFill/>
          <a:ln>
            <a:noFill/>
          </a:ln>
        </p:spPr>
        <p:txBody>
          <a:bodyPr wrap="square" rtlCol="0" anchor="ctr">
            <a:normAutofit/>
          </a:bodyPr>
          <a:lstStyle/>
          <a:p>
            <a:pPr marL="0" indent="0" algn="ctr">
              <a:buNone/>
            </a:pPr>
            <a:r>
              <a:rPr lang="en-US" sz="950" dirty="0">
                <a:solidFill>
                  <a:srgbClr val="263238"/>
                </a:solidFill>
                <a:latin typeface="Aptos" pitchFamily="34" charset="0"/>
                <a:ea typeface="Aptos" pitchFamily="34" charset="-122"/>
                <a:cs typeface="Aptos" pitchFamily="34" charset="-120"/>
              </a:rPr>
              <a:t>Squid Game  •  All of Us Are Dead</a:t>
            </a:r>
            <a:endParaRPr lang="en-US" sz="950" dirty="0"/>
          </a:p>
          <a:p>
            <a:pPr marL="0" indent="0" algn="ctr">
              <a:buNone/>
            </a:pPr>
            <a:r>
              <a:rPr lang="en-US" sz="950" dirty="0">
                <a:solidFill>
                  <a:srgbClr val="263238"/>
                </a:solidFill>
                <a:latin typeface="Aptos" pitchFamily="34" charset="0"/>
                <a:ea typeface="Aptos" pitchFamily="34" charset="-122"/>
                <a:cs typeface="Aptos" pitchFamily="34" charset="-120"/>
              </a:rPr>
              <a:t>ONE PIECE  •  Alice in Borderland</a:t>
            </a:r>
            <a:endParaRPr lang="en-US" sz="950" dirty="0"/>
          </a:p>
        </p:txBody>
      </p:sp>
      <p:sp>
        <p:nvSpPr>
          <p:cNvPr id="17" name="Text 15"/>
          <p:cNvSpPr/>
          <p:nvPr/>
        </p:nvSpPr>
        <p:spPr>
          <a:xfrm>
            <a:off x="960120" y="5879592"/>
            <a:ext cx="1828800" cy="182880"/>
          </a:xfrm>
          <a:prstGeom prst="rect">
            <a:avLst/>
          </a:prstGeom>
          <a:noFill/>
          <a:ln>
            <a:noFill/>
          </a:ln>
        </p:spPr>
        <p:txBody>
          <a:bodyPr wrap="square" rtlCol="0" anchor="ctr"/>
          <a:lstStyle/>
          <a:p>
            <a:pPr marL="0" indent="0">
              <a:buNone/>
            </a:pPr>
            <a:r>
              <a:rPr lang="en-US" sz="850" dirty="0">
                <a:solidFill>
                  <a:srgbClr val="626B72"/>
                </a:solidFill>
                <a:latin typeface="Aptos" pitchFamily="34" charset="0"/>
                <a:ea typeface="Aptos" pitchFamily="34" charset="-122"/>
                <a:cs typeface="Aptos" pitchFamily="34" charset="-120"/>
              </a:rPr>
              <a:t>Lower Global Reach</a:t>
            </a:r>
            <a:endParaRPr lang="en-US" sz="850" dirty="0"/>
          </a:p>
        </p:txBody>
      </p:sp>
      <p:sp>
        <p:nvSpPr>
          <p:cNvPr id="18" name="Text 16"/>
          <p:cNvSpPr/>
          <p:nvPr/>
        </p:nvSpPr>
        <p:spPr>
          <a:xfrm>
            <a:off x="5532120" y="5879592"/>
            <a:ext cx="1828800" cy="182880"/>
          </a:xfrm>
          <a:prstGeom prst="rect">
            <a:avLst/>
          </a:prstGeom>
          <a:noFill/>
          <a:ln>
            <a:noFill/>
          </a:ln>
        </p:spPr>
        <p:txBody>
          <a:bodyPr wrap="square" rtlCol="0" anchor="ctr"/>
          <a:lstStyle/>
          <a:p>
            <a:pPr marL="0" indent="0" algn="r">
              <a:buNone/>
            </a:pPr>
            <a:r>
              <a:rPr lang="en-US" sz="850" dirty="0">
                <a:solidFill>
                  <a:srgbClr val="626B72"/>
                </a:solidFill>
                <a:latin typeface="Aptos" pitchFamily="34" charset="0"/>
                <a:ea typeface="Aptos" pitchFamily="34" charset="-122"/>
                <a:cs typeface="Aptos" pitchFamily="34" charset="-120"/>
              </a:rPr>
              <a:t>Higher Global Reach</a:t>
            </a:r>
            <a:endParaRPr lang="en-US" sz="850" dirty="0"/>
          </a:p>
        </p:txBody>
      </p:sp>
      <p:sp>
        <p:nvSpPr>
          <p:cNvPr id="19" name="Text 17"/>
          <p:cNvSpPr/>
          <p:nvPr/>
        </p:nvSpPr>
        <p:spPr>
          <a:xfrm rot="16200000">
            <a:off x="228600" y="5303520"/>
            <a:ext cx="731520" cy="292608"/>
          </a:xfrm>
          <a:prstGeom prst="rect">
            <a:avLst/>
          </a:prstGeom>
          <a:noFill/>
          <a:ln>
            <a:noFill/>
          </a:ln>
        </p:spPr>
        <p:txBody>
          <a:bodyPr wrap="square" rtlCol="0" anchor="ctr">
            <a:normAutofit fontScale="92500" lnSpcReduction="20000"/>
          </a:bodyPr>
          <a:lstStyle/>
          <a:p>
            <a:pPr marL="0" indent="0">
              <a:buNone/>
            </a:pPr>
            <a:r>
              <a:rPr lang="en-US" sz="850" dirty="0">
                <a:solidFill>
                  <a:srgbClr val="626B72"/>
                </a:solidFill>
                <a:latin typeface="Aptos" pitchFamily="34" charset="0"/>
                <a:ea typeface="Aptos" pitchFamily="34" charset="-122"/>
                <a:cs typeface="Aptos" pitchFamily="34" charset="-120"/>
              </a:rPr>
              <a:t>Short-Term Interest</a:t>
            </a:r>
            <a:endParaRPr lang="en-US" sz="850" dirty="0"/>
          </a:p>
        </p:txBody>
      </p:sp>
      <p:sp>
        <p:nvSpPr>
          <p:cNvPr id="20" name="Text 18"/>
          <p:cNvSpPr/>
          <p:nvPr/>
        </p:nvSpPr>
        <p:spPr>
          <a:xfrm rot="16200000">
            <a:off x="137160" y="2468880"/>
            <a:ext cx="822960" cy="310896"/>
          </a:xfrm>
          <a:prstGeom prst="rect">
            <a:avLst/>
          </a:prstGeom>
          <a:noFill/>
          <a:ln>
            <a:noFill/>
          </a:ln>
        </p:spPr>
        <p:txBody>
          <a:bodyPr wrap="square" rtlCol="0" anchor="ctr">
            <a:normAutofit fontScale="92500" lnSpcReduction="20000"/>
          </a:bodyPr>
          <a:lstStyle/>
          <a:p>
            <a:pPr marL="0" indent="0">
              <a:buNone/>
            </a:pPr>
            <a:r>
              <a:rPr lang="en-US" sz="850" dirty="0">
                <a:solidFill>
                  <a:srgbClr val="626B72"/>
                </a:solidFill>
                <a:latin typeface="Aptos" pitchFamily="34" charset="0"/>
                <a:ea typeface="Aptos" pitchFamily="34" charset="-122"/>
                <a:cs typeface="Aptos" pitchFamily="34" charset="-120"/>
              </a:rPr>
              <a:t>Long-Term Staying Power</a:t>
            </a:r>
            <a:endParaRPr lang="en-US" sz="850" dirty="0"/>
          </a:p>
        </p:txBody>
      </p:sp>
      <p:sp>
        <p:nvSpPr>
          <p:cNvPr id="21" name="Shape 19"/>
          <p:cNvSpPr/>
          <p:nvPr/>
        </p:nvSpPr>
        <p:spPr>
          <a:xfrm>
            <a:off x="7909560" y="1874520"/>
            <a:ext cx="3429000" cy="3429000"/>
          </a:xfrm>
          <a:prstGeom prst="roundRect">
            <a:avLst>
              <a:gd name="adj" fmla="val 2667"/>
            </a:avLst>
          </a:prstGeom>
          <a:solidFill>
            <a:srgbClr val="2F6F7E"/>
          </a:solidFill>
          <a:ln w="12700">
            <a:noFill/>
            <a:prstDash val="solid"/>
          </a:ln>
        </p:spPr>
        <p:txBody>
          <a:bodyPr/>
          <a:lstStyle/>
          <a:p>
            <a:endParaRPr/>
          </a:p>
        </p:txBody>
      </p:sp>
      <p:sp>
        <p:nvSpPr>
          <p:cNvPr id="22" name="Text 20"/>
          <p:cNvSpPr/>
          <p:nvPr/>
        </p:nvSpPr>
        <p:spPr>
          <a:xfrm>
            <a:off x="8229600" y="2240280"/>
            <a:ext cx="2743200" cy="237744"/>
          </a:xfrm>
          <a:prstGeom prst="rect">
            <a:avLst/>
          </a:prstGeom>
          <a:noFill/>
          <a:ln>
            <a:noFill/>
          </a:ln>
        </p:spPr>
        <p:txBody>
          <a:bodyPr wrap="square" rtlCol="0" anchor="ctr"/>
          <a:lstStyle/>
          <a:p>
            <a:pPr marL="0" indent="0">
              <a:buNone/>
            </a:pPr>
            <a:r>
              <a:rPr lang="en-US" sz="1200" b="1" dirty="0">
                <a:solidFill>
                  <a:srgbClr val="263238"/>
                </a:solidFill>
                <a:latin typeface="Aptos" pitchFamily="34" charset="0"/>
                <a:ea typeface="Aptos" pitchFamily="34" charset="-122"/>
                <a:cs typeface="Aptos" pitchFamily="34" charset="-120"/>
              </a:rPr>
              <a:t>Recommendation</a:t>
            </a:r>
            <a:endParaRPr lang="en-US" sz="1200" dirty="0"/>
          </a:p>
        </p:txBody>
      </p:sp>
      <p:sp>
        <p:nvSpPr>
          <p:cNvPr id="23" name="Text 21"/>
          <p:cNvSpPr/>
          <p:nvPr/>
        </p:nvSpPr>
        <p:spPr>
          <a:xfrm>
            <a:off x="8229600" y="2670048"/>
            <a:ext cx="2697480" cy="713232"/>
          </a:xfrm>
          <a:prstGeom prst="rect">
            <a:avLst/>
          </a:prstGeom>
          <a:noFill/>
          <a:ln>
            <a:noFill/>
          </a:ln>
        </p:spPr>
        <p:txBody>
          <a:bodyPr wrap="square" rtlCol="0" anchor="ctr">
            <a:normAutofit fontScale="85000" lnSpcReduction="20000"/>
          </a:bodyPr>
          <a:lstStyle/>
          <a:p>
            <a:pPr marL="0" indent="0">
              <a:buNone/>
            </a:pPr>
            <a:r>
              <a:rPr lang="en-US" sz="1900" b="1" dirty="0">
                <a:solidFill>
                  <a:srgbClr val="263238"/>
                </a:solidFill>
                <a:latin typeface="Aptos Display" pitchFamily="34" charset="0"/>
                <a:ea typeface="Aptos Display" pitchFamily="34" charset="-122"/>
                <a:cs typeface="Aptos Display" pitchFamily="34" charset="-120"/>
              </a:rPr>
              <a:t>Invest more heavily in globally adaptable Asian-originated stories.</a:t>
            </a:r>
            <a:endParaRPr lang="en-US" sz="1900" dirty="0"/>
          </a:p>
        </p:txBody>
      </p:sp>
      <p:sp>
        <p:nvSpPr>
          <p:cNvPr id="24" name="Text 22"/>
          <p:cNvSpPr/>
          <p:nvPr/>
        </p:nvSpPr>
        <p:spPr>
          <a:xfrm>
            <a:off x="8229600" y="3657600"/>
            <a:ext cx="2697480" cy="868680"/>
          </a:xfrm>
          <a:prstGeom prst="rect">
            <a:avLst/>
          </a:prstGeom>
          <a:noFill/>
          <a:ln>
            <a:noFill/>
          </a:ln>
        </p:spPr>
        <p:txBody>
          <a:bodyPr wrap="square" rtlCol="0" anchor="ctr">
            <a:normAutofit/>
          </a:bodyPr>
          <a:lstStyle/>
          <a:p>
            <a:pPr marL="0" indent="0">
              <a:buNone/>
            </a:pPr>
            <a:r>
              <a:rPr lang="en-US" sz="1230" dirty="0">
                <a:solidFill>
                  <a:srgbClr val="263238"/>
                </a:solidFill>
                <a:latin typeface="Aptos" pitchFamily="34" charset="0"/>
                <a:ea typeface="Aptos" pitchFamily="34" charset="-122"/>
                <a:cs typeface="Aptos" pitchFamily="34" charset="-120"/>
              </a:rPr>
              <a:t>Priority areas: limited series, reality competition formats, anime-inspired adaptations, and Korean/Japanese genre storytelling.</a:t>
            </a:r>
            <a:endParaRPr lang="en-US" sz="1230" dirty="0"/>
          </a:p>
        </p:txBody>
      </p:sp>
      <p:sp>
        <p:nvSpPr>
          <p:cNvPr id="25" name="Text 23"/>
          <p:cNvSpPr/>
          <p:nvPr/>
        </p:nvSpPr>
        <p:spPr>
          <a:xfrm>
            <a:off x="502920" y="6556248"/>
            <a:ext cx="8503920" cy="164592"/>
          </a:xfrm>
          <a:prstGeom prst="rect">
            <a:avLst/>
          </a:prstGeom>
          <a:noFill/>
          <a:ln>
            <a:noFill/>
          </a:ln>
        </p:spPr>
        <p:txBody>
          <a:bodyPr wrap="square" rtlCol="0" anchor="ctr">
            <a:normAutofit fontScale="77500" lnSpcReduction="20000"/>
          </a:bodyPr>
          <a:lstStyle/>
          <a:p>
            <a:pPr marL="0" indent="0">
              <a:buNone/>
            </a:pPr>
            <a:r>
              <a:rPr lang="en-US" sz="650" dirty="0">
                <a:solidFill>
                  <a:srgbClr val="626B72"/>
                </a:solidFill>
                <a:latin typeface="Aptos" pitchFamily="34" charset="0"/>
                <a:ea typeface="Aptos" pitchFamily="34" charset="-122"/>
                <a:cs typeface="Aptos" pitchFamily="34" charset="-120"/>
              </a:rPr>
              <a:t>Data sources: All three provided Netflix datasets. Matrix summarizes reach, staying power, and Most Popular performance.</a:t>
            </a:r>
            <a:endParaRPr lang="en-US" sz="650" dirty="0"/>
          </a:p>
        </p:txBody>
      </p:sp>
      <p:sp>
        <p:nvSpPr>
          <p:cNvPr id="26" name="Text 24"/>
          <p:cNvSpPr/>
          <p:nvPr/>
        </p:nvSpPr>
        <p:spPr>
          <a:xfrm>
            <a:off x="10789920" y="6510528"/>
            <a:ext cx="868680" cy="182880"/>
          </a:xfrm>
          <a:prstGeom prst="rect">
            <a:avLst/>
          </a:prstGeom>
          <a:noFill/>
          <a:ln>
            <a:noFill/>
          </a:ln>
        </p:spPr>
        <p:txBody>
          <a:bodyPr wrap="square" rtlCol="0" anchor="ctr"/>
          <a:lstStyle/>
          <a:p>
            <a:pPr marL="0" indent="0" algn="r">
              <a:buNone/>
            </a:pPr>
            <a:r>
              <a:rPr lang="en-US" sz="750" dirty="0">
                <a:solidFill>
                  <a:srgbClr val="626B72"/>
                </a:solidFill>
                <a:latin typeface="Aptos" pitchFamily="34" charset="0"/>
                <a:ea typeface="Aptos" pitchFamily="34" charset="-122"/>
                <a:cs typeface="Aptos" pitchFamily="34" charset="-120"/>
              </a:rPr>
              <a:t>DSC640</a:t>
            </a:r>
            <a:endParaRPr lang="en-US" sz="750" dirty="0"/>
          </a:p>
        </p:txBody>
      </p:sp>
      <p:sp>
        <p:nvSpPr>
          <p:cNvPr id="27" name="Rectangle 26"/>
          <p:cNvSpPr/>
          <p:nvPr/>
        </p:nvSpPr>
        <p:spPr>
          <a:xfrm>
            <a:off x="320040" y="6556248"/>
            <a:ext cx="11567160" cy="18288"/>
          </a:xfrm>
          <a:prstGeom prst="rect">
            <a:avLst/>
          </a:prstGeom>
          <a:solidFill>
            <a:srgbClr val="2F6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8207" y="640080"/>
            <a:ext cx="10881360" cy="530352"/>
          </a:xfrm>
          <a:prstGeom prst="rect">
            <a:avLst/>
          </a:prstGeom>
          <a:noFill/>
          <a:ln/>
        </p:spPr>
        <p:txBody>
          <a:bodyPr wrap="square" lIns="0" tIns="0" rIns="0" bIns="0" rtlCol="0" anchor="t">
            <a:normAutofit/>
          </a:bodyPr>
          <a:lstStyle/>
          <a:p>
            <a:pPr marL="0" indent="0" algn="l">
              <a:buNone/>
            </a:pPr>
            <a:r>
              <a:rPr lang="en-US" sz="3100" b="1" dirty="0">
                <a:solidFill>
                  <a:srgbClr val="1F2933"/>
                </a:solidFill>
                <a:latin typeface="Aptos Display" pitchFamily="34" charset="0"/>
                <a:ea typeface="Aptos Display" pitchFamily="34" charset="-122"/>
                <a:cs typeface="Aptos Display" pitchFamily="34" charset="-120"/>
              </a:rPr>
              <a:t>Make Global Content a Mainstream Growth Strategy</a:t>
            </a:r>
            <a:endParaRPr lang="en-US" sz="3100" dirty="0"/>
          </a:p>
        </p:txBody>
      </p:sp>
      <p:sp>
        <p:nvSpPr>
          <p:cNvPr id="4" name="Shape 2"/>
          <p:cNvSpPr/>
          <p:nvPr/>
        </p:nvSpPr>
        <p:spPr>
          <a:xfrm>
            <a:off x="566928" y="1298448"/>
            <a:ext cx="11064240" cy="960120"/>
          </a:xfrm>
          <a:prstGeom prst="roundRect">
            <a:avLst>
              <a:gd name="adj" fmla="val 7619"/>
            </a:avLst>
          </a:prstGeom>
          <a:solidFill>
            <a:srgbClr val="FFFFFF"/>
          </a:solidFill>
          <a:ln w="12700">
            <a:solidFill>
              <a:srgbClr val="E5E1DA"/>
            </a:solidFill>
            <a:prstDash val="solid"/>
          </a:ln>
        </p:spPr>
        <p:txBody>
          <a:bodyPr/>
          <a:lstStyle/>
          <a:p>
            <a:endParaRPr lang="en-US"/>
          </a:p>
        </p:txBody>
      </p:sp>
      <p:sp>
        <p:nvSpPr>
          <p:cNvPr id="5" name="Text 3"/>
          <p:cNvSpPr/>
          <p:nvPr/>
        </p:nvSpPr>
        <p:spPr>
          <a:xfrm>
            <a:off x="868680" y="1572768"/>
            <a:ext cx="10378440" cy="347472"/>
          </a:xfrm>
          <a:prstGeom prst="rect">
            <a:avLst/>
          </a:prstGeom>
          <a:noFill/>
          <a:ln/>
        </p:spPr>
        <p:txBody>
          <a:bodyPr wrap="square" lIns="0" tIns="0" rIns="0" bIns="0" rtlCol="0" anchor="t">
            <a:normAutofit fontScale="70000" lnSpcReduction="20000"/>
          </a:bodyPr>
          <a:lstStyle/>
          <a:p>
            <a:pPr marL="0" indent="0" algn="ctr">
              <a:buNone/>
            </a:pPr>
            <a:r>
              <a:rPr lang="en-US" sz="1850" b="1" dirty="0">
                <a:solidFill>
                  <a:srgbClr val="1F2933"/>
                </a:solidFill>
                <a:latin typeface="Aptos" pitchFamily="34" charset="0"/>
                <a:ea typeface="Aptos" pitchFamily="34" charset="-122"/>
                <a:cs typeface="Aptos" pitchFamily="34" charset="-120"/>
              </a:rPr>
              <a:t>Netflix should treat Asian-originated and globally adaptable content as a core investment category — not as a niche international segment.</a:t>
            </a:r>
            <a:endParaRPr lang="en-US" sz="1850" dirty="0"/>
          </a:p>
        </p:txBody>
      </p:sp>
      <p:sp>
        <p:nvSpPr>
          <p:cNvPr id="6" name="Shape 4"/>
          <p:cNvSpPr/>
          <p:nvPr/>
        </p:nvSpPr>
        <p:spPr>
          <a:xfrm>
            <a:off x="566928" y="2560320"/>
            <a:ext cx="3547872" cy="2011680"/>
          </a:xfrm>
          <a:prstGeom prst="roundRect">
            <a:avLst>
              <a:gd name="adj" fmla="val 3636"/>
            </a:avLst>
          </a:prstGeom>
          <a:solidFill>
            <a:srgbClr val="FFFFFF"/>
          </a:solidFill>
          <a:ln w="12700">
            <a:solidFill>
              <a:srgbClr val="E5E1DA"/>
            </a:solidFill>
            <a:prstDash val="solid"/>
          </a:ln>
        </p:spPr>
        <p:txBody>
          <a:bodyPr/>
          <a:lstStyle/>
          <a:p>
            <a:endParaRPr lang="en-US"/>
          </a:p>
        </p:txBody>
      </p:sp>
      <p:sp>
        <p:nvSpPr>
          <p:cNvPr id="7" name="Shape 5"/>
          <p:cNvSpPr/>
          <p:nvPr/>
        </p:nvSpPr>
        <p:spPr>
          <a:xfrm>
            <a:off x="566928" y="2560320"/>
            <a:ext cx="3547872" cy="73152"/>
          </a:xfrm>
          <a:prstGeom prst="rect">
            <a:avLst/>
          </a:prstGeom>
          <a:solidFill>
            <a:srgbClr val="2A7F86"/>
          </a:solidFill>
          <a:ln w="12700">
            <a:solidFill>
              <a:srgbClr val="2A7F86">
                <a:alpha val="0"/>
              </a:srgbClr>
            </a:solidFill>
            <a:prstDash val="solid"/>
          </a:ln>
        </p:spPr>
        <p:txBody>
          <a:bodyPr/>
          <a:lstStyle/>
          <a:p>
            <a:endParaRPr lang="en-US"/>
          </a:p>
        </p:txBody>
      </p:sp>
      <p:sp>
        <p:nvSpPr>
          <p:cNvPr id="8" name="Shape 6"/>
          <p:cNvSpPr/>
          <p:nvPr/>
        </p:nvSpPr>
        <p:spPr>
          <a:xfrm>
            <a:off x="768096" y="2816352"/>
            <a:ext cx="475488" cy="475488"/>
          </a:xfrm>
          <a:prstGeom prst="ellipse">
            <a:avLst/>
          </a:prstGeom>
          <a:solidFill>
            <a:srgbClr val="F0EDE7"/>
          </a:solidFill>
          <a:ln w="12700">
            <a:solidFill>
              <a:srgbClr val="F0EDE7">
                <a:alpha val="0"/>
              </a:srgbClr>
            </a:solidFill>
            <a:prstDash val="solid"/>
          </a:ln>
        </p:spPr>
        <p:txBody>
          <a:bodyPr/>
          <a:lstStyle/>
          <a:p>
            <a:endParaRPr lang="en-US"/>
          </a:p>
        </p:txBody>
      </p:sp>
      <p:sp>
        <p:nvSpPr>
          <p:cNvPr id="9" name="Text 7"/>
          <p:cNvSpPr/>
          <p:nvPr/>
        </p:nvSpPr>
        <p:spPr>
          <a:xfrm>
            <a:off x="923544" y="2916936"/>
            <a:ext cx="164592" cy="201168"/>
          </a:xfrm>
          <a:prstGeom prst="rect">
            <a:avLst/>
          </a:prstGeom>
          <a:noFill/>
          <a:ln/>
        </p:spPr>
        <p:txBody>
          <a:bodyPr wrap="square" lIns="0" tIns="0" rIns="0" bIns="0" rtlCol="0" anchor="t">
            <a:normAutofit fontScale="92500" lnSpcReduction="10000"/>
          </a:bodyPr>
          <a:lstStyle/>
          <a:p>
            <a:pPr marL="0" indent="0" algn="ctr">
              <a:buNone/>
            </a:pPr>
            <a:r>
              <a:rPr lang="en-US" sz="1500" b="1" dirty="0">
                <a:solidFill>
                  <a:srgbClr val="2A7F86"/>
                </a:solidFill>
                <a:latin typeface="Aptos" pitchFamily="34" charset="0"/>
                <a:ea typeface="Aptos" pitchFamily="34" charset="-122"/>
                <a:cs typeface="Aptos" pitchFamily="34" charset="-120"/>
              </a:rPr>
              <a:t>1</a:t>
            </a:r>
            <a:endParaRPr lang="en-US" sz="1500" dirty="0"/>
          </a:p>
        </p:txBody>
      </p:sp>
      <p:sp>
        <p:nvSpPr>
          <p:cNvPr id="10" name="Text 8"/>
          <p:cNvSpPr/>
          <p:nvPr/>
        </p:nvSpPr>
        <p:spPr>
          <a:xfrm>
            <a:off x="1389888" y="2807208"/>
            <a:ext cx="2523744" cy="566928"/>
          </a:xfrm>
          <a:prstGeom prst="rect">
            <a:avLst/>
          </a:prstGeom>
          <a:noFill/>
          <a:ln/>
        </p:spPr>
        <p:txBody>
          <a:bodyPr wrap="square" lIns="0" tIns="0" rIns="0" bIns="0" rtlCol="0" anchor="t">
            <a:normAutofit/>
          </a:bodyPr>
          <a:lstStyle/>
          <a:p>
            <a:pPr marL="0" indent="0" algn="l">
              <a:buNone/>
            </a:pPr>
            <a:r>
              <a:rPr lang="en-US" sz="1700" b="1" dirty="0">
                <a:solidFill>
                  <a:srgbClr val="1F2933"/>
                </a:solidFill>
                <a:latin typeface="Aptos" pitchFamily="34" charset="0"/>
                <a:ea typeface="Aptos" pitchFamily="34" charset="-122"/>
                <a:cs typeface="Aptos" pitchFamily="34" charset="-120"/>
              </a:rPr>
              <a:t>Invest in repeatable global formats</a:t>
            </a:r>
            <a:endParaRPr lang="en-US" sz="1700" dirty="0"/>
          </a:p>
        </p:txBody>
      </p:sp>
      <p:sp>
        <p:nvSpPr>
          <p:cNvPr id="11" name="Text 9"/>
          <p:cNvSpPr/>
          <p:nvPr/>
        </p:nvSpPr>
        <p:spPr>
          <a:xfrm>
            <a:off x="859536" y="3547872"/>
            <a:ext cx="2962656" cy="777240"/>
          </a:xfrm>
          <a:prstGeom prst="rect">
            <a:avLst/>
          </a:prstGeom>
          <a:noFill/>
          <a:ln/>
        </p:spPr>
        <p:txBody>
          <a:bodyPr wrap="square" lIns="0" tIns="0" rIns="0" bIns="0" rtlCol="0" anchor="t">
            <a:normAutofit lnSpcReduction="10000"/>
          </a:bodyPr>
          <a:lstStyle/>
          <a:p>
            <a:pPr marL="0" indent="0" algn="l">
              <a:buNone/>
            </a:pPr>
            <a:r>
              <a:rPr lang="en-US" sz="1370" dirty="0">
                <a:solidFill>
                  <a:srgbClr val="5B6670"/>
                </a:solidFill>
                <a:latin typeface="Aptos" pitchFamily="34" charset="0"/>
                <a:ea typeface="Aptos" pitchFamily="34" charset="-122"/>
                <a:cs typeface="Aptos" pitchFamily="34" charset="-120"/>
              </a:rPr>
              <a:t>Prioritize limited series, survival dramas, reality competitions, anime-inspired adaptations, and Korean/Japanese genre storytelling.</a:t>
            </a:r>
            <a:endParaRPr lang="en-US" sz="1370" dirty="0"/>
          </a:p>
        </p:txBody>
      </p:sp>
      <p:sp>
        <p:nvSpPr>
          <p:cNvPr id="12" name="Shape 10"/>
          <p:cNvSpPr/>
          <p:nvPr/>
        </p:nvSpPr>
        <p:spPr>
          <a:xfrm>
            <a:off x="4416552" y="2560320"/>
            <a:ext cx="3547872" cy="2011680"/>
          </a:xfrm>
          <a:prstGeom prst="roundRect">
            <a:avLst>
              <a:gd name="adj" fmla="val 3636"/>
            </a:avLst>
          </a:prstGeom>
          <a:solidFill>
            <a:srgbClr val="FFFFFF"/>
          </a:solidFill>
          <a:ln w="12700">
            <a:solidFill>
              <a:srgbClr val="E5E1DA"/>
            </a:solidFill>
            <a:prstDash val="solid"/>
          </a:ln>
        </p:spPr>
        <p:txBody>
          <a:bodyPr/>
          <a:lstStyle/>
          <a:p>
            <a:endParaRPr lang="en-US"/>
          </a:p>
        </p:txBody>
      </p:sp>
      <p:sp>
        <p:nvSpPr>
          <p:cNvPr id="13" name="Shape 11"/>
          <p:cNvSpPr/>
          <p:nvPr/>
        </p:nvSpPr>
        <p:spPr>
          <a:xfrm>
            <a:off x="4416552" y="2560320"/>
            <a:ext cx="3547872" cy="73152"/>
          </a:xfrm>
          <a:prstGeom prst="rect">
            <a:avLst/>
          </a:prstGeom>
          <a:solidFill>
            <a:srgbClr val="C99A2E"/>
          </a:solidFill>
          <a:ln w="12700">
            <a:solidFill>
              <a:srgbClr val="C99A2E">
                <a:alpha val="0"/>
              </a:srgbClr>
            </a:solidFill>
            <a:prstDash val="solid"/>
          </a:ln>
        </p:spPr>
        <p:txBody>
          <a:bodyPr/>
          <a:lstStyle/>
          <a:p>
            <a:endParaRPr lang="en-US"/>
          </a:p>
        </p:txBody>
      </p:sp>
      <p:sp>
        <p:nvSpPr>
          <p:cNvPr id="14" name="Shape 12"/>
          <p:cNvSpPr/>
          <p:nvPr/>
        </p:nvSpPr>
        <p:spPr>
          <a:xfrm>
            <a:off x="4617720" y="2816352"/>
            <a:ext cx="475488" cy="475488"/>
          </a:xfrm>
          <a:prstGeom prst="ellipse">
            <a:avLst/>
          </a:prstGeom>
          <a:solidFill>
            <a:srgbClr val="F0EDE7"/>
          </a:solidFill>
          <a:ln w="12700">
            <a:solidFill>
              <a:srgbClr val="F0EDE7">
                <a:alpha val="0"/>
              </a:srgbClr>
            </a:solidFill>
            <a:prstDash val="solid"/>
          </a:ln>
        </p:spPr>
        <p:txBody>
          <a:bodyPr/>
          <a:lstStyle/>
          <a:p>
            <a:endParaRPr lang="en-US"/>
          </a:p>
        </p:txBody>
      </p:sp>
      <p:sp>
        <p:nvSpPr>
          <p:cNvPr id="15" name="Text 13"/>
          <p:cNvSpPr/>
          <p:nvPr/>
        </p:nvSpPr>
        <p:spPr>
          <a:xfrm>
            <a:off x="4773168" y="2916936"/>
            <a:ext cx="164592" cy="201168"/>
          </a:xfrm>
          <a:prstGeom prst="rect">
            <a:avLst/>
          </a:prstGeom>
          <a:noFill/>
          <a:ln/>
        </p:spPr>
        <p:txBody>
          <a:bodyPr wrap="square" lIns="0" tIns="0" rIns="0" bIns="0" rtlCol="0" anchor="t">
            <a:normAutofit fontScale="92500" lnSpcReduction="10000"/>
          </a:bodyPr>
          <a:lstStyle/>
          <a:p>
            <a:pPr marL="0" indent="0" algn="ctr">
              <a:buNone/>
            </a:pPr>
            <a:r>
              <a:rPr lang="en-US" sz="1500" b="1" dirty="0">
                <a:solidFill>
                  <a:srgbClr val="C99A2E"/>
                </a:solidFill>
                <a:latin typeface="Aptos" pitchFamily="34" charset="0"/>
                <a:ea typeface="Aptos" pitchFamily="34" charset="-122"/>
                <a:cs typeface="Aptos" pitchFamily="34" charset="-120"/>
              </a:rPr>
              <a:t>2</a:t>
            </a:r>
            <a:endParaRPr lang="en-US" sz="1500" dirty="0"/>
          </a:p>
        </p:txBody>
      </p:sp>
      <p:sp>
        <p:nvSpPr>
          <p:cNvPr id="16" name="Text 14"/>
          <p:cNvSpPr/>
          <p:nvPr/>
        </p:nvSpPr>
        <p:spPr>
          <a:xfrm>
            <a:off x="5239512" y="2807208"/>
            <a:ext cx="2523744" cy="566928"/>
          </a:xfrm>
          <a:prstGeom prst="rect">
            <a:avLst/>
          </a:prstGeom>
          <a:noFill/>
          <a:ln/>
        </p:spPr>
        <p:txBody>
          <a:bodyPr wrap="square" lIns="0" tIns="0" rIns="0" bIns="0" rtlCol="0" anchor="t">
            <a:normAutofit/>
          </a:bodyPr>
          <a:lstStyle/>
          <a:p>
            <a:pPr marL="0" indent="0" algn="l">
              <a:buNone/>
            </a:pPr>
            <a:r>
              <a:rPr lang="en-US" sz="1700" b="1" dirty="0">
                <a:solidFill>
                  <a:srgbClr val="1F2933"/>
                </a:solidFill>
                <a:latin typeface="Aptos" pitchFamily="34" charset="0"/>
                <a:ea typeface="Aptos" pitchFamily="34" charset="-122"/>
                <a:cs typeface="Aptos" pitchFamily="34" charset="-120"/>
              </a:rPr>
              <a:t>Market global titles like mainstream releases</a:t>
            </a:r>
            <a:endParaRPr lang="en-US" sz="1700" dirty="0"/>
          </a:p>
        </p:txBody>
      </p:sp>
      <p:sp>
        <p:nvSpPr>
          <p:cNvPr id="17" name="Text 15"/>
          <p:cNvSpPr/>
          <p:nvPr/>
        </p:nvSpPr>
        <p:spPr>
          <a:xfrm>
            <a:off x="4709160" y="3547872"/>
            <a:ext cx="2962656" cy="777240"/>
          </a:xfrm>
          <a:prstGeom prst="rect">
            <a:avLst/>
          </a:prstGeom>
          <a:noFill/>
          <a:ln/>
        </p:spPr>
        <p:txBody>
          <a:bodyPr wrap="square" lIns="0" tIns="0" rIns="0" bIns="0" rtlCol="0" anchor="t">
            <a:normAutofit lnSpcReduction="10000"/>
          </a:bodyPr>
          <a:lstStyle/>
          <a:p>
            <a:pPr marL="0" indent="0" algn="l">
              <a:buNone/>
            </a:pPr>
            <a:r>
              <a:rPr lang="en-US" sz="1370" dirty="0">
                <a:solidFill>
                  <a:srgbClr val="5B6670"/>
                </a:solidFill>
                <a:latin typeface="Aptos" pitchFamily="34" charset="0"/>
                <a:ea typeface="Aptos" pitchFamily="34" charset="-122"/>
                <a:cs typeface="Aptos" pitchFamily="34" charset="-120"/>
              </a:rPr>
              <a:t>Position high-potential Asian and global content beside major English-language releases, not only inside international categories.</a:t>
            </a:r>
            <a:endParaRPr lang="en-US" sz="1370" dirty="0"/>
          </a:p>
        </p:txBody>
      </p:sp>
      <p:sp>
        <p:nvSpPr>
          <p:cNvPr id="18" name="Shape 16"/>
          <p:cNvSpPr/>
          <p:nvPr/>
        </p:nvSpPr>
        <p:spPr>
          <a:xfrm>
            <a:off x="8266176" y="2560320"/>
            <a:ext cx="3547872" cy="2011680"/>
          </a:xfrm>
          <a:prstGeom prst="roundRect">
            <a:avLst>
              <a:gd name="adj" fmla="val 3636"/>
            </a:avLst>
          </a:prstGeom>
          <a:solidFill>
            <a:srgbClr val="FFFFFF"/>
          </a:solidFill>
          <a:ln w="12700">
            <a:solidFill>
              <a:srgbClr val="E5E1DA"/>
            </a:solidFill>
            <a:prstDash val="solid"/>
          </a:ln>
        </p:spPr>
        <p:txBody>
          <a:bodyPr/>
          <a:lstStyle/>
          <a:p>
            <a:endParaRPr lang="en-US"/>
          </a:p>
        </p:txBody>
      </p:sp>
      <p:sp>
        <p:nvSpPr>
          <p:cNvPr id="19" name="Shape 17"/>
          <p:cNvSpPr/>
          <p:nvPr/>
        </p:nvSpPr>
        <p:spPr>
          <a:xfrm>
            <a:off x="8266176" y="2560320"/>
            <a:ext cx="3547872" cy="73152"/>
          </a:xfrm>
          <a:prstGeom prst="rect">
            <a:avLst/>
          </a:prstGeom>
          <a:solidFill>
            <a:srgbClr val="617B9B"/>
          </a:solidFill>
          <a:ln w="12700">
            <a:solidFill>
              <a:srgbClr val="617B9B">
                <a:alpha val="0"/>
              </a:srgbClr>
            </a:solidFill>
            <a:prstDash val="solid"/>
          </a:ln>
        </p:spPr>
        <p:txBody>
          <a:bodyPr/>
          <a:lstStyle/>
          <a:p>
            <a:endParaRPr lang="en-US"/>
          </a:p>
        </p:txBody>
      </p:sp>
      <p:sp>
        <p:nvSpPr>
          <p:cNvPr id="20" name="Shape 18"/>
          <p:cNvSpPr/>
          <p:nvPr/>
        </p:nvSpPr>
        <p:spPr>
          <a:xfrm>
            <a:off x="8467344" y="2816352"/>
            <a:ext cx="475488" cy="475488"/>
          </a:xfrm>
          <a:prstGeom prst="ellipse">
            <a:avLst/>
          </a:prstGeom>
          <a:solidFill>
            <a:srgbClr val="F0EDE7"/>
          </a:solidFill>
          <a:ln w="12700">
            <a:solidFill>
              <a:srgbClr val="F0EDE7">
                <a:alpha val="0"/>
              </a:srgbClr>
            </a:solidFill>
            <a:prstDash val="solid"/>
          </a:ln>
        </p:spPr>
        <p:txBody>
          <a:bodyPr/>
          <a:lstStyle/>
          <a:p>
            <a:endParaRPr lang="en-US"/>
          </a:p>
        </p:txBody>
      </p:sp>
      <p:sp>
        <p:nvSpPr>
          <p:cNvPr id="21" name="Text 19"/>
          <p:cNvSpPr/>
          <p:nvPr/>
        </p:nvSpPr>
        <p:spPr>
          <a:xfrm>
            <a:off x="8622792" y="2916936"/>
            <a:ext cx="164592" cy="201168"/>
          </a:xfrm>
          <a:prstGeom prst="rect">
            <a:avLst/>
          </a:prstGeom>
          <a:noFill/>
          <a:ln/>
        </p:spPr>
        <p:txBody>
          <a:bodyPr wrap="square" lIns="0" tIns="0" rIns="0" bIns="0" rtlCol="0" anchor="t">
            <a:normAutofit fontScale="92500" lnSpcReduction="10000"/>
          </a:bodyPr>
          <a:lstStyle/>
          <a:p>
            <a:pPr marL="0" indent="0" algn="ctr">
              <a:buNone/>
            </a:pPr>
            <a:r>
              <a:rPr lang="en-US" sz="1500" b="1" dirty="0">
                <a:solidFill>
                  <a:srgbClr val="617B9B"/>
                </a:solidFill>
                <a:latin typeface="Aptos" pitchFamily="34" charset="0"/>
                <a:ea typeface="Aptos" pitchFamily="34" charset="-122"/>
                <a:cs typeface="Aptos" pitchFamily="34" charset="-120"/>
              </a:rPr>
              <a:t>3</a:t>
            </a:r>
            <a:endParaRPr lang="en-US" sz="1500" dirty="0"/>
          </a:p>
        </p:txBody>
      </p:sp>
      <p:sp>
        <p:nvSpPr>
          <p:cNvPr id="22" name="Text 20"/>
          <p:cNvSpPr/>
          <p:nvPr/>
        </p:nvSpPr>
        <p:spPr>
          <a:xfrm>
            <a:off x="9089136" y="2807208"/>
            <a:ext cx="2523744" cy="566928"/>
          </a:xfrm>
          <a:prstGeom prst="rect">
            <a:avLst/>
          </a:prstGeom>
          <a:noFill/>
          <a:ln/>
        </p:spPr>
        <p:txBody>
          <a:bodyPr wrap="square" lIns="0" tIns="0" rIns="0" bIns="0" rtlCol="0" anchor="t">
            <a:normAutofit fontScale="92500"/>
          </a:bodyPr>
          <a:lstStyle/>
          <a:p>
            <a:pPr marL="0" indent="0" algn="l">
              <a:buNone/>
            </a:pPr>
            <a:r>
              <a:rPr lang="en-US" sz="1700" b="1" dirty="0">
                <a:solidFill>
                  <a:srgbClr val="1F2933"/>
                </a:solidFill>
                <a:latin typeface="Aptos" pitchFamily="34" charset="0"/>
                <a:ea typeface="Aptos" pitchFamily="34" charset="-122"/>
                <a:cs typeface="Aptos" pitchFamily="34" charset="-120"/>
              </a:rPr>
              <a:t>Use reach + staying power as greenlight signals</a:t>
            </a:r>
            <a:endParaRPr lang="en-US" sz="1700" dirty="0"/>
          </a:p>
        </p:txBody>
      </p:sp>
      <p:sp>
        <p:nvSpPr>
          <p:cNvPr id="23" name="Text 21"/>
          <p:cNvSpPr/>
          <p:nvPr/>
        </p:nvSpPr>
        <p:spPr>
          <a:xfrm>
            <a:off x="8558784" y="3547872"/>
            <a:ext cx="2962656" cy="777240"/>
          </a:xfrm>
          <a:prstGeom prst="rect">
            <a:avLst/>
          </a:prstGeom>
          <a:noFill/>
          <a:ln/>
        </p:spPr>
        <p:txBody>
          <a:bodyPr wrap="square" lIns="0" tIns="0" rIns="0" bIns="0" rtlCol="0" anchor="t">
            <a:normAutofit/>
          </a:bodyPr>
          <a:lstStyle/>
          <a:p>
            <a:pPr marL="0" indent="0" algn="l">
              <a:buNone/>
            </a:pPr>
            <a:r>
              <a:rPr lang="en-US" sz="1370" dirty="0">
                <a:solidFill>
                  <a:srgbClr val="5B6670"/>
                </a:solidFill>
                <a:latin typeface="Aptos" pitchFamily="34" charset="0"/>
                <a:ea typeface="Aptos" pitchFamily="34" charset="-122"/>
                <a:cs typeface="Aptos" pitchFamily="34" charset="-120"/>
              </a:rPr>
              <a:t>Prioritize titles that show both cross-country appeal and multi-week Top 10 performance.</a:t>
            </a:r>
            <a:endParaRPr lang="en-US" sz="1370" dirty="0"/>
          </a:p>
        </p:txBody>
      </p:sp>
      <p:sp>
        <p:nvSpPr>
          <p:cNvPr id="24" name="Shape 22"/>
          <p:cNvSpPr/>
          <p:nvPr/>
        </p:nvSpPr>
        <p:spPr>
          <a:xfrm>
            <a:off x="566928" y="4983480"/>
            <a:ext cx="11064240" cy="1005840"/>
          </a:xfrm>
          <a:prstGeom prst="roundRect">
            <a:avLst>
              <a:gd name="adj" fmla="val 9091"/>
            </a:avLst>
          </a:prstGeom>
          <a:solidFill>
            <a:srgbClr val="FFF7F3"/>
          </a:solidFill>
          <a:ln w="13970">
            <a:solidFill>
              <a:srgbClr val="E6C4BC"/>
            </a:solidFill>
            <a:prstDash val="solid"/>
          </a:ln>
        </p:spPr>
        <p:txBody>
          <a:bodyPr/>
          <a:lstStyle/>
          <a:p>
            <a:endParaRPr lang="en-US"/>
          </a:p>
        </p:txBody>
      </p:sp>
      <p:sp>
        <p:nvSpPr>
          <p:cNvPr id="25" name="Shape 23"/>
          <p:cNvSpPr/>
          <p:nvPr/>
        </p:nvSpPr>
        <p:spPr>
          <a:xfrm>
            <a:off x="566928" y="4983480"/>
            <a:ext cx="109728" cy="1005840"/>
          </a:xfrm>
          <a:prstGeom prst="rect">
            <a:avLst/>
          </a:prstGeom>
          <a:solidFill>
            <a:srgbClr val="D62828"/>
          </a:solidFill>
          <a:ln w="12700">
            <a:solidFill>
              <a:srgbClr val="D62828">
                <a:alpha val="0"/>
              </a:srgbClr>
            </a:solidFill>
            <a:prstDash val="solid"/>
          </a:ln>
        </p:spPr>
        <p:txBody>
          <a:bodyPr/>
          <a:lstStyle/>
          <a:p>
            <a:endParaRPr lang="en-US"/>
          </a:p>
        </p:txBody>
      </p:sp>
      <p:sp>
        <p:nvSpPr>
          <p:cNvPr id="26" name="Text 24"/>
          <p:cNvSpPr/>
          <p:nvPr/>
        </p:nvSpPr>
        <p:spPr>
          <a:xfrm>
            <a:off x="896112" y="5285232"/>
            <a:ext cx="10332720" cy="301752"/>
          </a:xfrm>
          <a:prstGeom prst="rect">
            <a:avLst/>
          </a:prstGeom>
          <a:noFill/>
          <a:ln/>
        </p:spPr>
        <p:txBody>
          <a:bodyPr wrap="square" lIns="0" tIns="0" rIns="0" bIns="0" rtlCol="0" anchor="t">
            <a:normAutofit fontScale="85000" lnSpcReduction="10000"/>
          </a:bodyPr>
          <a:lstStyle/>
          <a:p>
            <a:pPr marL="0" indent="0" algn="ctr">
              <a:buNone/>
            </a:pPr>
            <a:r>
              <a:rPr lang="en-US" sz="1900" b="1" dirty="0">
                <a:solidFill>
                  <a:srgbClr val="1F2933"/>
                </a:solidFill>
                <a:latin typeface="Aptos" pitchFamily="34" charset="0"/>
                <a:ea typeface="Aptos" pitchFamily="34" charset="-122"/>
                <a:cs typeface="Aptos" pitchFamily="34" charset="-120"/>
              </a:rPr>
              <a:t>The next Netflix investment should be a series from Asia — and Netflix can make sure it reaches the world.</a:t>
            </a:r>
            <a:endParaRPr lang="en-US" sz="1900" dirty="0"/>
          </a:p>
        </p:txBody>
      </p:sp>
      <p:sp>
        <p:nvSpPr>
          <p:cNvPr id="27" name="Text 25"/>
          <p:cNvSpPr/>
          <p:nvPr/>
        </p:nvSpPr>
        <p:spPr>
          <a:xfrm>
            <a:off x="566928" y="6446520"/>
            <a:ext cx="3840480" cy="201168"/>
          </a:xfrm>
          <a:prstGeom prst="rect">
            <a:avLst/>
          </a:prstGeom>
          <a:noFill/>
          <a:ln/>
        </p:spPr>
        <p:txBody>
          <a:bodyPr wrap="square" lIns="0" tIns="0" rIns="0" bIns="0" rtlCol="0" anchor="t">
            <a:normAutofit/>
          </a:bodyPr>
          <a:lstStyle/>
          <a:p>
            <a:pPr marL="0" indent="0" algn="l">
              <a:buNone/>
            </a:pPr>
            <a:r>
              <a:rPr lang="en-US" sz="950" dirty="0">
                <a:solidFill>
                  <a:srgbClr val="8B9198"/>
                </a:solidFill>
                <a:latin typeface="Aptos" pitchFamily="34" charset="0"/>
                <a:ea typeface="Aptos" pitchFamily="34" charset="-122"/>
                <a:cs typeface="Aptos" pitchFamily="34" charset="-120"/>
              </a:rPr>
              <a:t>DSC640 • Netflix Top 10 visual story</a:t>
            </a:r>
            <a:endParaRPr lang="en-US" sz="950" dirty="0"/>
          </a:p>
        </p:txBody>
      </p:sp>
      <p:sp>
        <p:nvSpPr>
          <p:cNvPr id="30" name="Text 2">
            <a:extLst>
              <a:ext uri="{FF2B5EF4-FFF2-40B4-BE49-F238E27FC236}">
                <a16:creationId xmlns:a16="http://schemas.microsoft.com/office/drawing/2014/main" id="{79707253-F5C9-6174-563E-7F757604A6DE}"/>
              </a:ext>
            </a:extLst>
          </p:cNvPr>
          <p:cNvSpPr/>
          <p:nvPr/>
        </p:nvSpPr>
        <p:spPr>
          <a:xfrm>
            <a:off x="594360" y="384048"/>
            <a:ext cx="5303520" cy="228600"/>
          </a:xfrm>
          <a:prstGeom prst="rect">
            <a:avLst/>
          </a:prstGeom>
          <a:noFill/>
          <a:ln>
            <a:noFill/>
          </a:ln>
        </p:spPr>
        <p:txBody>
          <a:bodyPr wrap="square" rtlCol="0" anchor="ctr"/>
          <a:lstStyle/>
          <a:p>
            <a:pPr marL="0" indent="0">
              <a:buNone/>
            </a:pPr>
            <a:r>
              <a:rPr lang="en-US" sz="900" b="1" dirty="0">
                <a:solidFill>
                  <a:srgbClr val="2F6F7E"/>
                </a:solidFill>
                <a:latin typeface="Aptos" pitchFamily="34" charset="0"/>
                <a:ea typeface="Aptos" pitchFamily="34" charset="-122"/>
                <a:cs typeface="Aptos" pitchFamily="34" charset="-120"/>
              </a:rPr>
              <a:t>Key Takeaways</a:t>
            </a:r>
            <a:endParaRPr lang="en-US" sz="900" dirty="0"/>
          </a:p>
        </p:txBody>
      </p:sp>
      <p:sp>
        <p:nvSpPr>
          <p:cNvPr id="31" name="Shape 0">
            <a:extLst>
              <a:ext uri="{FF2B5EF4-FFF2-40B4-BE49-F238E27FC236}">
                <a16:creationId xmlns:a16="http://schemas.microsoft.com/office/drawing/2014/main" id="{BBA2D7B9-6540-04F5-FD6A-F3DA2B163AAC}"/>
              </a:ext>
            </a:extLst>
          </p:cNvPr>
          <p:cNvSpPr/>
          <p:nvPr/>
        </p:nvSpPr>
        <p:spPr>
          <a:xfrm>
            <a:off x="0" y="0"/>
            <a:ext cx="12191695" cy="73152"/>
          </a:xfrm>
          <a:prstGeom prst="rect">
            <a:avLst/>
          </a:prstGeom>
          <a:solidFill>
            <a:srgbClr val="2F6F7E"/>
          </a:solidFill>
          <a:ln w="12700">
            <a:noFill/>
            <a:prstDash val="solid"/>
          </a:ln>
        </p:spPr>
        <p:txBody>
          <a:bodyPr/>
          <a:lstStyle/>
          <a:p>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4007</TotalTime>
  <Words>2148</Words>
  <Application>Microsoft Macintosh PowerPoint</Application>
  <PresentationFormat>Widescreen</PresentationFormat>
  <Paragraphs>254</Paragraphs>
  <Slides>13</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Bellevue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Hollywood: Netflix Global Content Strategy</dc:title>
  <dc:subject>DSC640 Netflix Top 10 visual story</dc:subject>
  <dc:creator>OpenAI</dc:creator>
  <cp:lastModifiedBy>Dan Morrow</cp:lastModifiedBy>
  <cp:revision>4</cp:revision>
  <dcterms:created xsi:type="dcterms:W3CDTF">2026-06-16T20:00:30Z</dcterms:created>
  <dcterms:modified xsi:type="dcterms:W3CDTF">2026-06-21T17:19:47Z</dcterms:modified>
</cp:coreProperties>
</file>